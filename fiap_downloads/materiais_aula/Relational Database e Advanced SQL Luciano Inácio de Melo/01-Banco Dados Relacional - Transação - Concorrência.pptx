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3" r:id="rId1"/>
  </p:sldMasterIdLst>
  <p:notesMasterIdLst>
    <p:notesMasterId r:id="rId47"/>
  </p:notesMasterIdLst>
  <p:sldIdLst>
    <p:sldId id="257" r:id="rId2"/>
    <p:sldId id="258" r:id="rId3"/>
    <p:sldId id="773" r:id="rId4"/>
    <p:sldId id="838" r:id="rId5"/>
    <p:sldId id="816" r:id="rId6"/>
    <p:sldId id="827" r:id="rId7"/>
    <p:sldId id="817" r:id="rId8"/>
    <p:sldId id="818" r:id="rId9"/>
    <p:sldId id="819" r:id="rId10"/>
    <p:sldId id="839" r:id="rId11"/>
    <p:sldId id="840" r:id="rId12"/>
    <p:sldId id="841" r:id="rId13"/>
    <p:sldId id="842" r:id="rId14"/>
    <p:sldId id="823" r:id="rId15"/>
    <p:sldId id="826" r:id="rId16"/>
    <p:sldId id="828" r:id="rId17"/>
    <p:sldId id="824" r:id="rId18"/>
    <p:sldId id="627" r:id="rId19"/>
    <p:sldId id="630" r:id="rId20"/>
    <p:sldId id="829" r:id="rId21"/>
    <p:sldId id="628" r:id="rId22"/>
    <p:sldId id="629" r:id="rId23"/>
    <p:sldId id="765" r:id="rId24"/>
    <p:sldId id="830" r:id="rId25"/>
    <p:sldId id="783" r:id="rId26"/>
    <p:sldId id="831" r:id="rId27"/>
    <p:sldId id="832" r:id="rId28"/>
    <p:sldId id="843" r:id="rId29"/>
    <p:sldId id="784" r:id="rId30"/>
    <p:sldId id="813" r:id="rId31"/>
    <p:sldId id="814" r:id="rId32"/>
    <p:sldId id="793" r:id="rId33"/>
    <p:sldId id="792" r:id="rId34"/>
    <p:sldId id="791" r:id="rId35"/>
    <p:sldId id="787" r:id="rId36"/>
    <p:sldId id="788" r:id="rId37"/>
    <p:sldId id="834" r:id="rId38"/>
    <p:sldId id="789" r:id="rId39"/>
    <p:sldId id="835" r:id="rId40"/>
    <p:sldId id="790" r:id="rId41"/>
    <p:sldId id="836" r:id="rId42"/>
    <p:sldId id="837" r:id="rId43"/>
    <p:sldId id="662" r:id="rId44"/>
    <p:sldId id="844" r:id="rId45"/>
    <p:sldId id="277" r:id="rId46"/>
  </p:sldIdLst>
  <p:sldSz cx="9144000" cy="5148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2">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45B"/>
    <a:srgbClr val="C0504D"/>
    <a:srgbClr val="626E73"/>
    <a:srgbClr val="4F576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83424" autoAdjust="0"/>
  </p:normalViewPr>
  <p:slideViewPr>
    <p:cSldViewPr snapToGrid="0" snapToObjects="1">
      <p:cViewPr varScale="1">
        <p:scale>
          <a:sx n="99" d="100"/>
          <a:sy n="99" d="100"/>
        </p:scale>
        <p:origin x="867" y="41"/>
      </p:cViewPr>
      <p:guideLst>
        <p:guide orient="horz" pos="1622"/>
        <p:guide pos="2880"/>
      </p:guideLst>
    </p:cSldViewPr>
  </p:slideViewPr>
  <p:notesTextViewPr>
    <p:cViewPr>
      <p:scale>
        <a:sx n="100" d="100"/>
        <a:sy n="100" d="100"/>
      </p:scale>
      <p:origin x="0" y="0"/>
    </p:cViewPr>
  </p:notesTextViewPr>
  <p:sorterViewPr>
    <p:cViewPr>
      <p:scale>
        <a:sx n="80" d="100"/>
        <a:sy n="80" d="100"/>
      </p:scale>
      <p:origin x="0" y="-10176"/>
    </p:cViewPr>
  </p:sorterViewPr>
  <p:notesViewPr>
    <p:cSldViewPr snapToGrid="0" snapToObjects="1">
      <p:cViewPr>
        <p:scale>
          <a:sx n="50" d="100"/>
          <a:sy n="50" d="100"/>
        </p:scale>
        <p:origin x="1860" y="23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Barcelos" userId="49a3ebc8-1649-4589-a8c0-8d24fc2c23d9" providerId="ADAL" clId="{13678955-55E0-46F1-93BF-6B6C8DE72B3F}"/>
    <pc:docChg chg="modSld">
      <pc:chgData name="Alexandre Barcelos" userId="49a3ebc8-1649-4589-a8c0-8d24fc2c23d9" providerId="ADAL" clId="{13678955-55E0-46F1-93BF-6B6C8DE72B3F}" dt="2023-06-19T15:48:20.660" v="1" actId="20577"/>
      <pc:docMkLst>
        <pc:docMk/>
      </pc:docMkLst>
      <pc:sldChg chg="modSp mod">
        <pc:chgData name="Alexandre Barcelos" userId="49a3ebc8-1649-4589-a8c0-8d24fc2c23d9" providerId="ADAL" clId="{13678955-55E0-46F1-93BF-6B6C8DE72B3F}" dt="2023-06-19T15:48:20.660" v="1" actId="20577"/>
        <pc:sldMkLst>
          <pc:docMk/>
          <pc:sldMk cId="639393125" sldId="662"/>
        </pc:sldMkLst>
      </pc:sldChg>
    </pc:docChg>
  </pc:docChgLst>
  <pc:docChgLst>
    <pc:chgData name="Alexandre Barcelos" userId="49a3ebc8-1649-4589-a8c0-8d24fc2c23d9" providerId="ADAL" clId="{EA945E57-4ABA-476D-A509-1823D2798AC8}"/>
    <pc:docChg chg="undo custSel addSld delSld modSld sldOrd">
      <pc:chgData name="Alexandre Barcelos" userId="49a3ebc8-1649-4589-a8c0-8d24fc2c23d9" providerId="ADAL" clId="{EA945E57-4ABA-476D-A509-1823D2798AC8}" dt="2024-05-22T19:35:32.738" v="266" actId="20577"/>
      <pc:docMkLst>
        <pc:docMk/>
      </pc:docMkLst>
      <pc:sldChg chg="del">
        <pc:chgData name="Alexandre Barcelos" userId="49a3ebc8-1649-4589-a8c0-8d24fc2c23d9" providerId="ADAL" clId="{EA945E57-4ABA-476D-A509-1823D2798AC8}" dt="2024-05-22T19:31:46.447" v="253" actId="2696"/>
        <pc:sldMkLst>
          <pc:docMk/>
          <pc:sldMk cId="1508492631" sldId="627"/>
        </pc:sldMkLst>
      </pc:sldChg>
      <pc:sldChg chg="add">
        <pc:chgData name="Alexandre Barcelos" userId="49a3ebc8-1649-4589-a8c0-8d24fc2c23d9" providerId="ADAL" clId="{EA945E57-4ABA-476D-A509-1823D2798AC8}" dt="2024-05-22T19:32:00.241" v="254"/>
        <pc:sldMkLst>
          <pc:docMk/>
          <pc:sldMk cId="2404160753" sldId="627"/>
        </pc:sldMkLst>
      </pc:sldChg>
      <pc:sldChg chg="del">
        <pc:chgData name="Alexandre Barcelos" userId="49a3ebc8-1649-4589-a8c0-8d24fc2c23d9" providerId="ADAL" clId="{EA945E57-4ABA-476D-A509-1823D2798AC8}" dt="2024-05-22T19:31:46.447" v="253" actId="2696"/>
        <pc:sldMkLst>
          <pc:docMk/>
          <pc:sldMk cId="479078" sldId="630"/>
        </pc:sldMkLst>
      </pc:sldChg>
      <pc:sldChg chg="add">
        <pc:chgData name="Alexandre Barcelos" userId="49a3ebc8-1649-4589-a8c0-8d24fc2c23d9" providerId="ADAL" clId="{EA945E57-4ABA-476D-A509-1823D2798AC8}" dt="2024-05-22T19:32:00.241" v="254"/>
        <pc:sldMkLst>
          <pc:docMk/>
          <pc:sldMk cId="338938178" sldId="630"/>
        </pc:sldMkLst>
      </pc:sldChg>
      <pc:sldChg chg="modSp mod">
        <pc:chgData name="Alexandre Barcelos" userId="49a3ebc8-1649-4589-a8c0-8d24fc2c23d9" providerId="ADAL" clId="{EA945E57-4ABA-476D-A509-1823D2798AC8}" dt="2024-05-22T19:35:32.738" v="266" actId="20577"/>
        <pc:sldMkLst>
          <pc:docMk/>
          <pc:sldMk cId="639393125" sldId="662"/>
        </pc:sldMkLst>
      </pc:sldChg>
      <pc:sldChg chg="addSp delSp modSp add mod">
        <pc:chgData name="Alexandre Barcelos" userId="49a3ebc8-1649-4589-a8c0-8d24fc2c23d9" providerId="ADAL" clId="{EA945E57-4ABA-476D-A509-1823D2798AC8}" dt="2024-05-22T19:30:43.891" v="244" actId="20577"/>
        <pc:sldMkLst>
          <pc:docMk/>
          <pc:sldMk cId="442508313" sldId="816"/>
        </pc:sldMkLst>
      </pc:sldChg>
      <pc:sldChg chg="modSp add mod">
        <pc:chgData name="Alexandre Barcelos" userId="49a3ebc8-1649-4589-a8c0-8d24fc2c23d9" providerId="ADAL" clId="{EA945E57-4ABA-476D-A509-1823D2798AC8}" dt="2024-05-22T19:20:15.952" v="137" actId="20577"/>
        <pc:sldMkLst>
          <pc:docMk/>
          <pc:sldMk cId="664560053" sldId="817"/>
        </pc:sldMkLst>
      </pc:sldChg>
      <pc:sldChg chg="modSp add mod">
        <pc:chgData name="Alexandre Barcelos" userId="49a3ebc8-1649-4589-a8c0-8d24fc2c23d9" providerId="ADAL" clId="{EA945E57-4ABA-476D-A509-1823D2798AC8}" dt="2024-05-22T19:20:22.092" v="155" actId="20577"/>
        <pc:sldMkLst>
          <pc:docMk/>
          <pc:sldMk cId="3600901863" sldId="818"/>
        </pc:sldMkLst>
      </pc:sldChg>
      <pc:sldChg chg="modSp add mod">
        <pc:chgData name="Alexandre Barcelos" userId="49a3ebc8-1649-4589-a8c0-8d24fc2c23d9" providerId="ADAL" clId="{EA945E57-4ABA-476D-A509-1823D2798AC8}" dt="2024-05-22T19:19:51.363" v="122" actId="20577"/>
        <pc:sldMkLst>
          <pc:docMk/>
          <pc:sldMk cId="1890879077" sldId="819"/>
        </pc:sldMkLst>
      </pc:sldChg>
      <pc:sldChg chg="modSp add mod">
        <pc:chgData name="Alexandre Barcelos" userId="49a3ebc8-1649-4589-a8c0-8d24fc2c23d9" providerId="ADAL" clId="{EA945E57-4ABA-476D-A509-1823D2798AC8}" dt="2024-05-22T19:32:31.890" v="255" actId="20577"/>
        <pc:sldMkLst>
          <pc:docMk/>
          <pc:sldMk cId="782057460" sldId="820"/>
        </pc:sldMkLst>
      </pc:sldChg>
      <pc:sldChg chg="addSp delSp modSp add del mod ord">
        <pc:chgData name="Alexandre Barcelos" userId="49a3ebc8-1649-4589-a8c0-8d24fc2c23d9" providerId="ADAL" clId="{EA945E57-4ABA-476D-A509-1823D2798AC8}" dt="2024-05-22T19:31:24.136" v="252" actId="47"/>
        <pc:sldMkLst>
          <pc:docMk/>
          <pc:sldMk cId="3093919991" sldId="821"/>
        </pc:sldMkLst>
      </pc:sldChg>
      <pc:sldChg chg="delSp add mod">
        <pc:chgData name="Alexandre Barcelos" userId="49a3ebc8-1649-4589-a8c0-8d24fc2c23d9" providerId="ADAL" clId="{EA945E57-4ABA-476D-A509-1823D2798AC8}" dt="2024-05-22T19:23:14.980" v="181" actId="478"/>
        <pc:sldMkLst>
          <pc:docMk/>
          <pc:sldMk cId="1904916801" sldId="822"/>
        </pc:sldMkLst>
      </pc:sldChg>
      <pc:sldChg chg="add del">
        <pc:chgData name="Alexandre Barcelos" userId="49a3ebc8-1649-4589-a8c0-8d24fc2c23d9" providerId="ADAL" clId="{EA945E57-4ABA-476D-A509-1823D2798AC8}" dt="2024-05-22T19:24:52.888" v="188"/>
        <pc:sldMkLst>
          <pc:docMk/>
          <pc:sldMk cId="396747203" sldId="823"/>
        </pc:sldMkLst>
      </pc:sldChg>
      <pc:sldChg chg="modSp add mod">
        <pc:chgData name="Alexandre Barcelos" userId="49a3ebc8-1649-4589-a8c0-8d24fc2c23d9" providerId="ADAL" clId="{EA945E57-4ABA-476D-A509-1823D2798AC8}" dt="2024-05-22T19:34:19.109" v="264" actId="113"/>
        <pc:sldMkLst>
          <pc:docMk/>
          <pc:sldMk cId="4134868165" sldId="823"/>
        </pc:sldMkLst>
      </pc:sldChg>
      <pc:sldChg chg="add del">
        <pc:chgData name="Alexandre Barcelos" userId="49a3ebc8-1649-4589-a8c0-8d24fc2c23d9" providerId="ADAL" clId="{EA945E57-4ABA-476D-A509-1823D2798AC8}" dt="2024-05-22T19:25:10.123" v="191"/>
        <pc:sldMkLst>
          <pc:docMk/>
          <pc:sldMk cId="1100462514" sldId="824"/>
        </pc:sldMkLst>
      </pc:sldChg>
      <pc:sldChg chg="modSp add mod">
        <pc:chgData name="Alexandre Barcelos" userId="49a3ebc8-1649-4589-a8c0-8d24fc2c23d9" providerId="ADAL" clId="{EA945E57-4ABA-476D-A509-1823D2798AC8}" dt="2024-05-22T19:25:54.469" v="208" actId="20577"/>
        <pc:sldMkLst>
          <pc:docMk/>
          <pc:sldMk cId="2983810306" sldId="824"/>
        </pc:sldMkLst>
      </pc:sldChg>
      <pc:sldChg chg="add del">
        <pc:chgData name="Alexandre Barcelos" userId="49a3ebc8-1649-4589-a8c0-8d24fc2c23d9" providerId="ADAL" clId="{EA945E57-4ABA-476D-A509-1823D2798AC8}" dt="2024-05-22T19:25:17.234" v="193"/>
        <pc:sldMkLst>
          <pc:docMk/>
          <pc:sldMk cId="3951113606" sldId="824"/>
        </pc:sldMkLst>
      </pc:sldChg>
      <pc:sldChg chg="add del">
        <pc:chgData name="Alexandre Barcelos" userId="49a3ebc8-1649-4589-a8c0-8d24fc2c23d9" providerId="ADAL" clId="{EA945E57-4ABA-476D-A509-1823D2798AC8}" dt="2024-05-22T19:33:11.015" v="259" actId="47"/>
        <pc:sldMkLst>
          <pc:docMk/>
          <pc:sldMk cId="1231704067" sldId="825"/>
        </pc:sldMkLst>
      </pc:sldChg>
      <pc:sldChg chg="modSp add mod">
        <pc:chgData name="Alexandre Barcelos" userId="49a3ebc8-1649-4589-a8c0-8d24fc2c23d9" providerId="ADAL" clId="{EA945E57-4ABA-476D-A509-1823D2798AC8}" dt="2024-05-22T19:32:49.129" v="257" actId="20577"/>
        <pc:sldMkLst>
          <pc:docMk/>
          <pc:sldMk cId="3103459425" sldId="826"/>
        </pc:sldMkLst>
      </pc:sldChg>
      <pc:sldChg chg="addSp modSp add mod">
        <pc:chgData name="Alexandre Barcelos" userId="49a3ebc8-1649-4589-a8c0-8d24fc2c23d9" providerId="ADAL" clId="{EA945E57-4ABA-476D-A509-1823D2798AC8}" dt="2024-05-22T19:31:08.435" v="251" actId="1076"/>
        <pc:sldMkLst>
          <pc:docMk/>
          <pc:sldMk cId="2839585933" sldId="827"/>
        </pc:sldMkLst>
      </pc:sldChg>
      <pc:sldChg chg="modSp add mod">
        <pc:chgData name="Alexandre Barcelos" userId="49a3ebc8-1649-4589-a8c0-8d24fc2c23d9" providerId="ADAL" clId="{EA945E57-4ABA-476D-A509-1823D2798AC8}" dt="2024-05-22T19:32:53.089" v="258" actId="20577"/>
        <pc:sldMkLst>
          <pc:docMk/>
          <pc:sldMk cId="2463592500" sldId="828"/>
        </pc:sldMkLst>
      </pc:sldChg>
      <pc:sldChg chg="add del">
        <pc:chgData name="Alexandre Barcelos" userId="49a3ebc8-1649-4589-a8c0-8d24fc2c23d9" providerId="ADAL" clId="{EA945E57-4ABA-476D-A509-1823D2798AC8}" dt="2024-05-22T19:33:24.256" v="261"/>
        <pc:sldMkLst>
          <pc:docMk/>
          <pc:sldMk cId="279551050" sldId="829"/>
        </pc:sldMkLst>
      </pc:sldChg>
    </pc:docChg>
  </pc:docChgLst>
  <pc:docChgLst>
    <pc:chgData name="Alexandre Barcelos" userId="49a3ebc8-1649-4589-a8c0-8d24fc2c23d9" providerId="ADAL" clId="{339EAA94-296B-470F-8BCB-1912695EB6EF}"/>
    <pc:docChg chg="delSld">
      <pc:chgData name="Alexandre Barcelos" userId="49a3ebc8-1649-4589-a8c0-8d24fc2c23d9" providerId="ADAL" clId="{339EAA94-296B-470F-8BCB-1912695EB6EF}" dt="2022-07-06T21:06:38.946" v="20" actId="47"/>
      <pc:docMkLst>
        <pc:docMk/>
      </pc:docMkLst>
      <pc:sldChg chg="del">
        <pc:chgData name="Alexandre Barcelos" userId="49a3ebc8-1649-4589-a8c0-8d24fc2c23d9" providerId="ADAL" clId="{339EAA94-296B-470F-8BCB-1912695EB6EF}" dt="2022-07-06T21:06:30.481" v="4" actId="47"/>
        <pc:sldMkLst>
          <pc:docMk/>
          <pc:sldMk cId="0" sldId="329"/>
        </pc:sldMkLst>
      </pc:sldChg>
      <pc:sldChg chg="del">
        <pc:chgData name="Alexandre Barcelos" userId="49a3ebc8-1649-4589-a8c0-8d24fc2c23d9" providerId="ADAL" clId="{339EAA94-296B-470F-8BCB-1912695EB6EF}" dt="2022-07-06T21:06:30.727" v="5" actId="47"/>
        <pc:sldMkLst>
          <pc:docMk/>
          <pc:sldMk cId="0" sldId="331"/>
        </pc:sldMkLst>
      </pc:sldChg>
      <pc:sldChg chg="del">
        <pc:chgData name="Alexandre Barcelos" userId="49a3ebc8-1649-4589-a8c0-8d24fc2c23d9" providerId="ADAL" clId="{339EAA94-296B-470F-8BCB-1912695EB6EF}" dt="2022-07-06T21:06:29.756" v="1" actId="47"/>
        <pc:sldMkLst>
          <pc:docMk/>
          <pc:sldMk cId="0" sldId="479"/>
        </pc:sldMkLst>
      </pc:sldChg>
      <pc:sldChg chg="del">
        <pc:chgData name="Alexandre Barcelos" userId="49a3ebc8-1649-4589-a8c0-8d24fc2c23d9" providerId="ADAL" clId="{339EAA94-296B-470F-8BCB-1912695EB6EF}" dt="2022-07-06T21:06:31.300" v="6" actId="47"/>
        <pc:sldMkLst>
          <pc:docMk/>
          <pc:sldMk cId="0" sldId="480"/>
        </pc:sldMkLst>
      </pc:sldChg>
      <pc:sldChg chg="del">
        <pc:chgData name="Alexandre Barcelos" userId="49a3ebc8-1649-4589-a8c0-8d24fc2c23d9" providerId="ADAL" clId="{339EAA94-296B-470F-8BCB-1912695EB6EF}" dt="2022-07-06T21:06:29.505" v="0" actId="47"/>
        <pc:sldMkLst>
          <pc:docMk/>
          <pc:sldMk cId="3528058713" sldId="794"/>
        </pc:sldMkLst>
      </pc:sldChg>
      <pc:sldChg chg="del">
        <pc:chgData name="Alexandre Barcelos" userId="49a3ebc8-1649-4589-a8c0-8d24fc2c23d9" providerId="ADAL" clId="{339EAA94-296B-470F-8BCB-1912695EB6EF}" dt="2022-07-06T21:06:31.664" v="7" actId="47"/>
        <pc:sldMkLst>
          <pc:docMk/>
          <pc:sldMk cId="0" sldId="796"/>
        </pc:sldMkLst>
      </pc:sldChg>
      <pc:sldChg chg="del">
        <pc:chgData name="Alexandre Barcelos" userId="49a3ebc8-1649-4589-a8c0-8d24fc2c23d9" providerId="ADAL" clId="{339EAA94-296B-470F-8BCB-1912695EB6EF}" dt="2022-07-06T21:06:30.085" v="2" actId="47"/>
        <pc:sldMkLst>
          <pc:docMk/>
          <pc:sldMk cId="2742368245" sldId="797"/>
        </pc:sldMkLst>
      </pc:sldChg>
      <pc:sldChg chg="del">
        <pc:chgData name="Alexandre Barcelos" userId="49a3ebc8-1649-4589-a8c0-8d24fc2c23d9" providerId="ADAL" clId="{339EAA94-296B-470F-8BCB-1912695EB6EF}" dt="2022-07-06T21:06:30.292" v="3" actId="47"/>
        <pc:sldMkLst>
          <pc:docMk/>
          <pc:sldMk cId="1847364540" sldId="798"/>
        </pc:sldMkLst>
      </pc:sldChg>
      <pc:sldChg chg="del">
        <pc:chgData name="Alexandre Barcelos" userId="49a3ebc8-1649-4589-a8c0-8d24fc2c23d9" providerId="ADAL" clId="{339EAA94-296B-470F-8BCB-1912695EB6EF}" dt="2022-07-06T21:06:32.705" v="8" actId="47"/>
        <pc:sldMkLst>
          <pc:docMk/>
          <pc:sldMk cId="3983481586" sldId="799"/>
        </pc:sldMkLst>
      </pc:sldChg>
      <pc:sldChg chg="del">
        <pc:chgData name="Alexandre Barcelos" userId="49a3ebc8-1649-4589-a8c0-8d24fc2c23d9" providerId="ADAL" clId="{339EAA94-296B-470F-8BCB-1912695EB6EF}" dt="2022-07-06T21:06:32.959" v="9" actId="47"/>
        <pc:sldMkLst>
          <pc:docMk/>
          <pc:sldMk cId="3686097146" sldId="800"/>
        </pc:sldMkLst>
      </pc:sldChg>
      <pc:sldChg chg="del">
        <pc:chgData name="Alexandre Barcelos" userId="49a3ebc8-1649-4589-a8c0-8d24fc2c23d9" providerId="ADAL" clId="{339EAA94-296B-470F-8BCB-1912695EB6EF}" dt="2022-07-06T21:06:34.458" v="12" actId="47"/>
        <pc:sldMkLst>
          <pc:docMk/>
          <pc:sldMk cId="1745411402" sldId="801"/>
        </pc:sldMkLst>
      </pc:sldChg>
      <pc:sldChg chg="del">
        <pc:chgData name="Alexandre Barcelos" userId="49a3ebc8-1649-4589-a8c0-8d24fc2c23d9" providerId="ADAL" clId="{339EAA94-296B-470F-8BCB-1912695EB6EF}" dt="2022-07-06T21:06:37.873" v="18" actId="47"/>
        <pc:sldMkLst>
          <pc:docMk/>
          <pc:sldMk cId="3556670503" sldId="802"/>
        </pc:sldMkLst>
      </pc:sldChg>
      <pc:sldChg chg="del">
        <pc:chgData name="Alexandre Barcelos" userId="49a3ebc8-1649-4589-a8c0-8d24fc2c23d9" providerId="ADAL" clId="{339EAA94-296B-470F-8BCB-1912695EB6EF}" dt="2022-07-06T21:06:33.165" v="10" actId="47"/>
        <pc:sldMkLst>
          <pc:docMk/>
          <pc:sldMk cId="2064591963" sldId="803"/>
        </pc:sldMkLst>
      </pc:sldChg>
      <pc:sldChg chg="del">
        <pc:chgData name="Alexandre Barcelos" userId="49a3ebc8-1649-4589-a8c0-8d24fc2c23d9" providerId="ADAL" clId="{339EAA94-296B-470F-8BCB-1912695EB6EF}" dt="2022-07-06T21:06:36.329" v="14" actId="47"/>
        <pc:sldMkLst>
          <pc:docMk/>
          <pc:sldMk cId="2919692235" sldId="804"/>
        </pc:sldMkLst>
      </pc:sldChg>
      <pc:sldChg chg="del">
        <pc:chgData name="Alexandre Barcelos" userId="49a3ebc8-1649-4589-a8c0-8d24fc2c23d9" providerId="ADAL" clId="{339EAA94-296B-470F-8BCB-1912695EB6EF}" dt="2022-07-06T21:06:36.658" v="15" actId="47"/>
        <pc:sldMkLst>
          <pc:docMk/>
          <pc:sldMk cId="3635138057" sldId="805"/>
        </pc:sldMkLst>
      </pc:sldChg>
      <pc:sldChg chg="del">
        <pc:chgData name="Alexandre Barcelos" userId="49a3ebc8-1649-4589-a8c0-8d24fc2c23d9" providerId="ADAL" clId="{339EAA94-296B-470F-8BCB-1912695EB6EF}" dt="2022-07-06T21:06:37.336" v="17" actId="47"/>
        <pc:sldMkLst>
          <pc:docMk/>
          <pc:sldMk cId="3265262382" sldId="806"/>
        </pc:sldMkLst>
      </pc:sldChg>
      <pc:sldChg chg="del">
        <pc:chgData name="Alexandre Barcelos" userId="49a3ebc8-1649-4589-a8c0-8d24fc2c23d9" providerId="ADAL" clId="{339EAA94-296B-470F-8BCB-1912695EB6EF}" dt="2022-07-06T21:06:36.837" v="16" actId="47"/>
        <pc:sldMkLst>
          <pc:docMk/>
          <pc:sldMk cId="832321201" sldId="808"/>
        </pc:sldMkLst>
      </pc:sldChg>
      <pc:sldChg chg="del">
        <pc:chgData name="Alexandre Barcelos" userId="49a3ebc8-1649-4589-a8c0-8d24fc2c23d9" providerId="ADAL" clId="{339EAA94-296B-470F-8BCB-1912695EB6EF}" dt="2022-07-06T21:06:33.656" v="11" actId="47"/>
        <pc:sldMkLst>
          <pc:docMk/>
          <pc:sldMk cId="2611207472" sldId="809"/>
        </pc:sldMkLst>
      </pc:sldChg>
      <pc:sldChg chg="del">
        <pc:chgData name="Alexandre Barcelos" userId="49a3ebc8-1649-4589-a8c0-8d24fc2c23d9" providerId="ADAL" clId="{339EAA94-296B-470F-8BCB-1912695EB6EF}" dt="2022-07-06T21:06:38.454" v="19" actId="47"/>
        <pc:sldMkLst>
          <pc:docMk/>
          <pc:sldMk cId="2084414221" sldId="810"/>
        </pc:sldMkLst>
      </pc:sldChg>
      <pc:sldChg chg="del">
        <pc:chgData name="Alexandre Barcelos" userId="49a3ebc8-1649-4589-a8c0-8d24fc2c23d9" providerId="ADAL" clId="{339EAA94-296B-470F-8BCB-1912695EB6EF}" dt="2022-07-06T21:06:35.308" v="13" actId="47"/>
        <pc:sldMkLst>
          <pc:docMk/>
          <pc:sldMk cId="1208705513" sldId="811"/>
        </pc:sldMkLst>
      </pc:sldChg>
      <pc:sldChg chg="del">
        <pc:chgData name="Alexandre Barcelos" userId="49a3ebc8-1649-4589-a8c0-8d24fc2c23d9" providerId="ADAL" clId="{339EAA94-296B-470F-8BCB-1912695EB6EF}" dt="2022-07-06T21:06:38.946" v="20" actId="47"/>
        <pc:sldMkLst>
          <pc:docMk/>
          <pc:sldMk cId="2207487081" sldId="812"/>
        </pc:sldMkLst>
      </pc:sldChg>
    </pc:docChg>
  </pc:docChgLst>
  <pc:docChgLst>
    <pc:chgData name="Alexandre Barcelos" userId="49a3ebc8-1649-4589-a8c0-8d24fc2c23d9" providerId="ADAL" clId="{E9F19F6A-847C-49CA-95B8-E3EFA8FC948C}"/>
    <pc:docChg chg="modSld">
      <pc:chgData name="Alexandre Barcelos" userId="49a3ebc8-1649-4589-a8c0-8d24fc2c23d9" providerId="ADAL" clId="{E9F19F6A-847C-49CA-95B8-E3EFA8FC948C}" dt="2025-01-28T20:19:30.009" v="1" actId="20577"/>
      <pc:docMkLst>
        <pc:docMk/>
      </pc:docMkLst>
      <pc:sldChg chg="modSp mod">
        <pc:chgData name="Alexandre Barcelos" userId="49a3ebc8-1649-4589-a8c0-8d24fc2c23d9" providerId="ADAL" clId="{E9F19F6A-847C-49CA-95B8-E3EFA8FC948C}" dt="2025-01-28T20:19:30.009" v="1" actId="20577"/>
        <pc:sldMkLst>
          <pc:docMk/>
          <pc:sldMk cId="639393125" sldId="662"/>
        </pc:sldMkLst>
        <pc:spChg chg="mod">
          <ac:chgData name="Alexandre Barcelos" userId="49a3ebc8-1649-4589-a8c0-8d24fc2c23d9" providerId="ADAL" clId="{E9F19F6A-847C-49CA-95B8-E3EFA8FC948C}" dt="2025-01-28T20:19:30.009" v="1" actId="20577"/>
          <ac:spMkLst>
            <pc:docMk/>
            <pc:sldMk cId="639393125" sldId="662"/>
            <ac:spMk id="2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3A3B6B-DA47-6145-A916-4C71632D9FE2}" type="datetimeFigureOut">
              <a:rPr lang="en-US" smtClean="0"/>
              <a:t>8/4/2025</a:t>
            </a:fld>
            <a:endParaRPr lang="en-US"/>
          </a:p>
        </p:txBody>
      </p:sp>
      <p:sp>
        <p:nvSpPr>
          <p:cNvPr id="4" name="Slide Image Placeholder 3"/>
          <p:cNvSpPr>
            <a:spLocks noGrp="1" noRot="1" noChangeAspect="1"/>
          </p:cNvSpPr>
          <p:nvPr>
            <p:ph type="sldImg" idx="2"/>
          </p:nvPr>
        </p:nvSpPr>
        <p:spPr>
          <a:xfrm>
            <a:off x="384175" y="685800"/>
            <a:ext cx="60896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9CAFCE-C102-6747-9B79-E03F9BCB8C76}" type="slidenum">
              <a:rPr lang="en-US" smtClean="0"/>
              <a:t>‹#›</a:t>
            </a:fld>
            <a:endParaRPr lang="en-US"/>
          </a:p>
        </p:txBody>
      </p:sp>
    </p:spTree>
    <p:extLst>
      <p:ext uri="{BB962C8B-B14F-4D97-AF65-F5344CB8AC3E}">
        <p14:creationId xmlns:p14="http://schemas.microsoft.com/office/powerpoint/2010/main" val="132062846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8832F-963E-290F-62E3-1BAC3C79A8A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48AFDB9-3B0D-640D-3FEE-07912DD5CE1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0CF69E6-7C45-8F10-72C5-D88E4AE3A55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C527B9D-53AE-4F5E-E07B-232C1842EE4F}"/>
              </a:ext>
            </a:extLst>
          </p:cNvPr>
          <p:cNvSpPr>
            <a:spLocks noGrp="1"/>
          </p:cNvSpPr>
          <p:nvPr>
            <p:ph type="sldNum" sz="quarter" idx="5"/>
          </p:nvPr>
        </p:nvSpPr>
        <p:spPr/>
        <p:txBody>
          <a:bodyPr/>
          <a:lstStyle/>
          <a:p>
            <a:fld id="{BC9CAFCE-C102-6747-9B79-E03F9BCB8C76}" type="slidenum">
              <a:rPr lang="en-US" smtClean="0"/>
              <a:t>4</a:t>
            </a:fld>
            <a:endParaRPr lang="en-US"/>
          </a:p>
        </p:txBody>
      </p:sp>
    </p:spTree>
    <p:extLst>
      <p:ext uri="{BB962C8B-B14F-4D97-AF65-F5344CB8AC3E}">
        <p14:creationId xmlns:p14="http://schemas.microsoft.com/office/powerpoint/2010/main" val="229030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5</a:t>
            </a:fld>
            <a:endParaRPr lang="en-US"/>
          </a:p>
        </p:txBody>
      </p:sp>
    </p:spTree>
    <p:extLst>
      <p:ext uri="{BB962C8B-B14F-4D97-AF65-F5344CB8AC3E}">
        <p14:creationId xmlns:p14="http://schemas.microsoft.com/office/powerpoint/2010/main" val="2941452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6</a:t>
            </a:fld>
            <a:endParaRPr lang="en-US"/>
          </a:p>
        </p:txBody>
      </p:sp>
    </p:spTree>
    <p:extLst>
      <p:ext uri="{BB962C8B-B14F-4D97-AF65-F5344CB8AC3E}">
        <p14:creationId xmlns:p14="http://schemas.microsoft.com/office/powerpoint/2010/main" val="2336404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7</a:t>
            </a:fld>
            <a:endParaRPr lang="en-US"/>
          </a:p>
        </p:txBody>
      </p:sp>
    </p:spTree>
    <p:extLst>
      <p:ext uri="{BB962C8B-B14F-4D97-AF65-F5344CB8AC3E}">
        <p14:creationId xmlns:p14="http://schemas.microsoft.com/office/powerpoint/2010/main" val="495123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8</a:t>
            </a:fld>
            <a:endParaRPr lang="en-US"/>
          </a:p>
        </p:txBody>
      </p:sp>
    </p:spTree>
    <p:extLst>
      <p:ext uri="{BB962C8B-B14F-4D97-AF65-F5344CB8AC3E}">
        <p14:creationId xmlns:p14="http://schemas.microsoft.com/office/powerpoint/2010/main" val="1788171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9</a:t>
            </a:fld>
            <a:endParaRPr lang="en-US"/>
          </a:p>
        </p:txBody>
      </p:sp>
    </p:spTree>
    <p:extLst>
      <p:ext uri="{BB962C8B-B14F-4D97-AF65-F5344CB8AC3E}">
        <p14:creationId xmlns:p14="http://schemas.microsoft.com/office/powerpoint/2010/main" val="312516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622AB-E7AC-26F5-876C-8A066A0C279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E82C01C-0F8C-8A86-F22A-5F1068551CC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DF0DC7A-3385-2857-54CB-63C12839447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FFC0098-4A09-5265-AF2C-7BC2979B5046}"/>
              </a:ext>
            </a:extLst>
          </p:cNvPr>
          <p:cNvSpPr>
            <a:spLocks noGrp="1"/>
          </p:cNvSpPr>
          <p:nvPr>
            <p:ph type="sldNum" sz="quarter" idx="5"/>
          </p:nvPr>
        </p:nvSpPr>
        <p:spPr/>
        <p:txBody>
          <a:bodyPr/>
          <a:lstStyle/>
          <a:p>
            <a:fld id="{BC9CAFCE-C102-6747-9B79-E03F9BCB8C76}" type="slidenum">
              <a:rPr lang="en-US" smtClean="0"/>
              <a:t>10</a:t>
            </a:fld>
            <a:endParaRPr lang="en-US"/>
          </a:p>
        </p:txBody>
      </p:sp>
    </p:spTree>
    <p:extLst>
      <p:ext uri="{BB962C8B-B14F-4D97-AF65-F5344CB8AC3E}">
        <p14:creationId xmlns:p14="http://schemas.microsoft.com/office/powerpoint/2010/main" val="736333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EDFBF-C871-DD9F-DBB1-BA881CD5CC3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E389EFB-219B-A74A-B216-35389F154AD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0440B97-3A24-15AC-C626-D6B9C448F45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BE5A005-B2FE-F502-F0C2-2B11A2D2D68D}"/>
              </a:ext>
            </a:extLst>
          </p:cNvPr>
          <p:cNvSpPr>
            <a:spLocks noGrp="1"/>
          </p:cNvSpPr>
          <p:nvPr>
            <p:ph type="sldNum" sz="quarter" idx="5"/>
          </p:nvPr>
        </p:nvSpPr>
        <p:spPr/>
        <p:txBody>
          <a:bodyPr/>
          <a:lstStyle/>
          <a:p>
            <a:fld id="{BC9CAFCE-C102-6747-9B79-E03F9BCB8C76}" type="slidenum">
              <a:rPr lang="en-US" smtClean="0"/>
              <a:t>11</a:t>
            </a:fld>
            <a:endParaRPr lang="en-US"/>
          </a:p>
        </p:txBody>
      </p:sp>
    </p:spTree>
    <p:extLst>
      <p:ext uri="{BB962C8B-B14F-4D97-AF65-F5344CB8AC3E}">
        <p14:creationId xmlns:p14="http://schemas.microsoft.com/office/powerpoint/2010/main" val="359625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0C963-D989-F5E5-90DE-770BA22AF7D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18E4F9C-B617-38C9-C825-94B4C593891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64EA309-0A24-1A92-8D4B-570B221C1AF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0B15556-86E7-B3DB-D030-257BEE85F548}"/>
              </a:ext>
            </a:extLst>
          </p:cNvPr>
          <p:cNvSpPr>
            <a:spLocks noGrp="1"/>
          </p:cNvSpPr>
          <p:nvPr>
            <p:ph type="sldNum" sz="quarter" idx="5"/>
          </p:nvPr>
        </p:nvSpPr>
        <p:spPr/>
        <p:txBody>
          <a:bodyPr/>
          <a:lstStyle/>
          <a:p>
            <a:fld id="{BC9CAFCE-C102-6747-9B79-E03F9BCB8C76}" type="slidenum">
              <a:rPr lang="en-US" smtClean="0"/>
              <a:t>12</a:t>
            </a:fld>
            <a:endParaRPr lang="en-US"/>
          </a:p>
        </p:txBody>
      </p:sp>
    </p:spTree>
    <p:extLst>
      <p:ext uri="{BB962C8B-B14F-4D97-AF65-F5344CB8AC3E}">
        <p14:creationId xmlns:p14="http://schemas.microsoft.com/office/powerpoint/2010/main" val="4009857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36FD5-234D-4583-9FE9-F6A83E0D0C4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A3AC7FC-3E73-45F5-3C3D-09A066151C5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2F98D00-361E-B3C1-1493-8E71EFC7ED2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AC31EC2-AF51-B331-1795-D9FD7B187687}"/>
              </a:ext>
            </a:extLst>
          </p:cNvPr>
          <p:cNvSpPr>
            <a:spLocks noGrp="1"/>
          </p:cNvSpPr>
          <p:nvPr>
            <p:ph type="sldNum" sz="quarter" idx="5"/>
          </p:nvPr>
        </p:nvSpPr>
        <p:spPr/>
        <p:txBody>
          <a:bodyPr/>
          <a:lstStyle/>
          <a:p>
            <a:fld id="{BC9CAFCE-C102-6747-9B79-E03F9BCB8C76}" type="slidenum">
              <a:rPr lang="en-US" smtClean="0"/>
              <a:t>13</a:t>
            </a:fld>
            <a:endParaRPr lang="en-US"/>
          </a:p>
        </p:txBody>
      </p:sp>
    </p:spTree>
    <p:extLst>
      <p:ext uri="{BB962C8B-B14F-4D97-AF65-F5344CB8AC3E}">
        <p14:creationId xmlns:p14="http://schemas.microsoft.com/office/powerpoint/2010/main" val="1489963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14</a:t>
            </a:fld>
            <a:endParaRPr lang="en-US"/>
          </a:p>
        </p:txBody>
      </p:sp>
    </p:spTree>
    <p:extLst>
      <p:ext uri="{BB962C8B-B14F-4D97-AF65-F5344CB8AC3E}">
        <p14:creationId xmlns:p14="http://schemas.microsoft.com/office/powerpoint/2010/main" val="3522201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15</a:t>
            </a:fld>
            <a:endParaRPr lang="en-US"/>
          </a:p>
        </p:txBody>
      </p:sp>
    </p:spTree>
    <p:extLst>
      <p:ext uri="{BB962C8B-B14F-4D97-AF65-F5344CB8AC3E}">
        <p14:creationId xmlns:p14="http://schemas.microsoft.com/office/powerpoint/2010/main" val="231976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16</a:t>
            </a:fld>
            <a:endParaRPr lang="en-US"/>
          </a:p>
        </p:txBody>
      </p:sp>
    </p:spTree>
    <p:extLst>
      <p:ext uri="{BB962C8B-B14F-4D97-AF65-F5344CB8AC3E}">
        <p14:creationId xmlns:p14="http://schemas.microsoft.com/office/powerpoint/2010/main" val="2661486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17</a:t>
            </a:fld>
            <a:endParaRPr lang="en-US"/>
          </a:p>
        </p:txBody>
      </p:sp>
    </p:spTree>
    <p:extLst>
      <p:ext uri="{BB962C8B-B14F-4D97-AF65-F5344CB8AC3E}">
        <p14:creationId xmlns:p14="http://schemas.microsoft.com/office/powerpoint/2010/main" val="3937967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18</a:t>
            </a:fld>
            <a:endParaRPr lang="en-US"/>
          </a:p>
        </p:txBody>
      </p:sp>
    </p:spTree>
    <p:extLst>
      <p:ext uri="{BB962C8B-B14F-4D97-AF65-F5344CB8AC3E}">
        <p14:creationId xmlns:p14="http://schemas.microsoft.com/office/powerpoint/2010/main" val="377991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19</a:t>
            </a:fld>
            <a:endParaRPr lang="en-US"/>
          </a:p>
        </p:txBody>
      </p:sp>
    </p:spTree>
    <p:extLst>
      <p:ext uri="{BB962C8B-B14F-4D97-AF65-F5344CB8AC3E}">
        <p14:creationId xmlns:p14="http://schemas.microsoft.com/office/powerpoint/2010/main" val="2266905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340DA-B7FC-8002-4315-F4ABEEA9B64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77E5C02-3E17-B022-DF07-E1FE141F4EE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156899B-012B-87CC-7839-94BEF2AD6AB7}"/>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F3C99E2-BA03-E2E5-BA6C-5F423FC9FFCE}"/>
              </a:ext>
            </a:extLst>
          </p:cNvPr>
          <p:cNvSpPr>
            <a:spLocks noGrp="1"/>
          </p:cNvSpPr>
          <p:nvPr>
            <p:ph type="sldNum" sz="quarter" idx="5"/>
          </p:nvPr>
        </p:nvSpPr>
        <p:spPr/>
        <p:txBody>
          <a:bodyPr/>
          <a:lstStyle/>
          <a:p>
            <a:fld id="{BC9CAFCE-C102-6747-9B79-E03F9BCB8C76}" type="slidenum">
              <a:rPr lang="en-US" smtClean="0"/>
              <a:t>20</a:t>
            </a:fld>
            <a:endParaRPr lang="en-US"/>
          </a:p>
        </p:txBody>
      </p:sp>
    </p:spTree>
    <p:extLst>
      <p:ext uri="{BB962C8B-B14F-4D97-AF65-F5344CB8AC3E}">
        <p14:creationId xmlns:p14="http://schemas.microsoft.com/office/powerpoint/2010/main" val="1405665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21</a:t>
            </a:fld>
            <a:endParaRPr lang="en-US"/>
          </a:p>
        </p:txBody>
      </p:sp>
    </p:spTree>
    <p:extLst>
      <p:ext uri="{BB962C8B-B14F-4D97-AF65-F5344CB8AC3E}">
        <p14:creationId xmlns:p14="http://schemas.microsoft.com/office/powerpoint/2010/main" val="1511324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22</a:t>
            </a:fld>
            <a:endParaRPr lang="en-US"/>
          </a:p>
        </p:txBody>
      </p:sp>
    </p:spTree>
    <p:extLst>
      <p:ext uri="{BB962C8B-B14F-4D97-AF65-F5344CB8AC3E}">
        <p14:creationId xmlns:p14="http://schemas.microsoft.com/office/powerpoint/2010/main" val="847136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C9CAFCE-C102-6747-9B79-E03F9BCB8C76}" type="slidenum">
              <a:rPr lang="en-US" smtClean="0"/>
              <a:t>31</a:t>
            </a:fld>
            <a:endParaRPr lang="en-US"/>
          </a:p>
        </p:txBody>
      </p:sp>
    </p:spTree>
    <p:extLst>
      <p:ext uri="{BB962C8B-B14F-4D97-AF65-F5344CB8AC3E}">
        <p14:creationId xmlns:p14="http://schemas.microsoft.com/office/powerpoint/2010/main" val="2803155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BC9CAFCE-C102-6747-9B79-E03F9BCB8C76}" type="slidenum">
              <a:rPr lang="en-US" smtClean="0"/>
              <a:t>37</a:t>
            </a:fld>
            <a:endParaRPr lang="en-US"/>
          </a:p>
        </p:txBody>
      </p:sp>
    </p:spTree>
    <p:extLst>
      <p:ext uri="{BB962C8B-B14F-4D97-AF65-F5344CB8AC3E}">
        <p14:creationId xmlns:p14="http://schemas.microsoft.com/office/powerpoint/2010/main" val="2520211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2C55BD2-FBEE-2B43-BCA3-95F743A4C724}" type="slidenum">
              <a:rPr lang="en-US" smtClean="0"/>
              <a:t>43</a:t>
            </a:fld>
            <a:endParaRPr lang="en-US"/>
          </a:p>
        </p:txBody>
      </p:sp>
    </p:spTree>
    <p:extLst>
      <p:ext uri="{BB962C8B-B14F-4D97-AF65-F5344CB8AC3E}">
        <p14:creationId xmlns:p14="http://schemas.microsoft.com/office/powerpoint/2010/main" val="1778652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865A0-DC57-4450-AD93-28C1599BF09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7A9AA5B-B5D8-9E54-40F0-E52902E3BA76}"/>
              </a:ext>
            </a:extLst>
          </p:cNvPr>
          <p:cNvSpPr>
            <a:spLocks noGrp="1" noRot="1" noChangeAspect="1"/>
          </p:cNvSpPr>
          <p:nvPr>
            <p:ph type="sldImg"/>
          </p:nvPr>
        </p:nvSpPr>
        <p:spPr>
          <a:xfrm>
            <a:off x="384175" y="685800"/>
            <a:ext cx="6089650" cy="3429000"/>
          </a:xfrm>
        </p:spPr>
      </p:sp>
      <p:sp>
        <p:nvSpPr>
          <p:cNvPr id="3" name="Espaço Reservado para Anotações 2">
            <a:extLst>
              <a:ext uri="{FF2B5EF4-FFF2-40B4-BE49-F238E27FC236}">
                <a16:creationId xmlns:a16="http://schemas.microsoft.com/office/drawing/2014/main" id="{5E4EF4F3-706D-4AFC-330D-60DE81CA8A2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30E03CF-68C6-6860-D571-75D1CCFAAA63}"/>
              </a:ext>
            </a:extLst>
          </p:cNvPr>
          <p:cNvSpPr>
            <a:spLocks noGrp="1"/>
          </p:cNvSpPr>
          <p:nvPr>
            <p:ph type="sldNum" sz="quarter" idx="10"/>
          </p:nvPr>
        </p:nvSpPr>
        <p:spPr/>
        <p:txBody>
          <a:bodyPr/>
          <a:lstStyle/>
          <a:p>
            <a:fld id="{12C55BD2-FBEE-2B43-BCA3-95F743A4C724}" type="slidenum">
              <a:rPr lang="en-US" smtClean="0"/>
              <a:t>44</a:t>
            </a:fld>
            <a:endParaRPr lang="en-US"/>
          </a:p>
        </p:txBody>
      </p:sp>
    </p:spTree>
    <p:extLst>
      <p:ext uri="{BB962C8B-B14F-4D97-AF65-F5344CB8AC3E}">
        <p14:creationId xmlns:p14="http://schemas.microsoft.com/office/powerpoint/2010/main" val="3072250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2C55BD2-FBEE-2B43-BCA3-95F743A4C724}" type="slidenum">
              <a:rPr lang="en-US" smtClean="0"/>
              <a:t>45</a:t>
            </a:fld>
            <a:endParaRPr lang="en-US"/>
          </a:p>
        </p:txBody>
      </p:sp>
    </p:spTree>
    <p:extLst>
      <p:ext uri="{BB962C8B-B14F-4D97-AF65-F5344CB8AC3E}">
        <p14:creationId xmlns:p14="http://schemas.microsoft.com/office/powerpoint/2010/main" val="376758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9299"/>
            <a:ext cx="7772400" cy="1103540"/>
          </a:xfrm>
        </p:spPr>
        <p:txBody>
          <a:bodyPr/>
          <a:lstStyle/>
          <a:p>
            <a:r>
              <a:rPr lang="x-none"/>
              <a:t>Click to edit Master title style</a:t>
            </a:r>
            <a:endParaRPr lang="en-US"/>
          </a:p>
        </p:txBody>
      </p:sp>
      <p:sp>
        <p:nvSpPr>
          <p:cNvPr id="3" name="Subtitle 2"/>
          <p:cNvSpPr>
            <a:spLocks noGrp="1"/>
          </p:cNvSpPr>
          <p:nvPr>
            <p:ph type="subTitle" idx="1"/>
          </p:nvPr>
        </p:nvSpPr>
        <p:spPr>
          <a:xfrm>
            <a:off x="1371600" y="2917349"/>
            <a:ext cx="6400800" cy="1315667"/>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p>
            <a:fld id="{34DE395E-34A2-AA4D-9868-153B79C4F40E}"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3299858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06169"/>
            <a:ext cx="8229600" cy="858044"/>
          </a:xfrm>
        </p:spPr>
        <p:txBody>
          <a:bodyPr>
            <a:normAutofit/>
          </a:bodyPr>
          <a:lstStyle>
            <a:lvl1pPr>
              <a:defRPr sz="3200">
                <a:solidFill>
                  <a:srgbClr val="ED145B"/>
                </a:solidFill>
              </a:defRPr>
            </a:lvl1pPr>
          </a:lstStyle>
          <a:p>
            <a:r>
              <a:rPr lang="x-none" dirty="0"/>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4" name="Date Placeholder 3"/>
          <p:cNvSpPr>
            <a:spLocks noGrp="1"/>
          </p:cNvSpPr>
          <p:nvPr>
            <p:ph type="dt" sz="half" idx="10"/>
          </p:nvPr>
        </p:nvSpPr>
        <p:spPr/>
        <p:txBody>
          <a:bodyPr/>
          <a:lstStyle/>
          <a:p>
            <a:fld id="{34DE395E-34A2-AA4D-9868-153B79C4F40E}"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1756439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8236"/>
            <a:ext cx="7772400" cy="1022502"/>
          </a:xfrm>
        </p:spPr>
        <p:txBody>
          <a:bodyPr anchor="t"/>
          <a:lstStyle>
            <a:lvl1pPr algn="l">
              <a:defRPr sz="4000" b="1" cap="all"/>
            </a:lvl1pPr>
          </a:lstStyle>
          <a:p>
            <a:r>
              <a:rPr lang="x-none"/>
              <a:t>Click to edit Master title style</a:t>
            </a:r>
            <a:endParaRPr lang="en-US"/>
          </a:p>
        </p:txBody>
      </p:sp>
      <p:sp>
        <p:nvSpPr>
          <p:cNvPr id="3" name="Text Placeholder 2"/>
          <p:cNvSpPr>
            <a:spLocks noGrp="1"/>
          </p:cNvSpPr>
          <p:nvPr>
            <p:ph type="body" idx="1"/>
          </p:nvPr>
        </p:nvSpPr>
        <p:spPr>
          <a:xfrm>
            <a:off x="722313" y="2182055"/>
            <a:ext cx="7772400" cy="1126182"/>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4" name="Date Placeholder 3"/>
          <p:cNvSpPr>
            <a:spLocks noGrp="1"/>
          </p:cNvSpPr>
          <p:nvPr>
            <p:ph type="dt" sz="half" idx="10"/>
          </p:nvPr>
        </p:nvSpPr>
        <p:spPr/>
        <p:txBody>
          <a:bodyPr/>
          <a:lstStyle/>
          <a:p>
            <a:fld id="{34DE395E-34A2-AA4D-9868-153B79C4F40E}"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331571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201262"/>
            <a:ext cx="4038600" cy="33976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4648200" y="1201262"/>
            <a:ext cx="4038600" cy="33976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p:txBody>
          <a:bodyPr/>
          <a:lstStyle/>
          <a:p>
            <a:fld id="{34DE395E-34A2-AA4D-9868-153B79C4F40E}"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2106093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152401"/>
            <a:ext cx="4040188" cy="4802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4" name="Content Placeholder 3"/>
          <p:cNvSpPr>
            <a:spLocks noGrp="1"/>
          </p:cNvSpPr>
          <p:nvPr>
            <p:ph sz="half" idx="2"/>
          </p:nvPr>
        </p:nvSpPr>
        <p:spPr>
          <a:xfrm>
            <a:off x="457200" y="1632667"/>
            <a:ext cx="4040188" cy="296621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Text Placeholder 4"/>
          <p:cNvSpPr>
            <a:spLocks noGrp="1"/>
          </p:cNvSpPr>
          <p:nvPr>
            <p:ph type="body" sz="quarter" idx="3"/>
          </p:nvPr>
        </p:nvSpPr>
        <p:spPr>
          <a:xfrm>
            <a:off x="4645033" y="1152401"/>
            <a:ext cx="4041775" cy="4802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645033" y="1632667"/>
            <a:ext cx="4041775" cy="296621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p:txBody>
          <a:bodyPr/>
          <a:lstStyle/>
          <a:p>
            <a:fld id="{34DE395E-34A2-AA4D-9868-153B79C4F40E}"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3575215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p:txBody>
          <a:bodyPr/>
          <a:lstStyle/>
          <a:p>
            <a:fld id="{34DE395E-34A2-AA4D-9868-153B79C4F40E}"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212890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DE395E-34A2-AA4D-9868-153B79C4F40E}" type="datetimeFigureOut">
              <a:rPr lang="en-US" smtClean="0"/>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56894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9" y="204981"/>
            <a:ext cx="3008313" cy="872345"/>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3575050" y="204977"/>
            <a:ext cx="5111750" cy="43939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457209" y="1077326"/>
            <a:ext cx="3008313" cy="352155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34DE395E-34A2-AA4D-9868-153B79C4F40E}"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4102636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3784"/>
            <a:ext cx="5486400" cy="425447"/>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1792288" y="460007"/>
            <a:ext cx="5486400" cy="30889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9235"/>
            <a:ext cx="5486400" cy="60420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34DE395E-34A2-AA4D-9868-153B79C4F40E}"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1380083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34DE395E-34A2-AA4D-9868-153B79C4F40E}"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1873123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169"/>
            <a:ext cx="2057400" cy="4392708"/>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457200" y="206169"/>
            <a:ext cx="6019800" cy="4392708"/>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34DE395E-34A2-AA4D-9868-153B79C4F40E}"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B888C7-909F-294F-8D58-CCD5DCAC4E92}" type="slidenum">
              <a:rPr lang="en-US" smtClean="0"/>
              <a:t>‹#›</a:t>
            </a:fld>
            <a:endParaRPr lang="en-US"/>
          </a:p>
        </p:txBody>
      </p:sp>
    </p:spTree>
    <p:extLst>
      <p:ext uri="{BB962C8B-B14F-4D97-AF65-F5344CB8AC3E}">
        <p14:creationId xmlns:p14="http://schemas.microsoft.com/office/powerpoint/2010/main" val="1262934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ogo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9635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 descr="fiap_elemento1.png">
            <a:extLst>
              <a:ext uri="{FF2B5EF4-FFF2-40B4-BE49-F238E27FC236}">
                <a16:creationId xmlns:a16="http://schemas.microsoft.com/office/drawing/2014/main" id="{BC1E70F3-7777-5A4C-A91B-972B92D521D0}"/>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Placeholder 1"/>
          <p:cNvSpPr>
            <a:spLocks noGrp="1"/>
          </p:cNvSpPr>
          <p:nvPr>
            <p:ph type="title"/>
          </p:nvPr>
        </p:nvSpPr>
        <p:spPr>
          <a:xfrm>
            <a:off x="457200" y="206169"/>
            <a:ext cx="8229600" cy="858044"/>
          </a:xfrm>
          <a:prstGeom prst="rect">
            <a:avLst/>
          </a:prstGeom>
        </p:spPr>
        <p:txBody>
          <a:bodyPr vert="horz" lIns="91440" tIns="45720" rIns="91440" bIns="45720" rtlCol="0" anchor="ctr">
            <a:normAutofit/>
          </a:bodyPr>
          <a:lstStyle/>
          <a:p>
            <a:r>
              <a:rPr lang="x-none" dirty="0"/>
              <a:t>Click to edit Master title style</a:t>
            </a:r>
            <a:endParaRPr lang="en-US" dirty="0"/>
          </a:p>
        </p:txBody>
      </p:sp>
      <p:sp>
        <p:nvSpPr>
          <p:cNvPr id="3" name="Text Placeholder 2"/>
          <p:cNvSpPr>
            <a:spLocks noGrp="1"/>
          </p:cNvSpPr>
          <p:nvPr>
            <p:ph type="body" idx="1"/>
          </p:nvPr>
        </p:nvSpPr>
        <p:spPr>
          <a:xfrm>
            <a:off x="457200" y="1201262"/>
            <a:ext cx="8229600" cy="3397616"/>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4" name="Date Placeholder 3"/>
          <p:cNvSpPr>
            <a:spLocks noGrp="1"/>
          </p:cNvSpPr>
          <p:nvPr>
            <p:ph type="dt" sz="half" idx="2"/>
          </p:nvPr>
        </p:nvSpPr>
        <p:spPr>
          <a:xfrm>
            <a:off x="457200" y="4771682"/>
            <a:ext cx="2133600" cy="274097"/>
          </a:xfrm>
          <a:prstGeom prst="rect">
            <a:avLst/>
          </a:prstGeom>
        </p:spPr>
        <p:txBody>
          <a:bodyPr vert="horz" lIns="91440" tIns="45720" rIns="91440" bIns="45720" rtlCol="0" anchor="ctr"/>
          <a:lstStyle>
            <a:lvl1pPr algn="l">
              <a:defRPr sz="1200">
                <a:solidFill>
                  <a:schemeClr val="tx1">
                    <a:tint val="75000"/>
                  </a:schemeClr>
                </a:solidFill>
              </a:defRPr>
            </a:lvl1pPr>
          </a:lstStyle>
          <a:p>
            <a:fld id="{864E9205-9656-6046-8C3D-28FDB8803E63}" type="datetimeFigureOut">
              <a:rPr lang="en-US" smtClean="0"/>
              <a:t>8/4/2025</a:t>
            </a:fld>
            <a:endParaRPr lang="en-US"/>
          </a:p>
        </p:txBody>
      </p:sp>
      <p:sp>
        <p:nvSpPr>
          <p:cNvPr id="5" name="Footer Placeholder 4"/>
          <p:cNvSpPr>
            <a:spLocks noGrp="1"/>
          </p:cNvSpPr>
          <p:nvPr>
            <p:ph type="ftr" sz="quarter" idx="3"/>
          </p:nvPr>
        </p:nvSpPr>
        <p:spPr>
          <a:xfrm>
            <a:off x="3124200" y="4771682"/>
            <a:ext cx="2895600" cy="27409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71682"/>
            <a:ext cx="2133600" cy="274097"/>
          </a:xfrm>
          <a:prstGeom prst="rect">
            <a:avLst/>
          </a:prstGeom>
        </p:spPr>
        <p:txBody>
          <a:bodyPr vert="horz" lIns="91440" tIns="45720" rIns="91440" bIns="45720" rtlCol="0" anchor="ctr"/>
          <a:lstStyle>
            <a:lvl1pPr algn="r">
              <a:defRPr sz="1200">
                <a:solidFill>
                  <a:schemeClr val="tx1">
                    <a:tint val="75000"/>
                  </a:schemeClr>
                </a:solidFill>
              </a:defRPr>
            </a:lvl1pPr>
          </a:lstStyle>
          <a:p>
            <a:fld id="{ABC49B36-4058-3742-A64C-523393E04A2E}" type="slidenum">
              <a:rPr lang="en-US" smtClean="0"/>
              <a:t>‹#›</a:t>
            </a:fld>
            <a:endParaRPr lang="en-US"/>
          </a:p>
        </p:txBody>
      </p:sp>
      <p:grpSp>
        <p:nvGrpSpPr>
          <p:cNvPr id="11" name="Group 5">
            <a:extLst>
              <a:ext uri="{FF2B5EF4-FFF2-40B4-BE49-F238E27FC236}">
                <a16:creationId xmlns:a16="http://schemas.microsoft.com/office/drawing/2014/main" id="{2287E5D5-86AA-BA41-AD5B-C512E4ADA64F}"/>
              </a:ext>
            </a:extLst>
          </p:cNvPr>
          <p:cNvGrpSpPr/>
          <p:nvPr userDrawn="1"/>
        </p:nvGrpSpPr>
        <p:grpSpPr>
          <a:xfrm>
            <a:off x="8083482" y="167634"/>
            <a:ext cx="884670" cy="138982"/>
            <a:chOff x="7919542" y="328894"/>
            <a:chExt cx="957000" cy="150345"/>
          </a:xfrm>
        </p:grpSpPr>
        <p:pic>
          <p:nvPicPr>
            <p:cNvPr id="13" name="Imagem 1">
              <a:extLst>
                <a:ext uri="{FF2B5EF4-FFF2-40B4-BE49-F238E27FC236}">
                  <a16:creationId xmlns:a16="http://schemas.microsoft.com/office/drawing/2014/main" id="{88405014-CFAE-AA46-826B-C6318AB3B45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919542" y="345210"/>
              <a:ext cx="498247" cy="134029"/>
            </a:xfrm>
            <a:prstGeom prst="rect">
              <a:avLst/>
            </a:prstGeom>
          </p:spPr>
        </p:pic>
        <p:pic>
          <p:nvPicPr>
            <p:cNvPr id="14" name="Picture 10" descr="mba.png">
              <a:extLst>
                <a:ext uri="{FF2B5EF4-FFF2-40B4-BE49-F238E27FC236}">
                  <a16:creationId xmlns:a16="http://schemas.microsoft.com/office/drawing/2014/main" id="{45D96DEE-F149-EB4A-95B1-85F69FCBE1C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518622" y="328894"/>
              <a:ext cx="357920" cy="145315"/>
            </a:xfrm>
            <a:prstGeom prst="rect">
              <a:avLst/>
            </a:prstGeom>
          </p:spPr>
        </p:pic>
      </p:grpSp>
    </p:spTree>
    <p:extLst>
      <p:ext uri="{BB962C8B-B14F-4D97-AF65-F5344CB8AC3E}">
        <p14:creationId xmlns:p14="http://schemas.microsoft.com/office/powerpoint/2010/main" val="83761916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ctr" defTabSz="457200" rtl="0" eaLnBrk="1" latinLnBrk="0" hangingPunct="1">
        <a:spcBef>
          <a:spcPct val="0"/>
        </a:spcBef>
        <a:buNone/>
        <a:defRPr sz="32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db-engines.com/en/ranking_trend"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www.ibm.com/support/knowledgecenter/en/SSGMCP_5.4.0/product-overview/acid.html" TargetMode="External"/><Relationship Id="rId7"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hyperlink" Target="https://docs.oracle.com/cd/E11882_01/server.112/e40540/transact.htm" TargetMode="External"/><Relationship Id="rId4" Type="http://schemas.openxmlformats.org/officeDocument/2006/relationships/hyperlink" Target="https://docs.microsoft.com/en-us/windows/win32/cossdk/acid-propertie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468" y="-4763"/>
            <a:ext cx="9160936" cy="5153026"/>
          </a:xfrm>
          <a:prstGeom prst="rect">
            <a:avLst/>
          </a:prstGeom>
        </p:spPr>
      </p:pic>
      <p:pic>
        <p:nvPicPr>
          <p:cNvPr id="4"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7454" y="1018281"/>
            <a:ext cx="1809092" cy="486646"/>
          </a:xfrm>
          <a:prstGeom prst="rect">
            <a:avLst/>
          </a:prstGeom>
        </p:spPr>
      </p:pic>
      <p:pic>
        <p:nvPicPr>
          <p:cNvPr id="2" name="Picture 1" descr="fiap_elemento1.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20145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679820" y="1072414"/>
            <a:ext cx="2046785" cy="2399480"/>
          </a:xfrm>
          <a:prstGeom prst="rect">
            <a:avLst/>
          </a:prstGeom>
        </p:spPr>
      </p:pic>
      <p:sp>
        <p:nvSpPr>
          <p:cNvPr id="7" name="TextBox 6"/>
          <p:cNvSpPr txBox="1"/>
          <p:nvPr/>
        </p:nvSpPr>
        <p:spPr>
          <a:xfrm>
            <a:off x="1" y="2192778"/>
            <a:ext cx="9144000" cy="630942"/>
          </a:xfrm>
          <a:prstGeom prst="rect">
            <a:avLst/>
          </a:prstGeom>
          <a:noFill/>
        </p:spPr>
        <p:txBody>
          <a:bodyPr wrap="square" rtlCol="0">
            <a:spAutoFit/>
          </a:bodyPr>
          <a:lstStyle/>
          <a:p>
            <a:pPr algn="ctr"/>
            <a:r>
              <a:rPr lang="pt-BR" sz="3500" dirty="0">
                <a:solidFill>
                  <a:srgbClr val="626E73"/>
                </a:solidFill>
                <a:latin typeface="Gotham HTF Light"/>
                <a:cs typeface="Gotham HTF Light"/>
              </a:rPr>
              <a:t> MBA em Engenharia de Dados</a:t>
            </a:r>
          </a:p>
        </p:txBody>
      </p:sp>
      <p:grpSp>
        <p:nvGrpSpPr>
          <p:cNvPr id="6" name="Group 5"/>
          <p:cNvGrpSpPr/>
          <p:nvPr/>
        </p:nvGrpSpPr>
        <p:grpSpPr>
          <a:xfrm>
            <a:off x="8083482" y="167634"/>
            <a:ext cx="884670" cy="138982"/>
            <a:chOff x="7919542" y="328894"/>
            <a:chExt cx="957000" cy="150345"/>
          </a:xfrm>
        </p:grpSpPr>
        <p:pic>
          <p:nvPicPr>
            <p:cNvPr id="9"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9542" y="345210"/>
              <a:ext cx="498247" cy="134029"/>
            </a:xfrm>
            <a:prstGeom prst="rect">
              <a:avLst/>
            </a:prstGeom>
          </p:spPr>
        </p:pic>
        <p:pic>
          <p:nvPicPr>
            <p:cNvPr id="11" name="Picture 10" descr="mba.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8622" y="328894"/>
              <a:ext cx="357920" cy="145315"/>
            </a:xfrm>
            <a:prstGeom prst="rect">
              <a:avLst/>
            </a:prstGeom>
          </p:spPr>
        </p:pic>
      </p:grpSp>
    </p:spTree>
    <p:extLst>
      <p:ext uri="{BB962C8B-B14F-4D97-AF65-F5344CB8AC3E}">
        <p14:creationId xmlns:p14="http://schemas.microsoft.com/office/powerpoint/2010/main" val="2994710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304979" y="739692"/>
            <a:ext cx="2046785" cy="2399480"/>
          </a:xfrm>
          <a:prstGeom prst="rect">
            <a:avLst/>
          </a:prstGeom>
        </p:spPr>
      </p:pic>
      <p:sp>
        <p:nvSpPr>
          <p:cNvPr id="7" name="TextBox 6"/>
          <p:cNvSpPr txBox="1"/>
          <p:nvPr/>
        </p:nvSpPr>
        <p:spPr>
          <a:xfrm>
            <a:off x="957652" y="2165950"/>
            <a:ext cx="5697148" cy="1169551"/>
          </a:xfrm>
          <a:prstGeom prst="rect">
            <a:avLst/>
          </a:prstGeom>
          <a:noFill/>
        </p:spPr>
        <p:txBody>
          <a:bodyPr wrap="square" rtlCol="0">
            <a:spAutoFit/>
          </a:bodyPr>
          <a:lstStyle/>
          <a:p>
            <a:r>
              <a:rPr lang="en-US" sz="3500" dirty="0" err="1">
                <a:solidFill>
                  <a:schemeClr val="tx1">
                    <a:lumMod val="65000"/>
                    <a:lumOff val="35000"/>
                  </a:schemeClr>
                </a:solidFill>
                <a:latin typeface="Gotham HTF Light"/>
                <a:cs typeface="Gotham HTF Medium"/>
              </a:rPr>
              <a:t>Transação</a:t>
            </a:r>
            <a:r>
              <a:rPr lang="en-US" sz="3500" dirty="0">
                <a:solidFill>
                  <a:schemeClr val="tx1">
                    <a:lumMod val="65000"/>
                    <a:lumOff val="35000"/>
                  </a:schemeClr>
                </a:solidFill>
                <a:latin typeface="Gotham HTF Light"/>
                <a:cs typeface="Gotham HTF Medium"/>
              </a:rPr>
              <a:t> e </a:t>
            </a:r>
            <a:r>
              <a:rPr lang="en-US" sz="3500" dirty="0" err="1">
                <a:solidFill>
                  <a:schemeClr val="tx1">
                    <a:lumMod val="65000"/>
                    <a:lumOff val="35000"/>
                  </a:schemeClr>
                </a:solidFill>
                <a:latin typeface="Gotham HTF Light"/>
                <a:cs typeface="Gotham HTF Medium"/>
              </a:rPr>
              <a:t>Concorrência</a:t>
            </a:r>
            <a:endParaRPr lang="en-US" sz="3500" dirty="0">
              <a:solidFill>
                <a:schemeClr val="tx1">
                  <a:lumMod val="65000"/>
                  <a:lumOff val="35000"/>
                </a:schemeClr>
              </a:solidFill>
              <a:latin typeface="Gotham HTF Light"/>
              <a:cs typeface="Gotham HTF Medium"/>
            </a:endParaRPr>
          </a:p>
          <a:p>
            <a:r>
              <a:rPr lang="en-US" sz="3500" dirty="0" err="1">
                <a:solidFill>
                  <a:srgbClr val="ED145B"/>
                </a:solidFill>
                <a:latin typeface="Gotham HTF Light"/>
                <a:cs typeface="Gotham HTF Light"/>
              </a:rPr>
              <a:t>em</a:t>
            </a:r>
            <a:r>
              <a:rPr lang="en-US" sz="3500" dirty="0">
                <a:solidFill>
                  <a:srgbClr val="ED145B"/>
                </a:solidFill>
                <a:latin typeface="Gotham HTF Light"/>
                <a:cs typeface="Gotham HTF Light"/>
              </a:rPr>
              <a:t> Banco de Dados </a:t>
            </a:r>
            <a:r>
              <a:rPr lang="en-US" sz="3500" dirty="0" err="1">
                <a:solidFill>
                  <a:srgbClr val="ED145B"/>
                </a:solidFill>
                <a:latin typeface="Gotham HTF Light"/>
                <a:cs typeface="Gotham HTF Light"/>
              </a:rPr>
              <a:t>Relacional</a:t>
            </a:r>
            <a:endParaRPr lang="en-US" sz="3500" dirty="0">
              <a:solidFill>
                <a:srgbClr val="ED145B"/>
              </a:solidFill>
              <a:latin typeface="Gotham HTF" pitchFamily="50" charset="0"/>
              <a:cs typeface="Gotham HTF Light"/>
            </a:endParaRPr>
          </a:p>
        </p:txBody>
      </p:sp>
      <p:pic>
        <p:nvPicPr>
          <p:cNvPr id="10" name="Gráfico 9">
            <a:extLst>
              <a:ext uri="{FF2B5EF4-FFF2-40B4-BE49-F238E27FC236}">
                <a16:creationId xmlns:a16="http://schemas.microsoft.com/office/drawing/2014/main" id="{9265FC28-AA8E-4F42-9ABD-814BDB086E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8572" y="2192778"/>
            <a:ext cx="2017354" cy="2382006"/>
          </a:xfrm>
          <a:prstGeom prst="rect">
            <a:avLst/>
          </a:prstGeom>
        </p:spPr>
      </p:pic>
      <p:cxnSp>
        <p:nvCxnSpPr>
          <p:cNvPr id="5" name="Straight Connector 6">
            <a:extLst>
              <a:ext uri="{FF2B5EF4-FFF2-40B4-BE49-F238E27FC236}">
                <a16:creationId xmlns:a16="http://schemas.microsoft.com/office/drawing/2014/main" id="{1B795CBA-2355-4B27-A69E-A2A866F67637}"/>
              </a:ext>
            </a:extLst>
          </p:cNvPr>
          <p:cNvCxnSpPr>
            <a:cxnSpLocks/>
          </p:cNvCxnSpPr>
          <p:nvPr/>
        </p:nvCxnSpPr>
        <p:spPr>
          <a:xfrm>
            <a:off x="1084162" y="2796892"/>
            <a:ext cx="5570638" cy="0"/>
          </a:xfrm>
          <a:prstGeom prst="line">
            <a:avLst/>
          </a:prstGeom>
          <a:ln w="50800">
            <a:solidFill>
              <a:srgbClr val="ED145B"/>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013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14B62-DCC8-9DB8-3CDB-58FFA52335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E88F9D1-B747-A316-A01F-C7C4E3FEE26E}"/>
              </a:ext>
            </a:extLst>
          </p:cNvPr>
          <p:cNvSpPr txBox="1">
            <a:spLocks noChangeArrowheads="1"/>
          </p:cNvSpPr>
          <p:nvPr/>
        </p:nvSpPr>
        <p:spPr bwMode="auto">
          <a:xfrm>
            <a:off x="613317" y="997484"/>
            <a:ext cx="8140390" cy="482085"/>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5" name="Rectangle 2">
            <a:extLst>
              <a:ext uri="{FF2B5EF4-FFF2-40B4-BE49-F238E27FC236}">
                <a16:creationId xmlns:a16="http://schemas.microsoft.com/office/drawing/2014/main" id="{25B79067-B694-B871-1759-3638D55DFB1A}"/>
              </a:ext>
            </a:extLst>
          </p:cNvPr>
          <p:cNvSpPr txBox="1">
            <a:spLocks noChangeArrowheads="1"/>
          </p:cNvSpPr>
          <p:nvPr/>
        </p:nvSpPr>
        <p:spPr bwMode="auto">
          <a:xfrm>
            <a:off x="765717" y="408470"/>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pt-BR" altLang="pt-BR" sz="3200" dirty="0">
                <a:solidFill>
                  <a:srgbClr val="ED145B"/>
                </a:solidFill>
                <a:latin typeface="+mj-lt"/>
              </a:rPr>
              <a:t>Antes .. Um pouco sobre </a:t>
            </a:r>
            <a:r>
              <a:rPr lang="pt-BR" altLang="pt-BR" sz="3200" dirty="0" err="1">
                <a:solidFill>
                  <a:srgbClr val="ED145B"/>
                </a:solidFill>
                <a:latin typeface="+mj-lt"/>
              </a:rPr>
              <a:t>NoSQL</a:t>
            </a:r>
            <a:r>
              <a:rPr lang="pt-BR" altLang="pt-BR" sz="3200" dirty="0">
                <a:solidFill>
                  <a:srgbClr val="ED145B"/>
                </a:solidFill>
                <a:latin typeface="+mj-lt"/>
              </a:rPr>
              <a:t>  </a:t>
            </a:r>
          </a:p>
        </p:txBody>
      </p:sp>
      <p:sp>
        <p:nvSpPr>
          <p:cNvPr id="7" name="TextBox 6">
            <a:extLst>
              <a:ext uri="{FF2B5EF4-FFF2-40B4-BE49-F238E27FC236}">
                <a16:creationId xmlns:a16="http://schemas.microsoft.com/office/drawing/2014/main" id="{9242C02F-539C-9DC5-18CC-D5447F7C0A69}"/>
              </a:ext>
            </a:extLst>
          </p:cNvPr>
          <p:cNvSpPr txBox="1"/>
          <p:nvPr/>
        </p:nvSpPr>
        <p:spPr>
          <a:xfrm>
            <a:off x="765717" y="1110237"/>
            <a:ext cx="7374968" cy="369332"/>
          </a:xfrm>
          <a:prstGeom prst="rect">
            <a:avLst/>
          </a:prstGeom>
          <a:noFill/>
        </p:spPr>
        <p:txBody>
          <a:bodyPr wrap="none" rtlCol="0">
            <a:spAutoFit/>
          </a:bodyPr>
          <a:lstStyle/>
          <a:p>
            <a:r>
              <a:rPr lang="pt-BR" dirty="0"/>
              <a:t>Diferentes arquiteturas e estruturas de armazenamento =&gt; Diferentes </a:t>
            </a:r>
            <a:r>
              <a:rPr lang="pt-BR" dirty="0" err="1"/>
              <a:t>SGBDs</a:t>
            </a:r>
            <a:endParaRPr lang="pt-BR" dirty="0"/>
          </a:p>
        </p:txBody>
      </p:sp>
      <p:pic>
        <p:nvPicPr>
          <p:cNvPr id="9" name="Picture 8" descr="A diagram of a graph and a diagram of a graph and a diagram of a graph and a diagram of a graph and a diagram of a graph and a diagram of a graph and a diagram of&#10;&#10;AI-generated content may be incorrect.">
            <a:extLst>
              <a:ext uri="{FF2B5EF4-FFF2-40B4-BE49-F238E27FC236}">
                <a16:creationId xmlns:a16="http://schemas.microsoft.com/office/drawing/2014/main" id="{D3C9D493-9A51-14A0-54A0-50E2347A74B0}"/>
              </a:ext>
            </a:extLst>
          </p:cNvPr>
          <p:cNvPicPr>
            <a:picLocks noChangeAspect="1"/>
          </p:cNvPicPr>
          <p:nvPr/>
        </p:nvPicPr>
        <p:blipFill>
          <a:blip r:embed="rId3"/>
          <a:stretch>
            <a:fillRect/>
          </a:stretch>
        </p:blipFill>
        <p:spPr>
          <a:xfrm>
            <a:off x="1529183" y="1592322"/>
            <a:ext cx="5309497" cy="3374100"/>
          </a:xfrm>
          <a:prstGeom prst="rect">
            <a:avLst/>
          </a:prstGeom>
        </p:spPr>
      </p:pic>
    </p:spTree>
    <p:extLst>
      <p:ext uri="{BB962C8B-B14F-4D97-AF65-F5344CB8AC3E}">
        <p14:creationId xmlns:p14="http://schemas.microsoft.com/office/powerpoint/2010/main" val="379435121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1005176"/>
            <a:ext cx="8140390" cy="332856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b="1" dirty="0">
                <a:effectLst/>
                <a:latin typeface="Arial" panose="020B0604020202020204" pitchFamily="34" charset="0"/>
                <a:ea typeface="Calibri" panose="020F0502020204030204" pitchFamily="34" charset="0"/>
                <a:cs typeface="Times New Roman" panose="02020603050405020304" pitchFamily="18" charset="0"/>
              </a:rPr>
              <a:t>Falando antes de um pouco de </a:t>
            </a:r>
            <a:r>
              <a:rPr lang="pt-BR" sz="1800" b="1" dirty="0" err="1">
                <a:effectLst/>
                <a:latin typeface="Arial" panose="020B0604020202020204" pitchFamily="34" charset="0"/>
                <a:ea typeface="Calibri" panose="020F0502020204030204" pitchFamily="34" charset="0"/>
                <a:cs typeface="Times New Roman" panose="02020603050405020304" pitchFamily="18" charset="0"/>
              </a:rPr>
              <a:t>NoSQL</a:t>
            </a:r>
            <a:endParaRPr lang="pt-BR" sz="1800" b="1" dirty="0">
              <a:effectLst/>
              <a:latin typeface="Arial" panose="020B0604020202020204" pitchFamily="34" charset="0"/>
              <a:ea typeface="Calibri" panose="020F0502020204030204" pitchFamily="34" charset="0"/>
              <a:cs typeface="Times New Roman" panose="02020603050405020304" pitchFamily="18" charset="0"/>
            </a:endParaRPr>
          </a:p>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O teorema </a:t>
            </a:r>
            <a:r>
              <a:rPr lang="pt-BR" sz="1800" b="1" dirty="0">
                <a:effectLst/>
                <a:latin typeface="Arial" panose="020B0604020202020204" pitchFamily="34" charset="0"/>
                <a:ea typeface="Calibri" panose="020F0502020204030204" pitchFamily="34" charset="0"/>
                <a:cs typeface="Times New Roman" panose="02020603050405020304" pitchFamily="18" charset="0"/>
              </a:rPr>
              <a:t>CAP</a:t>
            </a:r>
            <a:r>
              <a:rPr lang="pt-BR" sz="1800" dirty="0">
                <a:effectLst/>
                <a:latin typeface="Arial" panose="020B0604020202020204" pitchFamily="34" charset="0"/>
                <a:ea typeface="Calibri" panose="020F0502020204030204" pitchFamily="34" charset="0"/>
                <a:cs typeface="Times New Roman" panose="02020603050405020304" pitchFamily="18" charset="0"/>
              </a:rPr>
              <a:t> aplica um tipo de lógica semelhante a </a:t>
            </a:r>
            <a:r>
              <a:rPr lang="pt-BR" sz="1800" b="1" dirty="0">
                <a:effectLst/>
                <a:latin typeface="Arial" panose="020B0604020202020204" pitchFamily="34" charset="0"/>
                <a:ea typeface="Calibri" panose="020F0502020204030204" pitchFamily="34" charset="0"/>
                <a:cs typeface="Times New Roman" panose="02020603050405020304" pitchFamily="18" charset="0"/>
              </a:rPr>
              <a:t>sistemas distribuídos</a:t>
            </a:r>
            <a:r>
              <a:rPr lang="pt-BR" sz="1800" dirty="0">
                <a:effectLst/>
                <a:latin typeface="Arial" panose="020B0604020202020204" pitchFamily="34" charset="0"/>
                <a:ea typeface="Calibri" panose="020F0502020204030204" pitchFamily="34" charset="0"/>
                <a:cs typeface="Times New Roman" panose="02020603050405020304" pitchFamily="18" charset="0"/>
              </a:rPr>
              <a:t>, a saber, que um sistema distribuído pode entregar apenas duas das três características desejadas: consistência, disponibilidade e tolerância de partição (ou </a:t>
            </a:r>
            <a:r>
              <a:rPr lang="pt-BR" sz="18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'C</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consistency</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'A</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avaliability</a:t>
            </a:r>
            <a:r>
              <a:rPr lang="pt-BR" sz="1800" dirty="0">
                <a:effectLst/>
                <a:latin typeface="Arial" panose="020B0604020202020204" pitchFamily="34" charset="0"/>
                <a:ea typeface="Calibri" panose="020F0502020204030204" pitchFamily="34" charset="0"/>
                <a:cs typeface="Times New Roman" panose="02020603050405020304" pitchFamily="18" charset="0"/>
              </a:rPr>
              <a:t>) e </a:t>
            </a:r>
            <a:r>
              <a:rPr lang="pt-BR" sz="18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'P</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partition</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tolerance</a:t>
            </a:r>
            <a:r>
              <a:rPr lang="pt-BR" sz="1800" dirty="0">
                <a:effectLst/>
                <a:latin typeface="Arial" panose="020B0604020202020204" pitchFamily="34" charset="0"/>
                <a:ea typeface="Calibri" panose="020F0502020204030204" pitchFamily="34" charset="0"/>
                <a:cs typeface="Times New Roman" panose="02020603050405020304" pitchFamily="18" charset="0"/>
              </a:rPr>
              <a:t>), em inglês, da sigla CAP).</a:t>
            </a:r>
          </a:p>
          <a:p>
            <a:pPr indent="0" algn="just">
              <a:lnSpc>
                <a:spcPct val="150000"/>
              </a:lnSpc>
              <a:spcAft>
                <a:spcPts val="600"/>
              </a:spcAft>
              <a:buNone/>
            </a:pPr>
            <a:endParaRPr lang="pt-BR"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err="1">
                <a:solidFill>
                  <a:srgbClr val="ED145B"/>
                </a:solidFill>
                <a:latin typeface="+mj-lt"/>
              </a:rPr>
              <a:t>Teorma</a:t>
            </a:r>
            <a:r>
              <a:rPr lang="pt-BR" altLang="pt-BR" sz="3200" dirty="0">
                <a:solidFill>
                  <a:srgbClr val="ED145B"/>
                </a:solidFill>
                <a:latin typeface="+mj-lt"/>
              </a:rPr>
              <a:t> CAP </a:t>
            </a:r>
          </a:p>
        </p:txBody>
      </p:sp>
    </p:spTree>
    <p:extLst>
      <p:ext uri="{BB962C8B-B14F-4D97-AF65-F5344CB8AC3E}">
        <p14:creationId xmlns:p14="http://schemas.microsoft.com/office/powerpoint/2010/main" val="44250831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766916"/>
            <a:ext cx="8140390" cy="4338303"/>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Esse modelo foi proposto por Eric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Brewer</a:t>
            </a:r>
            <a:r>
              <a:rPr lang="pt-BR" sz="1800" dirty="0">
                <a:effectLst/>
                <a:latin typeface="Arial" panose="020B0604020202020204" pitchFamily="34" charset="0"/>
                <a:ea typeface="Calibri" panose="020F0502020204030204" pitchFamily="34" charset="0"/>
                <a:cs typeface="Times New Roman" panose="02020603050405020304" pitchFamily="18" charset="0"/>
              </a:rPr>
              <a:t> da Universidade da Califórnia durante uma conferência no ano 2000. O teorema foi crucial para influenciar escolhas arquiteturais em bancos de dados distribuídos.</a:t>
            </a:r>
          </a:p>
          <a:p>
            <a:pPr marL="182563" indent="-182563" algn="just">
              <a:lnSpc>
                <a:spcPct val="150000"/>
              </a:lnSpc>
              <a:spcAft>
                <a:spcPts val="600"/>
              </a:spcAft>
              <a:buClr>
                <a:srgbClr val="ED145B"/>
              </a:buClr>
            </a:pPr>
            <a:endParaRPr lang="pt-BR" sz="1800" dirty="0">
              <a:effectLst/>
              <a:latin typeface="Arial" panose="020B0604020202020204" pitchFamily="34" charset="0"/>
              <a:ea typeface="Calibri" panose="020F0502020204030204" pitchFamily="34" charset="0"/>
              <a:cs typeface="Times New Roman" panose="02020603050405020304" pitchFamily="18" charset="0"/>
            </a:endParaRPr>
          </a:p>
          <a:p>
            <a:pPr indent="0" algn="just">
              <a:lnSpc>
                <a:spcPct val="150000"/>
              </a:lnSpc>
              <a:spcAft>
                <a:spcPts val="600"/>
              </a:spcAft>
              <a:buNone/>
            </a:pPr>
            <a:endParaRPr lang="pt-BR"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err="1">
                <a:solidFill>
                  <a:srgbClr val="ED145B"/>
                </a:solidFill>
                <a:latin typeface="+mj-lt"/>
              </a:rPr>
              <a:t>Teorma</a:t>
            </a:r>
            <a:r>
              <a:rPr lang="pt-BR" altLang="pt-BR" sz="3200" dirty="0">
                <a:solidFill>
                  <a:srgbClr val="ED145B"/>
                </a:solidFill>
                <a:latin typeface="+mj-lt"/>
              </a:rPr>
              <a:t> CAP </a:t>
            </a:r>
          </a:p>
        </p:txBody>
      </p:sp>
      <p:pic>
        <p:nvPicPr>
          <p:cNvPr id="3" name="Picture 2">
            <a:extLst>
              <a:ext uri="{FF2B5EF4-FFF2-40B4-BE49-F238E27FC236}">
                <a16:creationId xmlns:a16="http://schemas.microsoft.com/office/drawing/2014/main" id="{2612C9D2-D8BF-BDFC-C882-3022E8DB2F09}"/>
              </a:ext>
            </a:extLst>
          </p:cNvPr>
          <p:cNvPicPr>
            <a:picLocks noChangeAspect="1"/>
          </p:cNvPicPr>
          <p:nvPr/>
        </p:nvPicPr>
        <p:blipFill>
          <a:blip r:embed="rId3"/>
          <a:stretch>
            <a:fillRect/>
          </a:stretch>
        </p:blipFill>
        <p:spPr>
          <a:xfrm>
            <a:off x="2470644" y="2118013"/>
            <a:ext cx="4202712" cy="2834806"/>
          </a:xfrm>
          <a:prstGeom prst="rect">
            <a:avLst/>
          </a:prstGeom>
        </p:spPr>
      </p:pic>
    </p:spTree>
    <p:extLst>
      <p:ext uri="{BB962C8B-B14F-4D97-AF65-F5344CB8AC3E}">
        <p14:creationId xmlns:p14="http://schemas.microsoft.com/office/powerpoint/2010/main" val="283958593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766916"/>
            <a:ext cx="8140390" cy="4338303"/>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Vamos fazer uma análise mais profunda sobre as três características do sistema distribuído ao qual o teorema CAP se refere.</a:t>
            </a:r>
          </a:p>
          <a:p>
            <a:pPr marL="182563" indent="-182563" algn="just">
              <a:lnSpc>
                <a:spcPct val="150000"/>
              </a:lnSpc>
              <a:spcAft>
                <a:spcPts val="600"/>
              </a:spcAft>
              <a:buClr>
                <a:srgbClr val="ED145B"/>
              </a:buClr>
            </a:pPr>
            <a:r>
              <a:rPr lang="pt-BR" sz="18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Consistência</a:t>
            </a:r>
          </a:p>
          <a:p>
            <a:pPr marL="0" indent="0" algn="just">
              <a:lnSpc>
                <a:spcPct val="150000"/>
              </a:lnSpc>
              <a:spcAft>
                <a:spcPts val="600"/>
              </a:spcAft>
              <a:buClr>
                <a:srgbClr val="ED145B"/>
              </a:buClr>
              <a:buNone/>
            </a:pPr>
            <a:r>
              <a:rPr lang="pt-BR" sz="1800" dirty="0">
                <a:ea typeface="Calibri" panose="020F0502020204030204" pitchFamily="34" charset="0"/>
                <a:cs typeface="Times New Roman" panose="02020603050405020304" pitchFamily="18" charset="0"/>
              </a:rPr>
              <a:t>S</a:t>
            </a:r>
            <a:r>
              <a:rPr lang="pt-BR" sz="1800" dirty="0">
                <a:effectLst/>
                <a:latin typeface="Arial" panose="020B0604020202020204" pitchFamily="34" charset="0"/>
                <a:ea typeface="Calibri" panose="020F0502020204030204" pitchFamily="34" charset="0"/>
                <a:cs typeface="Times New Roman" panose="02020603050405020304" pitchFamily="18" charset="0"/>
              </a:rPr>
              <a:t>ignifica que todos os clientes veem os mesmos dados ao mesmo tempo, não importa em qual nó eles se conectem. Para que isso aconteça, sempre que os dados forem gravados em um nó, ele deve ser instantaneamente encaminhado ou replicado para todos os outros nós do sistema antes que a gravação seja considerada 'bem-sucedida'.</a:t>
            </a: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a:solidFill>
                  <a:srgbClr val="ED145B"/>
                </a:solidFill>
              </a:rPr>
              <a:t>Teorema</a:t>
            </a:r>
            <a:r>
              <a:rPr lang="pt-BR" altLang="pt-BR" sz="3200" dirty="0">
                <a:solidFill>
                  <a:srgbClr val="ED145B"/>
                </a:solidFill>
                <a:latin typeface="+mj-lt"/>
              </a:rPr>
              <a:t> C</a:t>
            </a:r>
            <a:r>
              <a:rPr lang="pt-BR" altLang="pt-BR" sz="3200" dirty="0">
                <a:latin typeface="+mj-lt"/>
              </a:rPr>
              <a:t>AP </a:t>
            </a:r>
          </a:p>
        </p:txBody>
      </p:sp>
    </p:spTree>
    <p:extLst>
      <p:ext uri="{BB962C8B-B14F-4D97-AF65-F5344CB8AC3E}">
        <p14:creationId xmlns:p14="http://schemas.microsoft.com/office/powerpoint/2010/main" val="66456005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766916"/>
            <a:ext cx="8140390" cy="4338303"/>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err="1">
                <a:solidFill>
                  <a:srgbClr val="FF0000"/>
                </a:solidFill>
                <a:effectLst/>
                <a:latin typeface="Arial" panose="020B0604020202020204" pitchFamily="34" charset="0"/>
                <a:ea typeface="Calibri" panose="020F0502020204030204" pitchFamily="34" charset="0"/>
                <a:cs typeface="Times New Roman" panose="02020603050405020304" pitchFamily="18" charset="0"/>
              </a:rPr>
              <a:t>Availability</a:t>
            </a:r>
            <a:r>
              <a:rPr lang="pt-BR" sz="18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 (Disponibilidade)</a:t>
            </a:r>
          </a:p>
          <a:p>
            <a:pPr marL="0" indent="0" algn="just">
              <a:lnSpc>
                <a:spcPct val="150000"/>
              </a:lnSpc>
              <a:spcAft>
                <a:spcPts val="600"/>
              </a:spcAft>
              <a:buClr>
                <a:srgbClr val="ED145B"/>
              </a:buClr>
              <a:buNone/>
            </a:pPr>
            <a:r>
              <a:rPr lang="pt-BR" sz="1800" dirty="0">
                <a:ea typeface="Calibri" panose="020F0502020204030204" pitchFamily="34" charset="0"/>
                <a:cs typeface="Times New Roman" panose="02020603050405020304" pitchFamily="18" charset="0"/>
              </a:rPr>
              <a:t>S</a:t>
            </a:r>
            <a:r>
              <a:rPr lang="pt-BR" sz="1800" dirty="0">
                <a:effectLst/>
                <a:latin typeface="Arial" panose="020B0604020202020204" pitchFamily="34" charset="0"/>
                <a:ea typeface="Calibri" panose="020F0502020204030204" pitchFamily="34" charset="0"/>
                <a:cs typeface="Times New Roman" panose="02020603050405020304" pitchFamily="18" charset="0"/>
              </a:rPr>
              <a:t>ignifica que qualquer cliente que fizer uma solicitação de dados obterá uma resposta, mesmo que um ou mais nós estejam desativados. Ou seja, todos os nós em funcionamento no sistema distribuído retornam uma resposta válida para qualquer solicitação, sem exceção.</a:t>
            </a: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a:solidFill>
                  <a:srgbClr val="ED145B"/>
                </a:solidFill>
              </a:rPr>
              <a:t>Teorema</a:t>
            </a:r>
            <a:r>
              <a:rPr lang="pt-BR" altLang="pt-BR" sz="3200" dirty="0">
                <a:solidFill>
                  <a:srgbClr val="ED145B"/>
                </a:solidFill>
                <a:latin typeface="+mj-lt"/>
              </a:rPr>
              <a:t> </a:t>
            </a:r>
            <a:r>
              <a:rPr lang="pt-BR" altLang="pt-BR" sz="3200" dirty="0">
                <a:latin typeface="+mj-lt"/>
              </a:rPr>
              <a:t>C</a:t>
            </a:r>
            <a:r>
              <a:rPr lang="pt-BR" altLang="pt-BR" sz="3200" dirty="0">
                <a:solidFill>
                  <a:srgbClr val="ED145B"/>
                </a:solidFill>
                <a:latin typeface="+mj-lt"/>
              </a:rPr>
              <a:t>A</a:t>
            </a:r>
            <a:r>
              <a:rPr lang="pt-BR" altLang="pt-BR" sz="3200" dirty="0">
                <a:latin typeface="+mj-lt"/>
              </a:rPr>
              <a:t>P</a:t>
            </a:r>
            <a:r>
              <a:rPr lang="pt-BR" altLang="pt-BR" sz="3200" dirty="0">
                <a:solidFill>
                  <a:srgbClr val="ED145B"/>
                </a:solidFill>
                <a:latin typeface="+mj-lt"/>
              </a:rPr>
              <a:t> </a:t>
            </a:r>
          </a:p>
        </p:txBody>
      </p:sp>
    </p:spTree>
    <p:extLst>
      <p:ext uri="{BB962C8B-B14F-4D97-AF65-F5344CB8AC3E}">
        <p14:creationId xmlns:p14="http://schemas.microsoft.com/office/powerpoint/2010/main" val="36009018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766916"/>
            <a:ext cx="8140390" cy="3128943"/>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err="1">
                <a:solidFill>
                  <a:srgbClr val="FF0000"/>
                </a:solidFill>
                <a:effectLst/>
                <a:latin typeface="Arial" panose="020B0604020202020204" pitchFamily="34" charset="0"/>
                <a:ea typeface="Calibri" panose="020F0502020204030204" pitchFamily="34" charset="0"/>
                <a:cs typeface="Times New Roman" panose="02020603050405020304" pitchFamily="18" charset="0"/>
              </a:rPr>
              <a:t>Partition</a:t>
            </a:r>
            <a:r>
              <a:rPr lang="pt-BR" sz="18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solidFill>
                  <a:srgbClr val="FF0000"/>
                </a:solidFill>
                <a:effectLst/>
                <a:latin typeface="Arial" panose="020B0604020202020204" pitchFamily="34" charset="0"/>
                <a:ea typeface="Calibri" panose="020F0502020204030204" pitchFamily="34" charset="0"/>
                <a:cs typeface="Times New Roman" panose="02020603050405020304" pitchFamily="18" charset="0"/>
              </a:rPr>
              <a:t>Tolerance</a:t>
            </a:r>
            <a:r>
              <a:rPr lang="pt-BR" sz="18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 (Tolerância de partição)</a:t>
            </a:r>
          </a:p>
          <a:p>
            <a:pPr marL="0" indent="0" algn="just">
              <a:lnSpc>
                <a:spcPct val="150000"/>
              </a:lnSpc>
              <a:spcAft>
                <a:spcPts val="600"/>
              </a:spcAft>
              <a:buClr>
                <a:srgbClr val="ED145B"/>
              </a:buClr>
              <a:buNone/>
            </a:pPr>
            <a:r>
              <a:rPr lang="pt-BR" sz="1800" dirty="0">
                <a:effectLst/>
                <a:latin typeface="Arial" panose="020B0604020202020204" pitchFamily="34" charset="0"/>
                <a:ea typeface="Calibri" panose="020F0502020204030204" pitchFamily="34" charset="0"/>
                <a:cs typeface="Times New Roman" panose="02020603050405020304" pitchFamily="18" charset="0"/>
              </a:rPr>
              <a:t>Uma partição é uma quebra de comunicações dentro de um sistema distribuído, uma conexão perdida ou temporariamente lenta entre dois nós. Tolerância de partição significa que o cluster deve continuar a funcionar mesmo se ocorrer uma ou mais falhas de comunicação entre os nós no sistema.</a:t>
            </a: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a:solidFill>
                  <a:srgbClr val="ED145B"/>
                </a:solidFill>
              </a:rPr>
              <a:t>Teorema</a:t>
            </a:r>
            <a:r>
              <a:rPr lang="pt-BR" altLang="pt-BR" sz="3200" dirty="0">
                <a:solidFill>
                  <a:srgbClr val="ED145B"/>
                </a:solidFill>
                <a:latin typeface="+mj-lt"/>
              </a:rPr>
              <a:t> </a:t>
            </a:r>
            <a:r>
              <a:rPr lang="pt-BR" altLang="pt-BR" sz="3200" dirty="0">
                <a:latin typeface="+mj-lt"/>
              </a:rPr>
              <a:t>CA</a:t>
            </a:r>
            <a:r>
              <a:rPr lang="pt-BR" altLang="pt-BR" sz="3200" dirty="0">
                <a:solidFill>
                  <a:srgbClr val="ED145B"/>
                </a:solidFill>
                <a:latin typeface="+mj-lt"/>
              </a:rPr>
              <a:t>P </a:t>
            </a:r>
          </a:p>
        </p:txBody>
      </p:sp>
    </p:spTree>
    <p:extLst>
      <p:ext uri="{BB962C8B-B14F-4D97-AF65-F5344CB8AC3E}">
        <p14:creationId xmlns:p14="http://schemas.microsoft.com/office/powerpoint/2010/main" val="189087907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6978-2368-C08C-93C8-7634D357F36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EA5CFD7-6622-6227-6DFD-BBC3D8E02D79}"/>
              </a:ext>
            </a:extLst>
          </p:cNvPr>
          <p:cNvSpPr txBox="1">
            <a:spLocks noChangeArrowheads="1"/>
          </p:cNvSpPr>
          <p:nvPr/>
        </p:nvSpPr>
        <p:spPr bwMode="auto">
          <a:xfrm>
            <a:off x="613317" y="1126273"/>
            <a:ext cx="513066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BAA2D63C-63DC-B89D-AB00-5423F34D0C45}"/>
              </a:ext>
            </a:extLst>
          </p:cNvPr>
          <p:cNvSpPr txBox="1">
            <a:spLocks noChangeArrowheads="1"/>
          </p:cNvSpPr>
          <p:nvPr/>
        </p:nvSpPr>
        <p:spPr bwMode="auto">
          <a:xfrm>
            <a:off x="765717" y="1054736"/>
            <a:ext cx="4360075" cy="2868702"/>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200" dirty="0">
                <a:solidFill>
                  <a:srgbClr val="FF0000"/>
                </a:solidFill>
                <a:ea typeface="Calibri" panose="020F0502020204030204" pitchFamily="34" charset="0"/>
                <a:cs typeface="Times New Roman" panose="02020603050405020304" pitchFamily="18" charset="0"/>
              </a:rPr>
              <a:t>Bancos CA</a:t>
            </a:r>
            <a:endParaRPr lang="pt-BR" sz="12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50000"/>
              </a:lnSpc>
              <a:spcAft>
                <a:spcPts val="600"/>
              </a:spcAft>
              <a:buClr>
                <a:srgbClr val="ED145B"/>
              </a:buClr>
              <a:buNone/>
            </a:pPr>
            <a:r>
              <a:rPr lang="pt-BR" sz="1200" dirty="0">
                <a:ea typeface="Calibri" panose="020F0502020204030204" pitchFamily="34" charset="0"/>
                <a:cs typeface="Times New Roman" panose="02020603050405020304" pitchFamily="18" charset="0"/>
              </a:rPr>
              <a:t>Consistência: escreve um dado e todas as leituras subsequentes vão ler as informações atualizadas</a:t>
            </a:r>
          </a:p>
          <a:p>
            <a:pPr marL="0" indent="0" algn="just">
              <a:lnSpc>
                <a:spcPct val="150000"/>
              </a:lnSpc>
              <a:spcAft>
                <a:spcPts val="600"/>
              </a:spcAft>
              <a:buClr>
                <a:srgbClr val="ED145B"/>
              </a:buClr>
              <a:buNone/>
            </a:pPr>
            <a:r>
              <a:rPr lang="pt-BR" sz="1200" dirty="0" err="1">
                <a:ea typeface="Calibri" panose="020F0502020204030204" pitchFamily="34" charset="0"/>
                <a:cs typeface="Times New Roman" panose="02020603050405020304" pitchFamily="18" charset="0"/>
              </a:rPr>
              <a:t>Availability</a:t>
            </a:r>
            <a:r>
              <a:rPr lang="pt-BR" sz="1200" dirty="0">
                <a:ea typeface="Calibri" panose="020F0502020204030204" pitchFamily="34" charset="0"/>
                <a:cs typeface="Times New Roman" panose="02020603050405020304" pitchFamily="18" charset="0"/>
              </a:rPr>
              <a:t>: Toda requisição sempre recebe uma resposta</a:t>
            </a:r>
          </a:p>
          <a:p>
            <a:pPr algn="just">
              <a:lnSpc>
                <a:spcPct val="150000"/>
              </a:lnSpc>
              <a:spcAft>
                <a:spcPts val="600"/>
              </a:spcAft>
              <a:buClr>
                <a:srgbClr val="ED145B"/>
              </a:buClr>
              <a:buFont typeface="Symbol" panose="05050102010706020507" pitchFamily="18" charset="2"/>
              <a:buChar char="Þ"/>
            </a:pPr>
            <a:r>
              <a:rPr lang="pt-BR" sz="1200" dirty="0">
                <a:ea typeface="Calibri" panose="020F0502020204030204" pitchFamily="34" charset="0"/>
                <a:cs typeface="Times New Roman" panose="02020603050405020304" pitchFamily="18" charset="0"/>
              </a:rPr>
              <a:t>Usam </a:t>
            </a:r>
            <a:r>
              <a:rPr lang="pt-BR" sz="1200" dirty="0" err="1">
                <a:ea typeface="Calibri" panose="020F0502020204030204" pitchFamily="34" charset="0"/>
                <a:cs typeface="Times New Roman" panose="02020603050405020304" pitchFamily="18" charset="0"/>
              </a:rPr>
              <a:t>sharding</a:t>
            </a:r>
            <a:r>
              <a:rPr lang="pt-BR" sz="1200" dirty="0">
                <a:ea typeface="Calibri" panose="020F0502020204030204" pitchFamily="34" charset="0"/>
                <a:cs typeface="Times New Roman" panose="02020603050405020304" pitchFamily="18" charset="0"/>
              </a:rPr>
              <a:t> disks e escalam verticalmente não espalhando os dados em servidores distintos</a:t>
            </a:r>
          </a:p>
          <a:p>
            <a:pPr algn="just">
              <a:lnSpc>
                <a:spcPct val="150000"/>
              </a:lnSpc>
              <a:spcAft>
                <a:spcPts val="600"/>
              </a:spcAft>
              <a:buClr>
                <a:srgbClr val="ED145B"/>
              </a:buClr>
              <a:buFont typeface="Symbol" panose="05050102010706020507" pitchFamily="18" charset="2"/>
              <a:buChar char="Þ"/>
            </a:pPr>
            <a:r>
              <a:rPr lang="pt-BR" sz="1200" dirty="0">
                <a:ea typeface="Calibri" panose="020F0502020204030204" pitchFamily="34" charset="0"/>
                <a:cs typeface="Times New Roman" panose="02020603050405020304" pitchFamily="18" charset="0"/>
              </a:rPr>
              <a:t>Poucos usuários simultâneos (~100)</a:t>
            </a:r>
          </a:p>
        </p:txBody>
      </p:sp>
      <p:sp>
        <p:nvSpPr>
          <p:cNvPr id="10" name="Rectangle 2">
            <a:extLst>
              <a:ext uri="{FF2B5EF4-FFF2-40B4-BE49-F238E27FC236}">
                <a16:creationId xmlns:a16="http://schemas.microsoft.com/office/drawing/2014/main" id="{6E879FB6-582A-4CF7-7D45-2000C9359720}"/>
              </a:ext>
            </a:extLst>
          </p:cNvPr>
          <p:cNvSpPr txBox="1">
            <a:spLocks noChangeArrowheads="1"/>
          </p:cNvSpPr>
          <p:nvPr/>
        </p:nvSpPr>
        <p:spPr bwMode="auto">
          <a:xfrm>
            <a:off x="700560" y="287747"/>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pt-BR" altLang="pt-BR" sz="3200" dirty="0" err="1">
                <a:solidFill>
                  <a:srgbClr val="ED145B"/>
                </a:solidFill>
                <a:latin typeface="+mj-lt"/>
              </a:rPr>
              <a:t>NoSQL</a:t>
            </a:r>
            <a:r>
              <a:rPr lang="pt-BR" altLang="pt-BR" sz="3200" dirty="0">
                <a:solidFill>
                  <a:srgbClr val="ED145B"/>
                </a:solidFill>
                <a:latin typeface="+mj-lt"/>
              </a:rPr>
              <a:t>: CA</a:t>
            </a:r>
          </a:p>
        </p:txBody>
      </p:sp>
      <p:pic>
        <p:nvPicPr>
          <p:cNvPr id="3" name="Picture 2">
            <a:extLst>
              <a:ext uri="{FF2B5EF4-FFF2-40B4-BE49-F238E27FC236}">
                <a16:creationId xmlns:a16="http://schemas.microsoft.com/office/drawing/2014/main" id="{5667B053-611B-7A66-F67C-2AE143A8ED89}"/>
              </a:ext>
            </a:extLst>
          </p:cNvPr>
          <p:cNvPicPr>
            <a:picLocks noChangeAspect="1"/>
          </p:cNvPicPr>
          <p:nvPr/>
        </p:nvPicPr>
        <p:blipFill>
          <a:blip r:embed="rId3"/>
          <a:stretch>
            <a:fillRect/>
          </a:stretch>
        </p:blipFill>
        <p:spPr>
          <a:xfrm>
            <a:off x="5278192" y="1410237"/>
            <a:ext cx="3787302" cy="2868702"/>
          </a:xfrm>
          <a:prstGeom prst="rect">
            <a:avLst/>
          </a:prstGeom>
        </p:spPr>
      </p:pic>
    </p:spTree>
    <p:extLst>
      <p:ext uri="{BB962C8B-B14F-4D97-AF65-F5344CB8AC3E}">
        <p14:creationId xmlns:p14="http://schemas.microsoft.com/office/powerpoint/2010/main" val="402294422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1D51E-273C-4049-B700-ED1A673B51A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CF03F7-6F97-6AF7-49C1-84EC344C1016}"/>
              </a:ext>
            </a:extLst>
          </p:cNvPr>
          <p:cNvSpPr txBox="1">
            <a:spLocks noChangeArrowheads="1"/>
          </p:cNvSpPr>
          <p:nvPr/>
        </p:nvSpPr>
        <p:spPr bwMode="auto">
          <a:xfrm>
            <a:off x="613317" y="1126273"/>
            <a:ext cx="4808689"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571B8721-3FFB-F75C-E170-F2E8E68093BD}"/>
              </a:ext>
            </a:extLst>
          </p:cNvPr>
          <p:cNvSpPr txBox="1">
            <a:spLocks noChangeArrowheads="1"/>
          </p:cNvSpPr>
          <p:nvPr/>
        </p:nvSpPr>
        <p:spPr bwMode="auto">
          <a:xfrm>
            <a:off x="707762" y="1006439"/>
            <a:ext cx="3864238" cy="3826545"/>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lnSpc>
                <a:spcPct val="150000"/>
              </a:lnSpc>
              <a:spcAft>
                <a:spcPts val="600"/>
              </a:spcAft>
              <a:buClr>
                <a:srgbClr val="ED145B"/>
              </a:buClr>
              <a:buNone/>
            </a:pPr>
            <a:r>
              <a:rPr lang="pt-BR" sz="1200" dirty="0">
                <a:ea typeface="Calibri" panose="020F0502020204030204" pitchFamily="34" charset="0"/>
                <a:cs typeface="Times New Roman" panose="02020603050405020304" pitchFamily="18" charset="0"/>
              </a:rPr>
              <a:t>Consistência: escreve um dado e todas as leituras subsequentes vão ler as informações atualizadas</a:t>
            </a:r>
          </a:p>
          <a:p>
            <a:pPr marL="0" indent="0" algn="just">
              <a:lnSpc>
                <a:spcPct val="150000"/>
              </a:lnSpc>
              <a:spcAft>
                <a:spcPts val="600"/>
              </a:spcAft>
              <a:buClr>
                <a:srgbClr val="ED145B"/>
              </a:buClr>
              <a:buNone/>
            </a:pPr>
            <a:r>
              <a:rPr lang="pt-BR" sz="1200" dirty="0">
                <a:ea typeface="Calibri" panose="020F0502020204030204" pitchFamily="34" charset="0"/>
                <a:cs typeface="Times New Roman" panose="02020603050405020304" pitchFamily="18" charset="0"/>
              </a:rPr>
              <a:t>Tolerância a Partições</a:t>
            </a:r>
          </a:p>
          <a:p>
            <a:pPr algn="just">
              <a:lnSpc>
                <a:spcPct val="150000"/>
              </a:lnSpc>
              <a:spcAft>
                <a:spcPts val="600"/>
              </a:spcAft>
              <a:buClr>
                <a:srgbClr val="ED145B"/>
              </a:buClr>
              <a:buFont typeface="Symbol" panose="05050102010706020507" pitchFamily="18" charset="2"/>
              <a:buChar char="Þ"/>
            </a:pPr>
            <a:r>
              <a:rPr lang="pt-BR" sz="1200" dirty="0">
                <a:ea typeface="Calibri" panose="020F0502020204030204" pitchFamily="34" charset="0"/>
                <a:cs typeface="Times New Roman" panose="02020603050405020304" pitchFamily="18" charset="0"/>
              </a:rPr>
              <a:t>Não usam </a:t>
            </a:r>
            <a:r>
              <a:rPr lang="pt-BR" sz="1200" dirty="0" err="1">
                <a:ea typeface="Calibri" panose="020F0502020204030204" pitchFamily="34" charset="0"/>
                <a:cs typeface="Times New Roman" panose="02020603050405020304" pitchFamily="18" charset="0"/>
              </a:rPr>
              <a:t>sharding</a:t>
            </a:r>
            <a:r>
              <a:rPr lang="pt-BR" sz="1200" dirty="0">
                <a:ea typeface="Calibri" panose="020F0502020204030204" pitchFamily="34" charset="0"/>
                <a:cs typeface="Times New Roman" panose="02020603050405020304" pitchFamily="18" charset="0"/>
              </a:rPr>
              <a:t> disks e escalam horizontalmente</a:t>
            </a:r>
          </a:p>
          <a:p>
            <a:pPr algn="just">
              <a:lnSpc>
                <a:spcPct val="150000"/>
              </a:lnSpc>
              <a:spcAft>
                <a:spcPts val="600"/>
              </a:spcAft>
              <a:buClr>
                <a:srgbClr val="ED145B"/>
              </a:buClr>
              <a:buFont typeface="Symbol" panose="05050102010706020507" pitchFamily="18" charset="2"/>
              <a:buChar char="Þ"/>
            </a:pPr>
            <a:r>
              <a:rPr lang="pt-BR" sz="1200" dirty="0">
                <a:ea typeface="Calibri" panose="020F0502020204030204" pitchFamily="34" charset="0"/>
                <a:cs typeface="Times New Roman" panose="02020603050405020304" pitchFamily="18" charset="0"/>
              </a:rPr>
              <a:t>Leitura e escrita no nó que falhou vai falhar.</a:t>
            </a:r>
          </a:p>
          <a:p>
            <a:pPr algn="just">
              <a:lnSpc>
                <a:spcPct val="150000"/>
              </a:lnSpc>
              <a:spcAft>
                <a:spcPts val="600"/>
              </a:spcAft>
              <a:buClr>
                <a:srgbClr val="ED145B"/>
              </a:buClr>
              <a:buFont typeface="Symbol" panose="05050102010706020507" pitchFamily="18" charset="2"/>
              <a:buChar char="Þ"/>
            </a:pPr>
            <a:r>
              <a:rPr lang="pt-BR" sz="1200" dirty="0">
                <a:ea typeface="Calibri" panose="020F0502020204030204" pitchFamily="34" charset="0"/>
                <a:cs typeface="Times New Roman" panose="02020603050405020304" pitchFamily="18" charset="0"/>
              </a:rPr>
              <a:t>Somente parte da informação pode estar disponível</a:t>
            </a:r>
          </a:p>
          <a:p>
            <a:pPr algn="just">
              <a:lnSpc>
                <a:spcPct val="150000"/>
              </a:lnSpc>
              <a:spcAft>
                <a:spcPts val="600"/>
              </a:spcAft>
              <a:buClr>
                <a:srgbClr val="ED145B"/>
              </a:buClr>
              <a:buFont typeface="Symbol" panose="05050102010706020507" pitchFamily="18" charset="2"/>
              <a:buChar char="Þ"/>
            </a:pPr>
            <a:r>
              <a:rPr lang="pt-BR" sz="1200" dirty="0" err="1">
                <a:ea typeface="Calibri" panose="020F0502020204030204" pitchFamily="34" charset="0"/>
                <a:cs typeface="Times New Roman" panose="02020603050405020304" pitchFamily="18" charset="0"/>
              </a:rPr>
              <a:t>Ideiais</a:t>
            </a:r>
            <a:r>
              <a:rPr lang="pt-BR" sz="1200" dirty="0">
                <a:ea typeface="Calibri" panose="020F0502020204030204" pitchFamily="34" charset="0"/>
                <a:cs typeface="Times New Roman" panose="02020603050405020304" pitchFamily="18" charset="0"/>
              </a:rPr>
              <a:t> para grandes </a:t>
            </a:r>
            <a:r>
              <a:rPr lang="pt-BR" sz="1200" dirty="0" err="1">
                <a:ea typeface="Calibri" panose="020F0502020204030204" pitchFamily="34" charset="0"/>
                <a:cs typeface="Times New Roman" panose="02020603050405020304" pitchFamily="18" charset="0"/>
              </a:rPr>
              <a:t>throughput</a:t>
            </a:r>
            <a:r>
              <a:rPr lang="pt-BR" sz="1200" dirty="0">
                <a:ea typeface="Calibri" panose="020F0502020204030204" pitchFamily="34" charset="0"/>
                <a:cs typeface="Times New Roman" panose="02020603050405020304" pitchFamily="18" charset="0"/>
              </a:rPr>
              <a:t> e escalabilidade com consistência</a:t>
            </a:r>
          </a:p>
        </p:txBody>
      </p:sp>
      <p:sp>
        <p:nvSpPr>
          <p:cNvPr id="10" name="Rectangle 2">
            <a:extLst>
              <a:ext uri="{FF2B5EF4-FFF2-40B4-BE49-F238E27FC236}">
                <a16:creationId xmlns:a16="http://schemas.microsoft.com/office/drawing/2014/main" id="{21078626-D458-015C-CC69-9E53A7A3B989}"/>
              </a:ext>
            </a:extLst>
          </p:cNvPr>
          <p:cNvSpPr txBox="1">
            <a:spLocks noChangeArrowheads="1"/>
          </p:cNvSpPr>
          <p:nvPr/>
        </p:nvSpPr>
        <p:spPr bwMode="auto">
          <a:xfrm>
            <a:off x="700560" y="287747"/>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pt-BR" altLang="pt-BR" sz="3200" dirty="0" err="1">
                <a:solidFill>
                  <a:srgbClr val="ED145B"/>
                </a:solidFill>
                <a:latin typeface="+mj-lt"/>
              </a:rPr>
              <a:t>NoSQL</a:t>
            </a:r>
            <a:r>
              <a:rPr lang="pt-BR" altLang="pt-BR" sz="3200" dirty="0">
                <a:solidFill>
                  <a:srgbClr val="ED145B"/>
                </a:solidFill>
                <a:latin typeface="+mj-lt"/>
              </a:rPr>
              <a:t>: CP</a:t>
            </a:r>
          </a:p>
        </p:txBody>
      </p:sp>
      <p:pic>
        <p:nvPicPr>
          <p:cNvPr id="3" name="Picture 2">
            <a:extLst>
              <a:ext uri="{FF2B5EF4-FFF2-40B4-BE49-F238E27FC236}">
                <a16:creationId xmlns:a16="http://schemas.microsoft.com/office/drawing/2014/main" id="{71536D35-EAD6-19F0-59FE-E8BA0E726E7C}"/>
              </a:ext>
            </a:extLst>
          </p:cNvPr>
          <p:cNvPicPr>
            <a:picLocks noChangeAspect="1"/>
          </p:cNvPicPr>
          <p:nvPr/>
        </p:nvPicPr>
        <p:blipFill>
          <a:blip r:embed="rId3"/>
          <a:stretch>
            <a:fillRect/>
          </a:stretch>
        </p:blipFill>
        <p:spPr>
          <a:xfrm>
            <a:off x="4911431" y="1171978"/>
            <a:ext cx="3253049" cy="3248629"/>
          </a:xfrm>
          <a:prstGeom prst="rect">
            <a:avLst/>
          </a:prstGeom>
        </p:spPr>
      </p:pic>
      <p:sp>
        <p:nvSpPr>
          <p:cNvPr id="5" name="TextBox 4">
            <a:extLst>
              <a:ext uri="{FF2B5EF4-FFF2-40B4-BE49-F238E27FC236}">
                <a16:creationId xmlns:a16="http://schemas.microsoft.com/office/drawing/2014/main" id="{BC316765-E29D-5A57-8523-B67229A268F7}"/>
              </a:ext>
            </a:extLst>
          </p:cNvPr>
          <p:cNvSpPr txBox="1"/>
          <p:nvPr/>
        </p:nvSpPr>
        <p:spPr>
          <a:xfrm>
            <a:off x="8164480" y="2611626"/>
            <a:ext cx="646652" cy="369332"/>
          </a:xfrm>
          <a:prstGeom prst="rect">
            <a:avLst/>
          </a:prstGeom>
          <a:noFill/>
        </p:spPr>
        <p:txBody>
          <a:bodyPr wrap="none" rtlCol="0">
            <a:spAutoFit/>
          </a:bodyPr>
          <a:lstStyle/>
          <a:p>
            <a:r>
              <a:rPr lang="pt-BR" dirty="0"/>
              <a:t>falha</a:t>
            </a:r>
          </a:p>
        </p:txBody>
      </p:sp>
      <p:sp>
        <p:nvSpPr>
          <p:cNvPr id="7" name="Oval 6">
            <a:extLst>
              <a:ext uri="{FF2B5EF4-FFF2-40B4-BE49-F238E27FC236}">
                <a16:creationId xmlns:a16="http://schemas.microsoft.com/office/drawing/2014/main" id="{890FF4E3-694C-285C-C160-E1B79E0128C9}"/>
              </a:ext>
            </a:extLst>
          </p:cNvPr>
          <p:cNvSpPr/>
          <p:nvPr/>
        </p:nvSpPr>
        <p:spPr>
          <a:xfrm>
            <a:off x="4784501" y="2504941"/>
            <a:ext cx="731950" cy="59886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96755696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AD573-F841-0E93-7632-0597BCCBC8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FB48E6-1C40-B4D8-F5B9-5FF9DD4F98CE}"/>
              </a:ext>
            </a:extLst>
          </p:cNvPr>
          <p:cNvSpPr txBox="1">
            <a:spLocks noChangeArrowheads="1"/>
          </p:cNvSpPr>
          <p:nvPr/>
        </p:nvSpPr>
        <p:spPr bwMode="auto">
          <a:xfrm>
            <a:off x="613317" y="1126273"/>
            <a:ext cx="4808689"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FE196CD5-9E47-7EF0-AF43-4369AFAF092B}"/>
              </a:ext>
            </a:extLst>
          </p:cNvPr>
          <p:cNvSpPr txBox="1">
            <a:spLocks noChangeArrowheads="1"/>
          </p:cNvSpPr>
          <p:nvPr/>
        </p:nvSpPr>
        <p:spPr bwMode="auto">
          <a:xfrm>
            <a:off x="613317" y="726302"/>
            <a:ext cx="3864238" cy="3657275"/>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100" dirty="0">
                <a:solidFill>
                  <a:srgbClr val="FF0000"/>
                </a:solidFill>
                <a:ea typeface="Calibri" panose="020F0502020204030204" pitchFamily="34" charset="0"/>
                <a:cs typeface="Times New Roman" panose="02020603050405020304" pitchFamily="18" charset="0"/>
              </a:rPr>
              <a:t>Bancos </a:t>
            </a:r>
            <a:r>
              <a:rPr lang="pt-BR" sz="1050" dirty="0">
                <a:solidFill>
                  <a:srgbClr val="FF0000"/>
                </a:solidFill>
                <a:ea typeface="Calibri" panose="020F0502020204030204" pitchFamily="34" charset="0"/>
                <a:cs typeface="Times New Roman" panose="02020603050405020304" pitchFamily="18" charset="0"/>
              </a:rPr>
              <a:t>AP</a:t>
            </a:r>
            <a:endParaRPr lang="pt-BR" sz="11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50000"/>
              </a:lnSpc>
              <a:spcAft>
                <a:spcPts val="600"/>
              </a:spcAft>
              <a:buClr>
                <a:srgbClr val="ED145B"/>
              </a:buClr>
              <a:buNone/>
            </a:pPr>
            <a:r>
              <a:rPr lang="pt-BR" sz="1100" dirty="0" err="1">
                <a:ea typeface="Calibri" panose="020F0502020204030204" pitchFamily="34" charset="0"/>
                <a:cs typeface="Times New Roman" panose="02020603050405020304" pitchFamily="18" charset="0"/>
              </a:rPr>
              <a:t>Availability</a:t>
            </a:r>
            <a:r>
              <a:rPr lang="pt-BR" sz="1100" dirty="0">
                <a:ea typeface="Calibri" panose="020F0502020204030204" pitchFamily="34" charset="0"/>
                <a:cs typeface="Times New Roman" panose="02020603050405020304" pitchFamily="18" charset="0"/>
              </a:rPr>
              <a:t>: Mantém alta disponibilidade, sempre retornando um dados, mas este dado pode não ser consistente pois as réplicas são assíncronas</a:t>
            </a:r>
          </a:p>
          <a:p>
            <a:pPr marL="0" indent="0" algn="just">
              <a:lnSpc>
                <a:spcPct val="150000"/>
              </a:lnSpc>
              <a:spcAft>
                <a:spcPts val="600"/>
              </a:spcAft>
              <a:buClr>
                <a:srgbClr val="ED145B"/>
              </a:buClr>
              <a:buNone/>
            </a:pPr>
            <a:r>
              <a:rPr lang="pt-BR" sz="1100" dirty="0">
                <a:ea typeface="Calibri" panose="020F0502020204030204" pitchFamily="34" charset="0"/>
                <a:cs typeface="Times New Roman" panose="02020603050405020304" pitchFamily="18" charset="0"/>
              </a:rPr>
              <a:t>Particionamento: Tolerância a partições</a:t>
            </a:r>
          </a:p>
          <a:p>
            <a:pPr algn="just">
              <a:lnSpc>
                <a:spcPct val="150000"/>
              </a:lnSpc>
              <a:spcAft>
                <a:spcPts val="600"/>
              </a:spcAft>
              <a:buClr>
                <a:srgbClr val="ED145B"/>
              </a:buClr>
              <a:buFont typeface="Symbol" panose="05050102010706020507" pitchFamily="18" charset="2"/>
              <a:buChar char="Þ"/>
            </a:pPr>
            <a:r>
              <a:rPr lang="pt-BR" sz="1100" dirty="0">
                <a:ea typeface="Calibri" panose="020F0502020204030204" pitchFamily="34" charset="0"/>
                <a:cs typeface="Times New Roman" panose="02020603050405020304" pitchFamily="18" charset="0"/>
              </a:rPr>
              <a:t>Não usam </a:t>
            </a:r>
            <a:r>
              <a:rPr lang="pt-BR" sz="1100" dirty="0" err="1">
                <a:ea typeface="Calibri" panose="020F0502020204030204" pitchFamily="34" charset="0"/>
                <a:cs typeface="Times New Roman" panose="02020603050405020304" pitchFamily="18" charset="0"/>
              </a:rPr>
              <a:t>sharding</a:t>
            </a:r>
            <a:r>
              <a:rPr lang="pt-BR" sz="1100" dirty="0">
                <a:ea typeface="Calibri" panose="020F0502020204030204" pitchFamily="34" charset="0"/>
                <a:cs typeface="Times New Roman" panose="02020603050405020304" pitchFamily="18" charset="0"/>
              </a:rPr>
              <a:t> disks e escalam horizontalmente</a:t>
            </a:r>
          </a:p>
          <a:p>
            <a:pPr algn="just">
              <a:lnSpc>
                <a:spcPct val="150000"/>
              </a:lnSpc>
              <a:spcAft>
                <a:spcPts val="600"/>
              </a:spcAft>
              <a:buClr>
                <a:srgbClr val="ED145B"/>
              </a:buClr>
              <a:buFont typeface="Symbol" panose="05050102010706020507" pitchFamily="18" charset="2"/>
              <a:buChar char="Þ"/>
            </a:pPr>
            <a:r>
              <a:rPr lang="pt-BR" sz="1100" dirty="0">
                <a:ea typeface="Calibri" panose="020F0502020204030204" pitchFamily="34" charset="0"/>
                <a:cs typeface="Times New Roman" panose="02020603050405020304" pitchFamily="18" charset="0"/>
              </a:rPr>
              <a:t>Se você escreve em um nó e a replicação não é feita (por conta da falha) a informação retornada pode ser antiga (inconsistente)</a:t>
            </a:r>
          </a:p>
          <a:p>
            <a:pPr algn="just">
              <a:lnSpc>
                <a:spcPct val="150000"/>
              </a:lnSpc>
              <a:spcAft>
                <a:spcPts val="600"/>
              </a:spcAft>
              <a:buClr>
                <a:srgbClr val="ED145B"/>
              </a:buClr>
              <a:buFont typeface="Symbol" panose="05050102010706020507" pitchFamily="18" charset="2"/>
              <a:buChar char="Þ"/>
            </a:pPr>
            <a:r>
              <a:rPr lang="pt-BR" sz="1100" dirty="0" err="1">
                <a:ea typeface="Calibri" panose="020F0502020204030204" pitchFamily="34" charset="0"/>
                <a:cs typeface="Times New Roman" panose="02020603050405020304" pitchFamily="18" charset="0"/>
              </a:rPr>
              <a:t>Ideiais</a:t>
            </a:r>
            <a:r>
              <a:rPr lang="pt-BR" sz="1100" dirty="0">
                <a:ea typeface="Calibri" panose="020F0502020204030204" pitchFamily="34" charset="0"/>
                <a:cs typeface="Times New Roman" panose="02020603050405020304" pitchFamily="18" charset="0"/>
              </a:rPr>
              <a:t> para grandes </a:t>
            </a:r>
            <a:r>
              <a:rPr lang="pt-BR" sz="1100" dirty="0" err="1">
                <a:ea typeface="Calibri" panose="020F0502020204030204" pitchFamily="34" charset="0"/>
                <a:cs typeface="Times New Roman" panose="02020603050405020304" pitchFamily="18" charset="0"/>
              </a:rPr>
              <a:t>throughput</a:t>
            </a:r>
            <a:r>
              <a:rPr lang="pt-BR" sz="1100" dirty="0">
                <a:ea typeface="Calibri" panose="020F0502020204030204" pitchFamily="34" charset="0"/>
                <a:cs typeface="Times New Roman" panose="02020603050405020304" pitchFamily="18" charset="0"/>
              </a:rPr>
              <a:t> mas que não precisam de consistência</a:t>
            </a:r>
          </a:p>
          <a:p>
            <a:pPr algn="just">
              <a:lnSpc>
                <a:spcPct val="150000"/>
              </a:lnSpc>
              <a:spcAft>
                <a:spcPts val="600"/>
              </a:spcAft>
              <a:buClr>
                <a:srgbClr val="ED145B"/>
              </a:buClr>
              <a:buFont typeface="Symbol" panose="05050102010706020507" pitchFamily="18" charset="2"/>
              <a:buChar char="Þ"/>
            </a:pPr>
            <a:endParaRPr lang="pt-BR" sz="1100" dirty="0">
              <a:ea typeface="Calibri" panose="020F0502020204030204" pitchFamily="34" charset="0"/>
              <a:cs typeface="Times New Roman" panose="02020603050405020304" pitchFamily="18" charset="0"/>
            </a:endParaRPr>
          </a:p>
        </p:txBody>
      </p:sp>
      <p:sp>
        <p:nvSpPr>
          <p:cNvPr id="10" name="Rectangle 2">
            <a:extLst>
              <a:ext uri="{FF2B5EF4-FFF2-40B4-BE49-F238E27FC236}">
                <a16:creationId xmlns:a16="http://schemas.microsoft.com/office/drawing/2014/main" id="{55E0AF55-67D9-DE2F-332F-95B02B517E9A}"/>
              </a:ext>
            </a:extLst>
          </p:cNvPr>
          <p:cNvSpPr txBox="1">
            <a:spLocks noChangeArrowheads="1"/>
          </p:cNvSpPr>
          <p:nvPr/>
        </p:nvSpPr>
        <p:spPr bwMode="auto">
          <a:xfrm>
            <a:off x="700560" y="287747"/>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pt-BR" altLang="pt-BR" sz="3200" dirty="0" err="1">
                <a:solidFill>
                  <a:srgbClr val="ED145B"/>
                </a:solidFill>
                <a:latin typeface="+mj-lt"/>
              </a:rPr>
              <a:t>NoSQL</a:t>
            </a:r>
            <a:r>
              <a:rPr lang="pt-BR" altLang="pt-BR" sz="3200" dirty="0">
                <a:solidFill>
                  <a:srgbClr val="ED145B"/>
                </a:solidFill>
                <a:latin typeface="+mj-lt"/>
              </a:rPr>
              <a:t>: AP</a:t>
            </a:r>
          </a:p>
        </p:txBody>
      </p:sp>
      <p:pic>
        <p:nvPicPr>
          <p:cNvPr id="7" name="Picture 6">
            <a:extLst>
              <a:ext uri="{FF2B5EF4-FFF2-40B4-BE49-F238E27FC236}">
                <a16:creationId xmlns:a16="http://schemas.microsoft.com/office/drawing/2014/main" id="{92C0C855-3796-7291-6A56-ED9817FDEB6F}"/>
              </a:ext>
            </a:extLst>
          </p:cNvPr>
          <p:cNvPicPr>
            <a:picLocks noChangeAspect="1"/>
          </p:cNvPicPr>
          <p:nvPr/>
        </p:nvPicPr>
        <p:blipFill>
          <a:blip r:embed="rId3"/>
          <a:stretch>
            <a:fillRect/>
          </a:stretch>
        </p:blipFill>
        <p:spPr>
          <a:xfrm>
            <a:off x="4756532" y="1266491"/>
            <a:ext cx="3573554" cy="3428933"/>
          </a:xfrm>
          <a:prstGeom prst="rect">
            <a:avLst/>
          </a:prstGeom>
        </p:spPr>
      </p:pic>
      <p:sp>
        <p:nvSpPr>
          <p:cNvPr id="5" name="TextBox 4">
            <a:extLst>
              <a:ext uri="{FF2B5EF4-FFF2-40B4-BE49-F238E27FC236}">
                <a16:creationId xmlns:a16="http://schemas.microsoft.com/office/drawing/2014/main" id="{A1695775-B229-9F14-B04A-389AB22D5DD0}"/>
              </a:ext>
            </a:extLst>
          </p:cNvPr>
          <p:cNvSpPr txBox="1"/>
          <p:nvPr/>
        </p:nvSpPr>
        <p:spPr>
          <a:xfrm>
            <a:off x="8267511" y="2796291"/>
            <a:ext cx="646652" cy="369332"/>
          </a:xfrm>
          <a:prstGeom prst="rect">
            <a:avLst/>
          </a:prstGeom>
          <a:noFill/>
          <a:ln>
            <a:solidFill>
              <a:schemeClr val="bg1"/>
            </a:solidFill>
          </a:ln>
        </p:spPr>
        <p:txBody>
          <a:bodyPr wrap="none" rtlCol="0">
            <a:spAutoFit/>
          </a:bodyPr>
          <a:lstStyle/>
          <a:p>
            <a:r>
              <a:rPr lang="pt-BR" dirty="0"/>
              <a:t>falha</a:t>
            </a:r>
          </a:p>
        </p:txBody>
      </p:sp>
      <p:sp>
        <p:nvSpPr>
          <p:cNvPr id="8" name="Oval 7">
            <a:extLst>
              <a:ext uri="{FF2B5EF4-FFF2-40B4-BE49-F238E27FC236}">
                <a16:creationId xmlns:a16="http://schemas.microsoft.com/office/drawing/2014/main" id="{DC33E539-B0CC-4459-BBBC-DBF4DE96F77E}"/>
              </a:ext>
            </a:extLst>
          </p:cNvPr>
          <p:cNvSpPr/>
          <p:nvPr/>
        </p:nvSpPr>
        <p:spPr>
          <a:xfrm>
            <a:off x="4756532" y="2620277"/>
            <a:ext cx="731950" cy="598867"/>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61328170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6BAC9-F70D-CA35-F8EE-3CD4A2F80897}"/>
            </a:ext>
          </a:extLst>
        </p:cNvPr>
        <p:cNvGrpSpPr/>
        <p:nvPr/>
      </p:nvGrpSpPr>
      <p:grpSpPr>
        <a:xfrm>
          <a:off x="0" y="0"/>
          <a:ext cx="0" cy="0"/>
          <a:chOff x="0" y="0"/>
          <a:chExt cx="0" cy="0"/>
        </a:xfrm>
      </p:grpSpPr>
      <p:sp>
        <p:nvSpPr>
          <p:cNvPr id="10" name="Rectangle 2">
            <a:extLst>
              <a:ext uri="{FF2B5EF4-FFF2-40B4-BE49-F238E27FC236}">
                <a16:creationId xmlns:a16="http://schemas.microsoft.com/office/drawing/2014/main" id="{B852F75B-650F-3C49-750C-8C290EC98194}"/>
              </a:ext>
            </a:extLst>
          </p:cNvPr>
          <p:cNvSpPr txBox="1">
            <a:spLocks noChangeArrowheads="1"/>
          </p:cNvSpPr>
          <p:nvPr/>
        </p:nvSpPr>
        <p:spPr bwMode="auto">
          <a:xfrm>
            <a:off x="700560" y="287747"/>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pt-BR" altLang="pt-BR" sz="3200" dirty="0">
                <a:solidFill>
                  <a:srgbClr val="ED145B"/>
                </a:solidFill>
                <a:latin typeface="+mj-lt"/>
              </a:rPr>
              <a:t>Alguns Exemplos</a:t>
            </a:r>
          </a:p>
        </p:txBody>
      </p:sp>
      <p:pic>
        <p:nvPicPr>
          <p:cNvPr id="3" name="Picture 2">
            <a:extLst>
              <a:ext uri="{FF2B5EF4-FFF2-40B4-BE49-F238E27FC236}">
                <a16:creationId xmlns:a16="http://schemas.microsoft.com/office/drawing/2014/main" id="{C9B0227A-6740-779F-E0D3-E9631BAAD7F5}"/>
              </a:ext>
            </a:extLst>
          </p:cNvPr>
          <p:cNvPicPr>
            <a:picLocks noChangeAspect="1"/>
          </p:cNvPicPr>
          <p:nvPr/>
        </p:nvPicPr>
        <p:blipFill>
          <a:blip r:embed="rId3"/>
          <a:stretch>
            <a:fillRect/>
          </a:stretch>
        </p:blipFill>
        <p:spPr>
          <a:xfrm>
            <a:off x="1314347" y="960231"/>
            <a:ext cx="6162080" cy="38308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42948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694883" y="1030934"/>
            <a:ext cx="8140390" cy="3734250"/>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b="1" dirty="0">
                <a:effectLst/>
                <a:latin typeface="Arial" panose="020B0604020202020204" pitchFamily="34" charset="0"/>
                <a:ea typeface="Calibri" panose="020F0502020204030204" pitchFamily="34" charset="0"/>
                <a:cs typeface="Times New Roman" panose="02020603050405020304" pitchFamily="18" charset="0"/>
              </a:rPr>
              <a:t>BASE </a:t>
            </a:r>
            <a:r>
              <a:rPr lang="pt-BR" sz="1800" dirty="0">
                <a:effectLst/>
                <a:latin typeface="Arial" panose="020B0604020202020204" pitchFamily="34" charset="0"/>
                <a:ea typeface="Calibri" panose="020F0502020204030204" pitchFamily="34" charset="0"/>
                <a:cs typeface="Times New Roman" panose="02020603050405020304" pitchFamily="18" charset="0"/>
              </a:rPr>
              <a:t>é o acrônimo para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Basically</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Available</a:t>
            </a:r>
            <a:r>
              <a:rPr lang="pt-BR" sz="1800" dirty="0">
                <a:effectLst/>
                <a:latin typeface="Arial" panose="020B0604020202020204" pitchFamily="34" charset="0"/>
                <a:ea typeface="Calibri" panose="020F0502020204030204" pitchFamily="34" charset="0"/>
                <a:cs typeface="Times New Roman" panose="02020603050405020304" pitchFamily="18" charset="0"/>
              </a:rPr>
              <a:t>, Soft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State</a:t>
            </a:r>
            <a:r>
              <a:rPr lang="pt-BR" sz="1800" dirty="0">
                <a:effectLst/>
                <a:latin typeface="Arial" panose="020B0604020202020204" pitchFamily="34" charset="0"/>
                <a:ea typeface="Calibri" panose="020F0502020204030204" pitchFamily="34" charset="0"/>
                <a:cs typeface="Times New Roman" panose="02020603050405020304" pitchFamily="18" charset="0"/>
              </a:rPr>
              <a:t> e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Eventually</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Consistent</a:t>
            </a:r>
            <a:r>
              <a:rPr lang="pt-BR" sz="1800" dirty="0">
                <a:effectLst/>
                <a:latin typeface="Arial" panose="020B0604020202020204" pitchFamily="34" charset="0"/>
                <a:ea typeface="Calibri" panose="020F0502020204030204" pitchFamily="34" charset="0"/>
                <a:cs typeface="Times New Roman" panose="02020603050405020304" pitchFamily="18" charset="0"/>
              </a:rPr>
              <a:t>.</a:t>
            </a:r>
          </a:p>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Enquanto o ACID foca na precisão e confiabilidade, o BASE, um acrônimo para Basicamente Disponível, Soft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State</a:t>
            </a:r>
            <a:r>
              <a:rPr lang="pt-BR" sz="1800" dirty="0">
                <a:effectLst/>
                <a:latin typeface="Arial" panose="020B0604020202020204" pitchFamily="34" charset="0"/>
                <a:ea typeface="Calibri" panose="020F0502020204030204" pitchFamily="34" charset="0"/>
                <a:cs typeface="Times New Roman" panose="02020603050405020304" pitchFamily="18" charset="0"/>
              </a:rPr>
              <a:t> e Eventualmente Consistente, adota uma abordagem com níveis de flexibilidade mais adequados para lidar com </a:t>
            </a:r>
            <a:r>
              <a:rPr lang="pt-BR" sz="1800" b="1" dirty="0">
                <a:effectLst/>
                <a:latin typeface="Arial" panose="020B0604020202020204" pitchFamily="34" charset="0"/>
                <a:ea typeface="Calibri" panose="020F0502020204030204" pitchFamily="34" charset="0"/>
                <a:cs typeface="Times New Roman" panose="02020603050405020304" pitchFamily="18" charset="0"/>
              </a:rPr>
              <a:t>sistemas distribuídos modernos</a:t>
            </a:r>
            <a:r>
              <a:rPr lang="pt-BR" sz="1800" dirty="0">
                <a:effectLst/>
                <a:latin typeface="Arial" panose="020B0604020202020204" pitchFamily="34" charset="0"/>
                <a:ea typeface="Calibri" panose="020F0502020204030204" pitchFamily="34" charset="0"/>
                <a:cs typeface="Times New Roman" panose="02020603050405020304" pitchFamily="18" charset="0"/>
              </a:rPr>
              <a:t>, onde a </a:t>
            </a:r>
            <a:r>
              <a:rPr lang="pt-BR" sz="1800" b="1" dirty="0">
                <a:effectLst/>
                <a:latin typeface="Arial" panose="020B0604020202020204" pitchFamily="34" charset="0"/>
                <a:ea typeface="Calibri" panose="020F0502020204030204" pitchFamily="34" charset="0"/>
                <a:cs typeface="Times New Roman" panose="02020603050405020304" pitchFamily="18" charset="0"/>
              </a:rPr>
              <a:t>disponibilidade</a:t>
            </a:r>
            <a:r>
              <a:rPr lang="pt-BR" sz="1800" dirty="0">
                <a:effectLst/>
                <a:latin typeface="Arial" panose="020B0604020202020204" pitchFamily="34" charset="0"/>
                <a:ea typeface="Calibri" panose="020F0502020204030204" pitchFamily="34" charset="0"/>
                <a:cs typeface="Times New Roman" panose="02020603050405020304" pitchFamily="18" charset="0"/>
              </a:rPr>
              <a:t> e a </a:t>
            </a:r>
            <a:r>
              <a:rPr lang="pt-BR" sz="1800" b="1" dirty="0">
                <a:effectLst/>
                <a:latin typeface="Arial" panose="020B0604020202020204" pitchFamily="34" charset="0"/>
                <a:ea typeface="Calibri" panose="020F0502020204030204" pitchFamily="34" charset="0"/>
                <a:cs typeface="Times New Roman" panose="02020603050405020304" pitchFamily="18" charset="0"/>
              </a:rPr>
              <a:t>tolerância a falhas </a:t>
            </a:r>
            <a:r>
              <a:rPr lang="pt-BR" sz="1800" dirty="0">
                <a:effectLst/>
                <a:latin typeface="Arial" panose="020B0604020202020204" pitchFamily="34" charset="0"/>
                <a:ea typeface="Calibri" panose="020F0502020204030204" pitchFamily="34" charset="0"/>
                <a:cs typeface="Times New Roman" panose="02020603050405020304" pitchFamily="18" charset="0"/>
              </a:rPr>
              <a:t>são prioridades. Assim como o Teorema </a:t>
            </a:r>
            <a:r>
              <a:rPr lang="pt-BR" sz="1800" b="1" dirty="0">
                <a:effectLst/>
                <a:latin typeface="Arial" panose="020B0604020202020204" pitchFamily="34" charset="0"/>
                <a:ea typeface="Calibri" panose="020F0502020204030204" pitchFamily="34" charset="0"/>
                <a:cs typeface="Times New Roman" panose="02020603050405020304" pitchFamily="18" charset="0"/>
              </a:rPr>
              <a:t>CAP</a:t>
            </a:r>
            <a:r>
              <a:rPr lang="pt-BR" sz="1800" dirty="0">
                <a:effectLst/>
                <a:latin typeface="Arial" panose="020B0604020202020204" pitchFamily="34" charset="0"/>
                <a:ea typeface="Calibri" panose="020F0502020204030204" pitchFamily="34" charset="0"/>
                <a:cs typeface="Times New Roman" panose="02020603050405020304" pitchFamily="18" charset="0"/>
              </a:rPr>
              <a:t>, o </a:t>
            </a:r>
            <a:r>
              <a:rPr lang="pt-BR" sz="1800" b="1" dirty="0">
                <a:effectLst/>
                <a:latin typeface="Arial" panose="020B0604020202020204" pitchFamily="34" charset="0"/>
                <a:ea typeface="Calibri" panose="020F0502020204030204" pitchFamily="34" charset="0"/>
                <a:cs typeface="Times New Roman" panose="02020603050405020304" pitchFamily="18" charset="0"/>
              </a:rPr>
              <a:t>BASE</a:t>
            </a:r>
            <a:r>
              <a:rPr lang="pt-BR" sz="1800" dirty="0">
                <a:effectLst/>
                <a:latin typeface="Arial" panose="020B0604020202020204" pitchFamily="34" charset="0"/>
                <a:ea typeface="Calibri" panose="020F0502020204030204" pitchFamily="34" charset="0"/>
                <a:cs typeface="Times New Roman" panose="02020603050405020304" pitchFamily="18" charset="0"/>
              </a:rPr>
              <a:t> também foi proposto por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Brewer</a:t>
            </a:r>
            <a:r>
              <a:rPr lang="pt-BR" sz="1800" dirty="0">
                <a:effectLst/>
                <a:latin typeface="Arial" panose="020B0604020202020204" pitchFamily="34" charset="0"/>
                <a:ea typeface="Calibri" panose="020F0502020204030204" pitchFamily="34" charset="0"/>
                <a:cs typeface="Times New Roman" panose="02020603050405020304" pitchFamily="18" charset="0"/>
              </a:rPr>
              <a:t> junto a um grupo de pesquisadores.</a:t>
            </a: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err="1">
                <a:solidFill>
                  <a:srgbClr val="ED145B"/>
                </a:solidFill>
                <a:latin typeface="+mj-lt"/>
              </a:rPr>
              <a:t>Teorma</a:t>
            </a:r>
            <a:r>
              <a:rPr lang="pt-BR" altLang="pt-BR" sz="3200" dirty="0">
                <a:solidFill>
                  <a:srgbClr val="ED145B"/>
                </a:solidFill>
                <a:latin typeface="+mj-lt"/>
              </a:rPr>
              <a:t> CAP </a:t>
            </a:r>
          </a:p>
        </p:txBody>
      </p:sp>
    </p:spTree>
    <p:extLst>
      <p:ext uri="{BB962C8B-B14F-4D97-AF65-F5344CB8AC3E}">
        <p14:creationId xmlns:p14="http://schemas.microsoft.com/office/powerpoint/2010/main" val="413486816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766917"/>
            <a:ext cx="8140390" cy="1911890"/>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err="1">
                <a:effectLst/>
                <a:latin typeface="Arial" panose="020B0604020202020204" pitchFamily="34" charset="0"/>
                <a:ea typeface="Calibri" panose="020F0502020204030204" pitchFamily="34" charset="0"/>
                <a:cs typeface="Times New Roman" panose="02020603050405020304" pitchFamily="18" charset="0"/>
              </a:rPr>
              <a:t>Basically</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Available</a:t>
            </a:r>
            <a:r>
              <a:rPr lang="pt-BR" sz="1800" dirty="0">
                <a:effectLst/>
                <a:latin typeface="Arial" panose="020B0604020202020204" pitchFamily="34" charset="0"/>
                <a:ea typeface="Calibri" panose="020F0502020204030204" pitchFamily="34" charset="0"/>
                <a:cs typeface="Times New Roman" panose="02020603050405020304" pitchFamily="18" charset="0"/>
              </a:rPr>
              <a:t> – em vez de impor consistência imediata, os bancos de dados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NoSQL</a:t>
            </a:r>
            <a:r>
              <a:rPr lang="pt-BR" sz="1800" dirty="0">
                <a:effectLst/>
                <a:latin typeface="Arial" panose="020B0604020202020204" pitchFamily="34" charset="0"/>
                <a:ea typeface="Calibri" panose="020F0502020204030204" pitchFamily="34" charset="0"/>
                <a:cs typeface="Times New Roman" panose="02020603050405020304" pitchFamily="18" charset="0"/>
              </a:rPr>
              <a:t> modelados em BASE garantirão a disponibilidade dos dados, espalhando-os e replicando-os nos nós do cluster de banco de dados.</a:t>
            </a: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err="1">
                <a:solidFill>
                  <a:srgbClr val="ED145B"/>
                </a:solidFill>
                <a:latin typeface="+mj-lt"/>
              </a:rPr>
              <a:t>Teorma</a:t>
            </a:r>
            <a:r>
              <a:rPr lang="pt-BR" altLang="pt-BR" sz="3200" dirty="0">
                <a:solidFill>
                  <a:srgbClr val="ED145B"/>
                </a:solidFill>
                <a:latin typeface="+mj-lt"/>
              </a:rPr>
              <a:t> CAP </a:t>
            </a:r>
          </a:p>
        </p:txBody>
      </p:sp>
    </p:spTree>
    <p:extLst>
      <p:ext uri="{BB962C8B-B14F-4D97-AF65-F5344CB8AC3E}">
        <p14:creationId xmlns:p14="http://schemas.microsoft.com/office/powerpoint/2010/main" val="310345942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766916"/>
            <a:ext cx="8140390" cy="4338303"/>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Soft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State</a:t>
            </a:r>
            <a:r>
              <a:rPr lang="pt-BR" sz="1800" dirty="0">
                <a:effectLst/>
                <a:latin typeface="Arial" panose="020B0604020202020204" pitchFamily="34" charset="0"/>
                <a:ea typeface="Calibri" panose="020F0502020204030204" pitchFamily="34" charset="0"/>
                <a:cs typeface="Times New Roman" panose="02020603050405020304" pitchFamily="18" charset="0"/>
              </a:rPr>
              <a:t> – devido à falta de consistência imediata, os valores dos dados podem mudar com o tempo. O modelo BASE rompe com o conceito de banco de dados que impõe consistência própria, delegando essa responsabilidade aos desenvolvedores.</a:t>
            </a: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err="1">
                <a:solidFill>
                  <a:srgbClr val="ED145B"/>
                </a:solidFill>
                <a:latin typeface="+mj-lt"/>
              </a:rPr>
              <a:t>Teorma</a:t>
            </a:r>
            <a:r>
              <a:rPr lang="pt-BR" altLang="pt-BR" sz="3200" dirty="0">
                <a:solidFill>
                  <a:srgbClr val="ED145B"/>
                </a:solidFill>
                <a:latin typeface="+mj-lt"/>
              </a:rPr>
              <a:t> CAP </a:t>
            </a:r>
          </a:p>
        </p:txBody>
      </p:sp>
    </p:spTree>
    <p:extLst>
      <p:ext uri="{BB962C8B-B14F-4D97-AF65-F5344CB8AC3E}">
        <p14:creationId xmlns:p14="http://schemas.microsoft.com/office/powerpoint/2010/main" val="246359250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766916"/>
            <a:ext cx="8140390" cy="4338303"/>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err="1">
                <a:effectLst/>
                <a:latin typeface="Arial" panose="020B0604020202020204" pitchFamily="34" charset="0"/>
                <a:ea typeface="Calibri" panose="020F0502020204030204" pitchFamily="34" charset="0"/>
                <a:cs typeface="Times New Roman" panose="02020603050405020304" pitchFamily="18" charset="0"/>
              </a:rPr>
              <a:t>Eventually</a:t>
            </a:r>
            <a:r>
              <a:rPr lang="pt-BR" sz="1800" dirty="0">
                <a:effectLst/>
                <a:latin typeface="Arial" panose="020B0604020202020204" pitchFamily="34" charset="0"/>
                <a:ea typeface="Calibri" panose="020F0502020204030204" pitchFamily="34" charset="0"/>
                <a:cs typeface="Times New Roman" panose="02020603050405020304" pitchFamily="18" charset="0"/>
              </a:rPr>
              <a:t> </a:t>
            </a:r>
            <a:r>
              <a:rPr lang="pt-BR" sz="1800" dirty="0" err="1">
                <a:effectLst/>
                <a:latin typeface="Arial" panose="020B0604020202020204" pitchFamily="34" charset="0"/>
                <a:ea typeface="Calibri" panose="020F0502020204030204" pitchFamily="34" charset="0"/>
                <a:cs typeface="Times New Roman" panose="02020603050405020304" pitchFamily="18" charset="0"/>
              </a:rPr>
              <a:t>Consistent</a:t>
            </a:r>
            <a:r>
              <a:rPr lang="pt-BR" sz="1800" dirty="0">
                <a:effectLst/>
                <a:latin typeface="Arial" panose="020B0604020202020204" pitchFamily="34" charset="0"/>
                <a:ea typeface="Calibri" panose="020F0502020204030204" pitchFamily="34" charset="0"/>
                <a:cs typeface="Times New Roman" panose="02020603050405020304" pitchFamily="18" charset="0"/>
              </a:rPr>
              <a:t> – O fato de que o BASE não impõe consistência imediata não significa que nunca a atinge. No entanto, até que isso aconteça, as leituras de dados ainda são possíveis (embora possam não refletir a realidade).</a:t>
            </a:r>
          </a:p>
          <a:p>
            <a:pPr marL="0" indent="0" algn="just">
              <a:lnSpc>
                <a:spcPct val="150000"/>
              </a:lnSpc>
              <a:spcAft>
                <a:spcPts val="600"/>
              </a:spcAft>
              <a:buClr>
                <a:srgbClr val="ED145B"/>
              </a:buClr>
              <a:buNone/>
            </a:pPr>
            <a:r>
              <a:rPr lang="pt-BR" sz="1800" dirty="0">
                <a:effectLst/>
                <a:latin typeface="Arial" panose="020B0604020202020204" pitchFamily="34" charset="0"/>
                <a:ea typeface="Calibri" panose="020F0502020204030204" pitchFamily="34" charset="0"/>
                <a:cs typeface="Times New Roman" panose="02020603050405020304" pitchFamily="18" charset="0"/>
                <a:sym typeface="Wingdings" panose="05000000000000000000" pitchFamily="2" charset="2"/>
              </a:rPr>
              <a:t> </a:t>
            </a:r>
            <a:r>
              <a:rPr lang="pt-BR" sz="1800" i="1" dirty="0">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Assim como os bancos de dados relacionais são compatíveis com ACID, os bancos de dados </a:t>
            </a:r>
            <a:r>
              <a:rPr lang="pt-BR" sz="1800" i="1" dirty="0" err="1">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NoSQL</a:t>
            </a:r>
            <a:r>
              <a:rPr lang="pt-BR" sz="1800" i="1" dirty="0">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 tendem a estar em conformidade com os princípios BASE. Podemos citar: </a:t>
            </a:r>
            <a:r>
              <a:rPr lang="pt-BR" sz="1800" i="1" dirty="0" err="1">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MongoDB</a:t>
            </a:r>
            <a:r>
              <a:rPr lang="pt-BR" sz="1800" i="1" dirty="0">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 Cassandra, Redis, </a:t>
            </a:r>
            <a:r>
              <a:rPr lang="pt-BR" sz="1800" i="1" dirty="0" err="1">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Amazon</a:t>
            </a:r>
            <a:r>
              <a:rPr lang="pt-BR" sz="1800" i="1" dirty="0">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 </a:t>
            </a:r>
            <a:r>
              <a:rPr lang="pt-BR" sz="1800" i="1" dirty="0" err="1">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DynamoDB</a:t>
            </a:r>
            <a:r>
              <a:rPr lang="pt-BR" sz="1800" i="1" dirty="0">
                <a:effectLst>
                  <a:outerShdw blurRad="38100" dist="38100" dir="2700000" algn="tl">
                    <a:srgbClr val="000000">
                      <a:alpha val="43137"/>
                    </a:srgbClr>
                  </a:outerShdw>
                </a:effectLst>
                <a:latin typeface="Arial" panose="020B0604020202020204" pitchFamily="34" charset="0"/>
                <a:ea typeface="Calibri" panose="020F0502020204030204" pitchFamily="34" charset="0"/>
                <a:cs typeface="Times New Roman" panose="02020603050405020304" pitchFamily="18" charset="0"/>
              </a:rPr>
              <a:t> entre outros.</a:t>
            </a:r>
            <a:r>
              <a:rPr lang="pt-BR" sz="1800" i="1"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 (</a:t>
            </a:r>
            <a:r>
              <a:rPr lang="pt-BR" sz="1800" i="1"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https://db-engines.com/</a:t>
            </a:r>
            <a:r>
              <a:rPr lang="pt-BR" sz="1800" i="1" dirty="0">
                <a:effectLst>
                  <a:outerShdw blurRad="38100" dist="38100" dir="2700000" algn="tl">
                    <a:srgbClr val="000000">
                      <a:alpha val="43137"/>
                    </a:srgbClr>
                  </a:outerShdw>
                </a:effectLst>
                <a:ea typeface="Calibri" panose="020F0502020204030204" pitchFamily="34" charset="0"/>
                <a:cs typeface="Times New Roman" panose="02020603050405020304" pitchFamily="18" charset="0"/>
              </a:rPr>
              <a:t>)</a:t>
            </a:r>
            <a:endParaRPr lang="en-US" sz="1800" i="1" dirty="0">
              <a:effectLst>
                <a:outerShdw blurRad="38100" dist="38100" dir="2700000" algn="tl">
                  <a:srgbClr val="000000">
                    <a:alpha val="43137"/>
                  </a:srgbClr>
                </a:outerShdw>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Propriedades BASE - </a:t>
            </a:r>
            <a:r>
              <a:rPr lang="pt-BR" altLang="pt-BR" sz="3200" dirty="0" err="1">
                <a:solidFill>
                  <a:srgbClr val="ED145B"/>
                </a:solidFill>
                <a:latin typeface="+mj-lt"/>
              </a:rPr>
              <a:t>Teorma</a:t>
            </a:r>
            <a:r>
              <a:rPr lang="pt-BR" altLang="pt-BR" sz="3200" dirty="0">
                <a:solidFill>
                  <a:srgbClr val="ED145B"/>
                </a:solidFill>
                <a:latin typeface="+mj-lt"/>
              </a:rPr>
              <a:t> CAP </a:t>
            </a:r>
          </a:p>
        </p:txBody>
      </p:sp>
    </p:spTree>
    <p:extLst>
      <p:ext uri="{BB962C8B-B14F-4D97-AF65-F5344CB8AC3E}">
        <p14:creationId xmlns:p14="http://schemas.microsoft.com/office/powerpoint/2010/main" val="298381030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765717" y="1246212"/>
            <a:ext cx="8140390" cy="1807215"/>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Uma transação é uma unidade lógica de trabalho onde serão emitidas instruções da SQL. </a:t>
            </a:r>
          </a:p>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Ela pode ser composta por uma ou mais instruções </a:t>
            </a:r>
            <a:r>
              <a:rPr lang="pt-BR" sz="1800" b="1" dirty="0">
                <a:effectLst/>
                <a:latin typeface="Arial" panose="020B0604020202020204" pitchFamily="34" charset="0"/>
                <a:ea typeface="Calibri" panose="020F0502020204030204" pitchFamily="34" charset="0"/>
                <a:cs typeface="Times New Roman" panose="02020603050405020304" pitchFamily="18" charset="0"/>
              </a:rPr>
              <a:t>DML</a:t>
            </a:r>
            <a:r>
              <a:rPr lang="pt-BR" sz="1800" dirty="0">
                <a:effectLst/>
                <a:latin typeface="Arial" panose="020B0604020202020204" pitchFamily="34" charset="0"/>
                <a:ea typeface="Calibri" panose="020F0502020204030204" pitchFamily="34" charset="0"/>
                <a:cs typeface="Times New Roman" panose="02020603050405020304" pitchFamily="18" charset="0"/>
              </a:rPr>
              <a:t> ou por uma instrução </a:t>
            </a:r>
            <a:r>
              <a:rPr lang="pt-BR" sz="1800" b="1" dirty="0">
                <a:effectLst/>
                <a:latin typeface="Arial" panose="020B0604020202020204" pitchFamily="34" charset="0"/>
                <a:ea typeface="Calibri" panose="020F0502020204030204" pitchFamily="34" charset="0"/>
                <a:cs typeface="Times New Roman" panose="02020603050405020304" pitchFamily="18" charset="0"/>
              </a:rPr>
              <a:t>DDL</a:t>
            </a:r>
            <a:r>
              <a:rPr lang="pt-BR" sz="1800" dirty="0">
                <a:effectLst/>
                <a:latin typeface="Arial" panose="020B0604020202020204" pitchFamily="34" charset="0"/>
                <a:ea typeface="Calibri" panose="020F0502020204030204" pitchFamily="34" charset="0"/>
                <a:cs typeface="Times New Roman" panose="02020603050405020304" pitchFamily="18" charset="0"/>
              </a:rPr>
              <a:t> ou por uma instrução </a:t>
            </a:r>
            <a:r>
              <a:rPr lang="pt-BR" sz="1800" b="1" dirty="0">
                <a:effectLst/>
                <a:latin typeface="Arial" panose="020B0604020202020204" pitchFamily="34" charset="0"/>
                <a:ea typeface="Calibri" panose="020F0502020204030204" pitchFamily="34" charset="0"/>
                <a:cs typeface="Times New Roman" panose="02020603050405020304" pitchFamily="18" charset="0"/>
              </a:rPr>
              <a:t>DCL</a:t>
            </a:r>
            <a:r>
              <a:rPr lang="pt-BR" sz="1800" dirty="0">
                <a:effectLst/>
                <a:latin typeface="Arial" panose="020B0604020202020204" pitchFamily="34" charset="0"/>
                <a:ea typeface="Calibri" panose="020F0502020204030204" pitchFamily="34" charset="0"/>
                <a:cs typeface="Times New Roman" panose="02020603050405020304" pitchFamily="18" charset="0"/>
              </a:rPr>
              <a:t>.</a:t>
            </a:r>
          </a:p>
          <a:p>
            <a:pPr marL="182563" indent="-182563" algn="just">
              <a:lnSpc>
                <a:spcPct val="150000"/>
              </a:lnSpc>
              <a:spcAft>
                <a:spcPts val="600"/>
              </a:spcAft>
              <a:buClr>
                <a:srgbClr val="ED145B"/>
              </a:buClr>
            </a:pPr>
            <a:r>
              <a:rPr lang="pt-BR" sz="1800" dirty="0">
                <a:ea typeface="Calibri" panose="020F0502020204030204" pitchFamily="34" charset="0"/>
                <a:cs typeface="Times New Roman" panose="02020603050405020304" pitchFamily="18" charset="0"/>
              </a:rPr>
              <a:t>Sempre finalizada com confirmação (</a:t>
            </a:r>
            <a:r>
              <a:rPr lang="pt-BR" sz="1800" dirty="0">
                <a:solidFill>
                  <a:srgbClr val="FF0000"/>
                </a:solidFill>
                <a:ea typeface="Calibri" panose="020F0502020204030204" pitchFamily="34" charset="0"/>
                <a:cs typeface="Times New Roman" panose="02020603050405020304" pitchFamily="18" charset="0"/>
              </a:rPr>
              <a:t>COMMIT</a:t>
            </a:r>
            <a:r>
              <a:rPr lang="pt-BR" sz="1800" dirty="0">
                <a:ea typeface="Calibri" panose="020F0502020204030204" pitchFamily="34" charset="0"/>
                <a:cs typeface="Times New Roman" panose="02020603050405020304" pitchFamily="18" charset="0"/>
              </a:rPr>
              <a:t>) ou descarte (</a:t>
            </a:r>
            <a:r>
              <a:rPr lang="pt-BR" sz="1800" dirty="0">
                <a:solidFill>
                  <a:srgbClr val="FF0000"/>
                </a:solidFill>
                <a:ea typeface="Calibri" panose="020F0502020204030204" pitchFamily="34" charset="0"/>
                <a:cs typeface="Times New Roman" panose="02020603050405020304" pitchFamily="18" charset="0"/>
              </a:rPr>
              <a:t>ROLLBACK</a:t>
            </a:r>
            <a:r>
              <a:rPr lang="pt-BR" sz="1800" dirty="0">
                <a:ea typeface="Calibri" panose="020F0502020204030204" pitchFamily="34" charset="0"/>
                <a:cs typeface="Times New Roman" panose="02020603050405020304" pitchFamily="18" charset="0"/>
              </a:rPr>
              <a:t>) das alterações</a:t>
            </a: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5" name="Rectangle 2">
            <a:extLst>
              <a:ext uri="{FF2B5EF4-FFF2-40B4-BE49-F238E27FC236}">
                <a16:creationId xmlns:a16="http://schemas.microsoft.com/office/drawing/2014/main" id="{817EEAA7-5A02-4A6B-B9AF-4FFF77E68BB7}"/>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dirty="0">
                <a:solidFill>
                  <a:srgbClr val="ED145B"/>
                </a:solidFill>
                <a:latin typeface="+mj-lt"/>
              </a:rPr>
              <a:t>Transações de Banco de Dados Relacionais</a:t>
            </a:r>
          </a:p>
        </p:txBody>
      </p:sp>
    </p:spTree>
    <p:extLst>
      <p:ext uri="{BB962C8B-B14F-4D97-AF65-F5344CB8AC3E}">
        <p14:creationId xmlns:p14="http://schemas.microsoft.com/office/powerpoint/2010/main" val="240416075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613317" y="979417"/>
            <a:ext cx="8140390" cy="982551"/>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Toda transação de apresentar quatro propriedades conhecidas pelo acrônimo  ACID que significa:</a:t>
            </a: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10" name="Rectangle 2">
            <a:extLst>
              <a:ext uri="{FF2B5EF4-FFF2-40B4-BE49-F238E27FC236}">
                <a16:creationId xmlns:a16="http://schemas.microsoft.com/office/drawing/2014/main" id="{D53C106F-6F80-4F63-AFE5-1AF34FDC379A}"/>
              </a:ext>
            </a:extLst>
          </p:cNvPr>
          <p:cNvSpPr txBox="1">
            <a:spLocks noChangeArrowheads="1"/>
          </p:cNvSpPr>
          <p:nvPr/>
        </p:nvSpPr>
        <p:spPr bwMode="auto">
          <a:xfrm>
            <a:off x="613317" y="288761"/>
            <a:ext cx="7084720"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Transações de Banco de Dados Relacional</a:t>
            </a:r>
          </a:p>
        </p:txBody>
      </p:sp>
      <p:sp>
        <p:nvSpPr>
          <p:cNvPr id="2" name="Rectangle 3">
            <a:extLst>
              <a:ext uri="{FF2B5EF4-FFF2-40B4-BE49-F238E27FC236}">
                <a16:creationId xmlns:a16="http://schemas.microsoft.com/office/drawing/2014/main" id="{E2685A31-46D8-A5E5-4107-49782A499F61}"/>
              </a:ext>
            </a:extLst>
          </p:cNvPr>
          <p:cNvSpPr txBox="1">
            <a:spLocks noChangeArrowheads="1"/>
          </p:cNvSpPr>
          <p:nvPr/>
        </p:nvSpPr>
        <p:spPr bwMode="auto">
          <a:xfrm>
            <a:off x="613317" y="2200091"/>
            <a:ext cx="2831782" cy="2173613"/>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A:  Atomicidade</a:t>
            </a:r>
          </a:p>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C: Consistência</a:t>
            </a:r>
          </a:p>
          <a:p>
            <a:pPr marL="182563" indent="-182563" algn="just">
              <a:lnSpc>
                <a:spcPct val="150000"/>
              </a:lnSpc>
              <a:spcAft>
                <a:spcPts val="600"/>
              </a:spcAft>
              <a:buClr>
                <a:srgbClr val="ED145B"/>
              </a:buClr>
            </a:pPr>
            <a:r>
              <a:rPr lang="pt-BR" sz="1800" dirty="0">
                <a:ea typeface="Calibri" panose="020F0502020204030204" pitchFamily="34" charset="0"/>
                <a:cs typeface="Times New Roman" panose="02020603050405020304" pitchFamily="18" charset="0"/>
              </a:rPr>
              <a:t>I: </a:t>
            </a:r>
            <a:r>
              <a:rPr lang="pt-BR" sz="1800" dirty="0" err="1">
                <a:ea typeface="Calibri" panose="020F0502020204030204" pitchFamily="34" charset="0"/>
                <a:cs typeface="Times New Roman" panose="02020603050405020304" pitchFamily="18" charset="0"/>
              </a:rPr>
              <a:t>Isolabilidade</a:t>
            </a:r>
            <a:endParaRPr lang="pt-BR" sz="1800" dirty="0">
              <a:ea typeface="Calibri" panose="020F0502020204030204" pitchFamily="34" charset="0"/>
              <a:cs typeface="Times New Roman" panose="02020603050405020304" pitchFamily="18" charset="0"/>
            </a:endParaRPr>
          </a:p>
          <a:p>
            <a:pPr marL="182563" indent="-182563"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D: Durabilidade</a:t>
            </a: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Tree>
    <p:extLst>
      <p:ext uri="{BB962C8B-B14F-4D97-AF65-F5344CB8AC3E}">
        <p14:creationId xmlns:p14="http://schemas.microsoft.com/office/powerpoint/2010/main" val="33893817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66B3-30B7-40AC-8B0E-7AE14D18B092}"/>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722527B8-C913-51BB-D809-5D641AD0F591}"/>
              </a:ext>
            </a:extLst>
          </p:cNvPr>
          <p:cNvSpPr txBox="1">
            <a:spLocks noChangeArrowheads="1"/>
          </p:cNvSpPr>
          <p:nvPr/>
        </p:nvSpPr>
        <p:spPr bwMode="auto">
          <a:xfrm>
            <a:off x="1003610" y="2201010"/>
            <a:ext cx="8140390" cy="982551"/>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182563" indent="-182563" algn="just">
              <a:lnSpc>
                <a:spcPct val="150000"/>
              </a:lnSpc>
              <a:spcAft>
                <a:spcPts val="600"/>
              </a:spcAft>
              <a:buClr>
                <a:srgbClr val="ED145B"/>
              </a:buClr>
            </a:pPr>
            <a:r>
              <a:rPr lang="pt-BR" sz="1400" dirty="0">
                <a:hlinkClick r:id="rId3"/>
              </a:rPr>
              <a:t>https://www.ibm.com/support/knowledgecenter/en/SSGMCP_5.4.0/product-overview/acid.html</a:t>
            </a:r>
            <a:endParaRPr lang="pt-BR" sz="1400" dirty="0"/>
          </a:p>
          <a:p>
            <a:pPr marL="182563" indent="-182563" algn="just">
              <a:lnSpc>
                <a:spcPct val="150000"/>
              </a:lnSpc>
              <a:spcAft>
                <a:spcPts val="600"/>
              </a:spcAft>
              <a:buClr>
                <a:srgbClr val="ED145B"/>
              </a:buClr>
            </a:pPr>
            <a:endParaRPr lang="pt-BR" sz="1400" dirty="0"/>
          </a:p>
          <a:p>
            <a:pPr marL="182563" indent="-182563" algn="just">
              <a:lnSpc>
                <a:spcPct val="150000"/>
              </a:lnSpc>
              <a:spcAft>
                <a:spcPts val="600"/>
              </a:spcAft>
              <a:buClr>
                <a:srgbClr val="ED145B"/>
              </a:buClr>
            </a:pPr>
            <a:r>
              <a:rPr lang="pt-BR" sz="1400" dirty="0">
                <a:hlinkClick r:id="rId4"/>
              </a:rPr>
              <a:t>https://docs.microsoft.com/en-us/windows/win32/cossdk/acid-properties</a:t>
            </a:r>
            <a:endParaRPr lang="pt-BR" sz="1400" dirty="0"/>
          </a:p>
          <a:p>
            <a:pPr marL="182563" indent="-182563" algn="just">
              <a:lnSpc>
                <a:spcPct val="150000"/>
              </a:lnSpc>
              <a:spcAft>
                <a:spcPts val="600"/>
              </a:spcAft>
              <a:buClr>
                <a:srgbClr val="ED145B"/>
              </a:buClr>
            </a:pPr>
            <a:endParaRPr lang="pt-BR" sz="1400" dirty="0"/>
          </a:p>
          <a:p>
            <a:pPr marL="182563" indent="-182563" algn="just">
              <a:lnSpc>
                <a:spcPct val="150000"/>
              </a:lnSpc>
              <a:spcAft>
                <a:spcPts val="600"/>
              </a:spcAft>
              <a:buClr>
                <a:srgbClr val="ED145B"/>
              </a:buClr>
            </a:pPr>
            <a:r>
              <a:rPr lang="pt-BR" sz="1400" dirty="0">
                <a:hlinkClick r:id="rId5"/>
              </a:rPr>
              <a:t>https://docs.oracle.com/cd/E11882_01/server.112/e40540/transact.htm</a:t>
            </a: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pic>
        <p:nvPicPr>
          <p:cNvPr id="5" name="Picture 2" descr="Resultado de imagem para ibm">
            <a:extLst>
              <a:ext uri="{FF2B5EF4-FFF2-40B4-BE49-F238E27FC236}">
                <a16:creationId xmlns:a16="http://schemas.microsoft.com/office/drawing/2014/main" id="{7DCFE3E4-B608-D8DB-5B68-096C74E6A4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682" y="1951798"/>
            <a:ext cx="539552" cy="202332"/>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m 6">
            <a:extLst>
              <a:ext uri="{FF2B5EF4-FFF2-40B4-BE49-F238E27FC236}">
                <a16:creationId xmlns:a16="http://schemas.microsoft.com/office/drawing/2014/main" id="{4C1A5B82-2A94-858D-E731-754F3369E235}"/>
              </a:ext>
            </a:extLst>
          </p:cNvPr>
          <p:cNvPicPr>
            <a:picLocks noChangeAspect="1"/>
          </p:cNvPicPr>
          <p:nvPr/>
        </p:nvPicPr>
        <p:blipFill>
          <a:blip r:embed="rId7"/>
          <a:stretch>
            <a:fillRect/>
          </a:stretch>
        </p:blipFill>
        <p:spPr>
          <a:xfrm>
            <a:off x="1056682" y="2895531"/>
            <a:ext cx="1298286" cy="288030"/>
          </a:xfrm>
          <a:prstGeom prst="rect">
            <a:avLst/>
          </a:prstGeom>
        </p:spPr>
      </p:pic>
      <p:pic>
        <p:nvPicPr>
          <p:cNvPr id="8" name="Imagem 7">
            <a:extLst>
              <a:ext uri="{FF2B5EF4-FFF2-40B4-BE49-F238E27FC236}">
                <a16:creationId xmlns:a16="http://schemas.microsoft.com/office/drawing/2014/main" id="{BE700E63-F366-B11C-F1E7-ED4500B8F362}"/>
              </a:ext>
            </a:extLst>
          </p:cNvPr>
          <p:cNvPicPr>
            <a:picLocks noChangeAspect="1"/>
          </p:cNvPicPr>
          <p:nvPr/>
        </p:nvPicPr>
        <p:blipFill>
          <a:blip r:embed="rId8"/>
          <a:stretch>
            <a:fillRect/>
          </a:stretch>
        </p:blipFill>
        <p:spPr>
          <a:xfrm>
            <a:off x="1056682" y="3829210"/>
            <a:ext cx="1134417" cy="188356"/>
          </a:xfrm>
          <a:prstGeom prst="rect">
            <a:avLst/>
          </a:prstGeom>
        </p:spPr>
      </p:pic>
      <p:sp>
        <p:nvSpPr>
          <p:cNvPr id="10" name="Rectangle 2">
            <a:extLst>
              <a:ext uri="{FF2B5EF4-FFF2-40B4-BE49-F238E27FC236}">
                <a16:creationId xmlns:a16="http://schemas.microsoft.com/office/drawing/2014/main" id="{9C8F7A99-A548-9506-E489-9466C3B9C2C8}"/>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Transações de Banco de Dados</a:t>
            </a:r>
          </a:p>
        </p:txBody>
      </p:sp>
      <p:sp>
        <p:nvSpPr>
          <p:cNvPr id="2" name="TextBox 1">
            <a:extLst>
              <a:ext uri="{FF2B5EF4-FFF2-40B4-BE49-F238E27FC236}">
                <a16:creationId xmlns:a16="http://schemas.microsoft.com/office/drawing/2014/main" id="{95DC3700-DA5A-C8B0-9508-5ACC0D030BEE}"/>
              </a:ext>
            </a:extLst>
          </p:cNvPr>
          <p:cNvSpPr txBox="1"/>
          <p:nvPr/>
        </p:nvSpPr>
        <p:spPr>
          <a:xfrm>
            <a:off x="1003610" y="1242811"/>
            <a:ext cx="1264642" cy="369332"/>
          </a:xfrm>
          <a:prstGeom prst="rect">
            <a:avLst/>
          </a:prstGeom>
          <a:noFill/>
        </p:spPr>
        <p:txBody>
          <a:bodyPr wrap="none" rtlCol="0">
            <a:spAutoFit/>
          </a:bodyPr>
          <a:lstStyle/>
          <a:p>
            <a:r>
              <a:rPr lang="pt-BR" dirty="0"/>
              <a:t>Referências</a:t>
            </a:r>
          </a:p>
        </p:txBody>
      </p:sp>
    </p:spTree>
    <p:extLst>
      <p:ext uri="{BB962C8B-B14F-4D97-AF65-F5344CB8AC3E}">
        <p14:creationId xmlns:p14="http://schemas.microsoft.com/office/powerpoint/2010/main" val="266087883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270865" y="1337071"/>
            <a:ext cx="8140390" cy="2793865"/>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371475" indent="-285750" algn="just">
              <a:lnSpc>
                <a:spcPct val="150000"/>
              </a:lnSpc>
              <a:spcAft>
                <a:spcPts val="600"/>
              </a:spcAft>
              <a:buClr>
                <a:srgbClr val="ED145B"/>
              </a:buClr>
            </a:pPr>
            <a:r>
              <a:rPr lang="pt-BR" sz="1800" b="1" dirty="0">
                <a:effectLst/>
                <a:latin typeface="Arial" panose="020B0604020202020204" pitchFamily="34" charset="0"/>
                <a:ea typeface="Calibri" panose="020F0502020204030204" pitchFamily="34" charset="0"/>
                <a:cs typeface="Times New Roman" panose="02020603050405020304" pitchFamily="18" charset="0"/>
              </a:rPr>
              <a:t>Atomicidade</a:t>
            </a:r>
            <a:endParaRPr lang="pt-BR" sz="1800" b="1" dirty="0">
              <a:ea typeface="Calibri" panose="020F0502020204030204" pitchFamily="34" charset="0"/>
              <a:cs typeface="Times New Roman" panose="02020603050405020304" pitchFamily="18" charset="0"/>
            </a:endParaRPr>
          </a:p>
          <a:p>
            <a:pPr marL="828675" lvl="1" indent="-285750"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A execução de uma transação deve ser atômica, ou seja, não existe 	uma transação parcial. </a:t>
            </a:r>
            <a:endParaRPr lang="pt-BR" sz="1800" dirty="0">
              <a:ea typeface="Calibri" panose="020F0502020204030204" pitchFamily="34" charset="0"/>
              <a:cs typeface="Times New Roman" panose="02020603050405020304" pitchFamily="18" charset="0"/>
            </a:endParaRPr>
          </a:p>
          <a:p>
            <a:pPr marL="371475" indent="-285750" algn="just">
              <a:lnSpc>
                <a:spcPct val="150000"/>
              </a:lnSpc>
              <a:spcAft>
                <a:spcPts val="600"/>
              </a:spcAft>
              <a:buClr>
                <a:srgbClr val="ED145B"/>
              </a:buClr>
            </a:pPr>
            <a:r>
              <a:rPr lang="pt-BR" sz="1800" b="1" dirty="0">
                <a:effectLst/>
                <a:latin typeface="Arial" panose="020B0604020202020204" pitchFamily="34" charset="0"/>
                <a:ea typeface="Calibri" panose="020F0502020204030204" pitchFamily="34" charset="0"/>
                <a:cs typeface="Times New Roman" panose="02020603050405020304" pitchFamily="18" charset="0"/>
              </a:rPr>
              <a:t>Consistência</a:t>
            </a:r>
            <a:endParaRPr lang="pt-BR" sz="1800" b="1" dirty="0">
              <a:ea typeface="Calibri" panose="020F0502020204030204" pitchFamily="34" charset="0"/>
              <a:cs typeface="Times New Roman" panose="02020603050405020304" pitchFamily="18" charset="0"/>
            </a:endParaRPr>
          </a:p>
          <a:p>
            <a:pPr marL="828675" lvl="1" indent="-285750"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No início de uma transação o dado está em um estado consistente e 	deve permanecer consistente ao final da transação. </a:t>
            </a:r>
          </a:p>
          <a:p>
            <a:pPr indent="0" algn="just">
              <a:lnSpc>
                <a:spcPct val="150000"/>
              </a:lnSpc>
              <a:spcAft>
                <a:spcPts val="60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5" name="Rectangle 2">
            <a:extLst>
              <a:ext uri="{FF2B5EF4-FFF2-40B4-BE49-F238E27FC236}">
                <a16:creationId xmlns:a16="http://schemas.microsoft.com/office/drawing/2014/main" id="{1700BB06-140F-44DE-BB2B-6171E6E49257}"/>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Transações de Banco de Dados</a:t>
            </a:r>
          </a:p>
        </p:txBody>
      </p:sp>
    </p:spTree>
    <p:extLst>
      <p:ext uri="{BB962C8B-B14F-4D97-AF65-F5344CB8AC3E}">
        <p14:creationId xmlns:p14="http://schemas.microsoft.com/office/powerpoint/2010/main" val="118423541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93F34B-8B60-4654-BC9E-15E3D7E75A2F}"/>
              </a:ext>
            </a:extLst>
          </p:cNvPr>
          <p:cNvSpPr txBox="1">
            <a:spLocks noChangeArrowheads="1"/>
          </p:cNvSpPr>
          <p:nvPr/>
        </p:nvSpPr>
        <p:spPr bwMode="auto">
          <a:xfrm>
            <a:off x="613317" y="1126273"/>
            <a:ext cx="8140390" cy="3826546"/>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6" name="Rectangle 3">
            <a:extLst>
              <a:ext uri="{FF2B5EF4-FFF2-40B4-BE49-F238E27FC236}">
                <a16:creationId xmlns:a16="http://schemas.microsoft.com/office/drawing/2014/main" id="{71C00A67-2B26-4390-A7E6-2F0B55562BA7}"/>
              </a:ext>
            </a:extLst>
          </p:cNvPr>
          <p:cNvSpPr txBox="1">
            <a:spLocks noChangeArrowheads="1"/>
          </p:cNvSpPr>
          <p:nvPr/>
        </p:nvSpPr>
        <p:spPr bwMode="auto">
          <a:xfrm>
            <a:off x="390293" y="982069"/>
            <a:ext cx="8140390" cy="3708265"/>
          </a:xfrm>
          <a:prstGeom prst="rect">
            <a:avLst/>
          </a:prstGeom>
          <a:solidFill>
            <a:schemeClr val="bg1"/>
          </a:solidFill>
          <a:ln>
            <a:noFill/>
          </a:ln>
        </p:spPr>
        <p:txBody>
          <a:bodyPr/>
          <a:lstStyle>
            <a:lvl1pPr marL="6858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1143000" indent="-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371475" indent="-285750" algn="just">
              <a:lnSpc>
                <a:spcPct val="150000"/>
              </a:lnSpc>
              <a:spcAft>
                <a:spcPts val="600"/>
              </a:spcAft>
              <a:buClr>
                <a:srgbClr val="ED145B"/>
              </a:buClr>
            </a:pPr>
            <a:r>
              <a:rPr lang="pt-BR" sz="1800" b="1" dirty="0">
                <a:effectLst/>
                <a:latin typeface="Arial" panose="020B0604020202020204" pitchFamily="34" charset="0"/>
                <a:ea typeface="Calibri" panose="020F0502020204030204" pitchFamily="34" charset="0"/>
                <a:cs typeface="Times New Roman" panose="02020603050405020304" pitchFamily="18" charset="0"/>
              </a:rPr>
              <a:t>Isolamento</a:t>
            </a:r>
            <a:endParaRPr lang="pt-BR" sz="1800" b="1" dirty="0">
              <a:ea typeface="Calibri" panose="020F0502020204030204" pitchFamily="34" charset="0"/>
              <a:cs typeface="Times New Roman" panose="02020603050405020304" pitchFamily="18" charset="0"/>
            </a:endParaRPr>
          </a:p>
          <a:p>
            <a:pPr marL="828675" lvl="1" indent="-285750"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Cada transação é executada isoladamente e a sua  execução não 	deve sofrer interferência de outras transações concorrentes.</a:t>
            </a:r>
          </a:p>
          <a:p>
            <a:pPr marL="371475" indent="-285750" algn="just">
              <a:lnSpc>
                <a:spcPct val="150000"/>
              </a:lnSpc>
              <a:spcAft>
                <a:spcPts val="600"/>
              </a:spcAft>
              <a:buClr>
                <a:srgbClr val="ED145B"/>
              </a:buClr>
            </a:pPr>
            <a:r>
              <a:rPr lang="pt-BR" sz="1800" b="1" dirty="0">
                <a:effectLst/>
                <a:latin typeface="Arial" panose="020B0604020202020204" pitchFamily="34" charset="0"/>
                <a:ea typeface="Calibri" panose="020F0502020204030204" pitchFamily="34" charset="0"/>
                <a:cs typeface="Times New Roman" panose="02020603050405020304" pitchFamily="18" charset="0"/>
              </a:rPr>
              <a:t>Durabilidade</a:t>
            </a:r>
            <a:endParaRPr lang="pt-BR" sz="1800" b="1" dirty="0">
              <a:ea typeface="Calibri" panose="020F0502020204030204" pitchFamily="34" charset="0"/>
              <a:cs typeface="Times New Roman" panose="02020603050405020304" pitchFamily="18" charset="0"/>
            </a:endParaRPr>
          </a:p>
          <a:p>
            <a:pPr marL="828675" lvl="1" indent="-285750" algn="just">
              <a:lnSpc>
                <a:spcPct val="150000"/>
              </a:lnSpc>
              <a:spcAft>
                <a:spcPts val="600"/>
              </a:spcAft>
              <a:buClr>
                <a:srgbClr val="ED145B"/>
              </a:buClr>
            </a:pPr>
            <a:r>
              <a:rPr lang="pt-BR" sz="1800" dirty="0">
                <a:effectLst/>
                <a:latin typeface="Arial" panose="020B0604020202020204" pitchFamily="34" charset="0"/>
                <a:ea typeface="Calibri" panose="020F0502020204030204" pitchFamily="34" charset="0"/>
                <a:cs typeface="Times New Roman" panose="02020603050405020304" pitchFamily="18" charset="0"/>
              </a:rPr>
              <a:t>Toda transação que for finalizada de forma bem-sucedida deve 	persistir seus resultados em banco mesmo na presença de falhas no 	sistema. Após o ponto de confirmação, as alterações devem persistir 	no banco.</a:t>
            </a: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a:p>
            <a:pPr marL="0" indent="0" algn="just">
              <a:spcAft>
                <a:spcPts val="0"/>
              </a:spcAft>
              <a:buNone/>
            </a:pPr>
            <a:endParaRPr lang="en-US" sz="18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5" name="Rectangle 2">
            <a:extLst>
              <a:ext uri="{FF2B5EF4-FFF2-40B4-BE49-F238E27FC236}">
                <a16:creationId xmlns:a16="http://schemas.microsoft.com/office/drawing/2014/main" id="{476307C5-EE10-43EB-862F-3071608C9BD4}"/>
              </a:ext>
            </a:extLst>
          </p:cNvPr>
          <p:cNvSpPr txBox="1">
            <a:spLocks noChangeArrowheads="1"/>
          </p:cNvSpPr>
          <p:nvPr/>
        </p:nvSpPr>
        <p:spPr bwMode="auto">
          <a:xfrm>
            <a:off x="1511929" y="288761"/>
            <a:ext cx="6343166" cy="4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pt-BR" altLang="pt-BR" sz="3200" dirty="0">
                <a:solidFill>
                  <a:srgbClr val="ED145B"/>
                </a:solidFill>
                <a:latin typeface="+mj-lt"/>
              </a:rPr>
              <a:t>Transações de Banco de Dados</a:t>
            </a:r>
          </a:p>
        </p:txBody>
      </p:sp>
    </p:spTree>
    <p:extLst>
      <p:ext uri="{BB962C8B-B14F-4D97-AF65-F5344CB8AC3E}">
        <p14:creationId xmlns:p14="http://schemas.microsoft.com/office/powerpoint/2010/main" val="250444346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ítulo 1">
            <a:extLst>
              <a:ext uri="{FF2B5EF4-FFF2-40B4-BE49-F238E27FC236}">
                <a16:creationId xmlns:a16="http://schemas.microsoft.com/office/drawing/2014/main" id="{A7661111-56F2-4CF4-A73C-F4DCB49F791A}"/>
              </a:ext>
            </a:extLst>
          </p:cNvPr>
          <p:cNvSpPr>
            <a:spLocks noGrp="1"/>
          </p:cNvSpPr>
          <p:nvPr>
            <p:ph type="ctrTitle"/>
          </p:nvPr>
        </p:nvSpPr>
        <p:spPr>
          <a:xfrm>
            <a:off x="1842348" y="203200"/>
            <a:ext cx="5459303" cy="586916"/>
          </a:xfrm>
        </p:spPr>
        <p:txBody>
          <a:bodyPr>
            <a:normAutofit/>
          </a:bodyPr>
          <a:lstStyle/>
          <a:p>
            <a:pPr eaLnBrk="1" hangingPunct="1"/>
            <a:r>
              <a:rPr lang="pt-BR" altLang="pt-BR" dirty="0">
                <a:solidFill>
                  <a:srgbClr val="ED145B"/>
                </a:solidFill>
              </a:rPr>
              <a:t>Transação / Concorrência</a:t>
            </a:r>
          </a:p>
        </p:txBody>
      </p:sp>
      <p:sp>
        <p:nvSpPr>
          <p:cNvPr id="17411" name="Subtítulo 2">
            <a:extLst>
              <a:ext uri="{FF2B5EF4-FFF2-40B4-BE49-F238E27FC236}">
                <a16:creationId xmlns:a16="http://schemas.microsoft.com/office/drawing/2014/main" id="{E160E686-CF48-4091-9014-C01D199433F7}"/>
              </a:ext>
            </a:extLst>
          </p:cNvPr>
          <p:cNvSpPr>
            <a:spLocks noGrp="1"/>
          </p:cNvSpPr>
          <p:nvPr>
            <p:ph type="subTitle" idx="1"/>
          </p:nvPr>
        </p:nvSpPr>
        <p:spPr>
          <a:xfrm>
            <a:off x="462310" y="1384300"/>
            <a:ext cx="8219378" cy="2820650"/>
          </a:xfrm>
        </p:spPr>
        <p:txBody>
          <a:bodyPr>
            <a:normAutofit fontScale="92500" lnSpcReduction="20000"/>
          </a:bodyPr>
          <a:lstStyle/>
          <a:p>
            <a:pPr marL="285750" indent="-285750" algn="just">
              <a:lnSpc>
                <a:spcPct val="150000"/>
              </a:lnSpc>
              <a:buClr>
                <a:srgbClr val="ED145B"/>
              </a:buClr>
              <a:buFont typeface="Arial" panose="020B0604020202020204" pitchFamily="34" charset="0"/>
              <a:buChar char="•"/>
              <a:defRPr/>
            </a:pP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Em um banco de dados de </a:t>
            </a:r>
            <a:r>
              <a:rPr lang="pt-BR" sz="1900" b="1" dirty="0">
                <a:solidFill>
                  <a:schemeClr val="tx1"/>
                </a:solidFill>
                <a:effectLst/>
                <a:latin typeface="Arial" panose="020B0604020202020204" pitchFamily="34" charset="0"/>
                <a:ea typeface="Calibri" panose="020F0502020204030204" pitchFamily="34" charset="0"/>
                <a:cs typeface="Arial" panose="020B0604020202020204" pitchFamily="34" charset="0"/>
              </a:rPr>
              <a:t>monousuário</a:t>
            </a: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 um usuário pode modificar os dados sem se preocupar com os outros usuários modificando os mesmos dados ao mesmo tempo. </a:t>
            </a:r>
          </a:p>
          <a:p>
            <a:pPr marL="285750" indent="-285750" algn="just">
              <a:lnSpc>
                <a:spcPct val="150000"/>
              </a:lnSpc>
              <a:buClr>
                <a:srgbClr val="ED145B"/>
              </a:buClr>
              <a:buFont typeface="Arial" panose="020B0604020202020204" pitchFamily="34" charset="0"/>
              <a:buChar char="•"/>
              <a:defRPr/>
            </a:pP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No entanto, em um banco de dados </a:t>
            </a:r>
            <a:r>
              <a:rPr lang="pt-BR" sz="1900" b="1" dirty="0">
                <a:solidFill>
                  <a:schemeClr val="tx1"/>
                </a:solidFill>
                <a:effectLst/>
                <a:latin typeface="Arial" panose="020B0604020202020204" pitchFamily="34" charset="0"/>
                <a:ea typeface="Calibri" panose="020F0502020204030204" pitchFamily="34" charset="0"/>
                <a:cs typeface="Arial" panose="020B0604020202020204" pitchFamily="34" charset="0"/>
              </a:rPr>
              <a:t>multiusuário</a:t>
            </a: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 as instruções em várias transações simultâneas podem atualizar os mesmos dados. </a:t>
            </a:r>
          </a:p>
          <a:p>
            <a:pPr marL="285750" indent="-285750" algn="just">
              <a:lnSpc>
                <a:spcPct val="150000"/>
              </a:lnSpc>
              <a:buClr>
                <a:srgbClr val="ED145B"/>
              </a:buClr>
              <a:buFont typeface="Arial" panose="020B0604020202020204" pitchFamily="34" charset="0"/>
              <a:buChar char="•"/>
              <a:defRPr/>
            </a:pP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As </a:t>
            </a:r>
            <a:r>
              <a:rPr lang="pt-BR" sz="1900" b="1" dirty="0">
                <a:solidFill>
                  <a:schemeClr val="tx1"/>
                </a:solidFill>
                <a:effectLst/>
                <a:latin typeface="Arial" panose="020B0604020202020204" pitchFamily="34" charset="0"/>
                <a:ea typeface="Calibri" panose="020F0502020204030204" pitchFamily="34" charset="0"/>
                <a:cs typeface="Arial" panose="020B0604020202020204" pitchFamily="34" charset="0"/>
              </a:rPr>
              <a:t>transações</a:t>
            </a: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 em execução simultânea devem produzir resultados significativos e consistentes.</a:t>
            </a:r>
            <a:endParaRPr lang="pt-BR" altLang="pt-BR" sz="1900" dirty="0">
              <a:solidFill>
                <a:schemeClr val="tx1"/>
              </a:solidFill>
              <a:latin typeface="Arial" panose="020B0604020202020204" pitchFamily="34" charset="0"/>
              <a:cs typeface="Arial" panose="020B0604020202020204" pitchFamily="34" charset="0"/>
            </a:endParaRPr>
          </a:p>
          <a:p>
            <a:pPr algn="just" eaLnBrk="1" hangingPunct="1">
              <a:buClr>
                <a:srgbClr val="ED145B"/>
              </a:buClr>
              <a:defRPr/>
            </a:pPr>
            <a:endParaRPr lang="pt-BR" altLang="pt-BR" sz="1877" dirty="0">
              <a:latin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459B-EF04-2D70-683B-97FE6BD71A11}"/>
            </a:ext>
          </a:extLst>
        </p:cNvPr>
        <p:cNvGrpSpPr/>
        <p:nvPr/>
      </p:nvGrpSpPr>
      <p:grpSpPr>
        <a:xfrm>
          <a:off x="0" y="0"/>
          <a:ext cx="0" cy="0"/>
          <a:chOff x="0" y="0"/>
          <a:chExt cx="0" cy="0"/>
        </a:xfrm>
      </p:grpSpPr>
      <p:sp>
        <p:nvSpPr>
          <p:cNvPr id="17410" name="Título 1">
            <a:extLst>
              <a:ext uri="{FF2B5EF4-FFF2-40B4-BE49-F238E27FC236}">
                <a16:creationId xmlns:a16="http://schemas.microsoft.com/office/drawing/2014/main" id="{F9979630-6E14-5302-C8A9-E1A54DC02E3E}"/>
              </a:ext>
            </a:extLst>
          </p:cNvPr>
          <p:cNvSpPr>
            <a:spLocks noGrp="1"/>
          </p:cNvSpPr>
          <p:nvPr>
            <p:ph type="ctrTitle"/>
          </p:nvPr>
        </p:nvSpPr>
        <p:spPr>
          <a:xfrm>
            <a:off x="1842348" y="203200"/>
            <a:ext cx="5459303" cy="586916"/>
          </a:xfrm>
        </p:spPr>
        <p:txBody>
          <a:bodyPr>
            <a:normAutofit/>
          </a:bodyPr>
          <a:lstStyle/>
          <a:p>
            <a:pPr eaLnBrk="1" hangingPunct="1"/>
            <a:r>
              <a:rPr lang="pt-BR" altLang="pt-BR" dirty="0">
                <a:solidFill>
                  <a:srgbClr val="ED145B"/>
                </a:solidFill>
              </a:rPr>
              <a:t>Transação / Concorrência</a:t>
            </a:r>
          </a:p>
        </p:txBody>
      </p:sp>
      <p:sp>
        <p:nvSpPr>
          <p:cNvPr id="17411" name="Subtítulo 2">
            <a:extLst>
              <a:ext uri="{FF2B5EF4-FFF2-40B4-BE49-F238E27FC236}">
                <a16:creationId xmlns:a16="http://schemas.microsoft.com/office/drawing/2014/main" id="{F04DA5FF-B0E8-14CD-05CA-C84EF9722386}"/>
              </a:ext>
            </a:extLst>
          </p:cNvPr>
          <p:cNvSpPr>
            <a:spLocks noGrp="1"/>
          </p:cNvSpPr>
          <p:nvPr>
            <p:ph type="subTitle" idx="1"/>
          </p:nvPr>
        </p:nvSpPr>
        <p:spPr>
          <a:xfrm>
            <a:off x="578220" y="1971216"/>
            <a:ext cx="8219378" cy="1558523"/>
          </a:xfrm>
        </p:spPr>
        <p:txBody>
          <a:bodyPr>
            <a:normAutofit/>
          </a:bodyPr>
          <a:lstStyle/>
          <a:p>
            <a:pPr marL="285750" indent="-285750" algn="just">
              <a:lnSpc>
                <a:spcPct val="150000"/>
              </a:lnSpc>
              <a:buClr>
                <a:srgbClr val="ED145B"/>
              </a:buClr>
              <a:buFont typeface="Arial" panose="020B0604020202020204" pitchFamily="34" charset="0"/>
              <a:buChar char="•"/>
              <a:defRPr/>
            </a:pPr>
            <a:r>
              <a:rPr lang="pt-BR" sz="190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Undo</a:t>
            </a: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 / versões do dado</a:t>
            </a:r>
          </a:p>
          <a:p>
            <a:pPr marL="285750" indent="-285750" algn="just">
              <a:lnSpc>
                <a:spcPct val="150000"/>
              </a:lnSpc>
              <a:buClr>
                <a:srgbClr val="ED145B"/>
              </a:buClr>
              <a:buFont typeface="Arial" panose="020B0604020202020204" pitchFamily="34" charset="0"/>
              <a:buChar char="•"/>
              <a:defRPr/>
            </a:pPr>
            <a:r>
              <a:rPr lang="pt-BR" altLang="pt-BR" sz="1900" dirty="0" err="1">
                <a:solidFill>
                  <a:schemeClr val="tx1"/>
                </a:solidFill>
                <a:latin typeface="Arial" panose="020B0604020202020204" pitchFamily="34" charset="0"/>
                <a:ea typeface="Calibri" panose="020F0502020204030204" pitchFamily="34" charset="0"/>
                <a:cs typeface="Arial" panose="020B0604020202020204" pitchFamily="34" charset="0"/>
              </a:rPr>
              <a:t>Redo</a:t>
            </a:r>
            <a:r>
              <a:rPr lang="pt-BR" altLang="pt-BR" sz="1900" dirty="0">
                <a:solidFill>
                  <a:schemeClr val="tx1"/>
                </a:solidFill>
                <a:latin typeface="Arial" panose="020B0604020202020204" pitchFamily="34" charset="0"/>
                <a:ea typeface="Calibri" panose="020F0502020204030204" pitchFamily="34" charset="0"/>
                <a:cs typeface="Arial" panose="020B0604020202020204" pitchFamily="34" charset="0"/>
              </a:rPr>
              <a:t> / Log de Transações</a:t>
            </a:r>
          </a:p>
          <a:p>
            <a:pPr marL="285750" indent="-285750" algn="just">
              <a:lnSpc>
                <a:spcPct val="150000"/>
              </a:lnSpc>
              <a:buClr>
                <a:srgbClr val="ED145B"/>
              </a:buClr>
              <a:buFont typeface="Arial" panose="020B0604020202020204" pitchFamily="34" charset="0"/>
              <a:buChar char="•"/>
              <a:defRPr/>
            </a:pPr>
            <a:r>
              <a:rPr lang="pt-BR" altLang="pt-BR" sz="1900" dirty="0">
                <a:solidFill>
                  <a:schemeClr val="tx1"/>
                </a:solidFill>
                <a:latin typeface="Arial" panose="020B0604020202020204" pitchFamily="34" charset="0"/>
                <a:ea typeface="Calibri" panose="020F0502020204030204" pitchFamily="34" charset="0"/>
                <a:cs typeface="Arial" panose="020B0604020202020204" pitchFamily="34" charset="0"/>
              </a:rPr>
              <a:t>Bloqueios (</a:t>
            </a:r>
            <a:r>
              <a:rPr lang="pt-BR" altLang="pt-BR" sz="1900" dirty="0" err="1">
                <a:solidFill>
                  <a:schemeClr val="tx1"/>
                </a:solidFill>
                <a:latin typeface="Arial" panose="020B0604020202020204" pitchFamily="34" charset="0"/>
                <a:ea typeface="Calibri" panose="020F0502020204030204" pitchFamily="34" charset="0"/>
                <a:cs typeface="Arial" panose="020B0604020202020204" pitchFamily="34" charset="0"/>
              </a:rPr>
              <a:t>Locks</a:t>
            </a:r>
            <a:r>
              <a:rPr lang="pt-BR" altLang="pt-BR" sz="1900" dirty="0">
                <a:solidFill>
                  <a:schemeClr val="tx1"/>
                </a:solidFill>
                <a:latin typeface="Arial" panose="020B0604020202020204" pitchFamily="34" charset="0"/>
                <a:ea typeface="Calibri" panose="020F0502020204030204" pitchFamily="34" charset="0"/>
                <a:cs typeface="Arial" panose="020B0604020202020204" pitchFamily="34" charset="0"/>
              </a:rPr>
              <a:t>)</a:t>
            </a:r>
            <a:endParaRPr lang="pt-BR" altLang="pt-BR" sz="1900" dirty="0">
              <a:solidFill>
                <a:schemeClr val="tx1"/>
              </a:solidFill>
              <a:latin typeface="Arial" panose="020B0604020202020204" pitchFamily="34" charset="0"/>
              <a:cs typeface="Arial" panose="020B0604020202020204" pitchFamily="34" charset="0"/>
            </a:endParaRPr>
          </a:p>
          <a:p>
            <a:pPr algn="just" eaLnBrk="1" hangingPunct="1">
              <a:buClr>
                <a:srgbClr val="ED145B"/>
              </a:buClr>
              <a:defRPr/>
            </a:pPr>
            <a:endParaRPr lang="pt-BR" altLang="pt-BR" sz="1877"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EF550CCE-D12E-F137-4780-2270F8CC0EDA}"/>
              </a:ext>
            </a:extLst>
          </p:cNvPr>
          <p:cNvSpPr txBox="1"/>
          <p:nvPr/>
        </p:nvSpPr>
        <p:spPr>
          <a:xfrm>
            <a:off x="578220" y="1451091"/>
            <a:ext cx="2595519" cy="369332"/>
          </a:xfrm>
          <a:prstGeom prst="rect">
            <a:avLst/>
          </a:prstGeom>
          <a:noFill/>
        </p:spPr>
        <p:txBody>
          <a:bodyPr wrap="none" rtlCol="0">
            <a:spAutoFit/>
          </a:bodyPr>
          <a:lstStyle/>
          <a:p>
            <a:pPr marL="285750" indent="-285750">
              <a:buFont typeface="Arial" panose="020B0604020202020204" pitchFamily="34" charset="0"/>
              <a:buChar char="•"/>
            </a:pPr>
            <a:r>
              <a:rPr lang="pt-BR" dirty="0">
                <a:solidFill>
                  <a:srgbClr val="FF0000"/>
                </a:solidFill>
              </a:rPr>
              <a:t>Conceitos Importantes</a:t>
            </a:r>
          </a:p>
        </p:txBody>
      </p:sp>
      <p:pic>
        <p:nvPicPr>
          <p:cNvPr id="4" name="Picture 3" descr="A diagram of a diagram of a diagram&#10;&#10;AI-generated content may be incorrect.">
            <a:extLst>
              <a:ext uri="{FF2B5EF4-FFF2-40B4-BE49-F238E27FC236}">
                <a16:creationId xmlns:a16="http://schemas.microsoft.com/office/drawing/2014/main" id="{8AAADF13-9D64-0488-69E8-A1CC30169126}"/>
              </a:ext>
            </a:extLst>
          </p:cNvPr>
          <p:cNvPicPr>
            <a:picLocks noChangeAspect="1"/>
          </p:cNvPicPr>
          <p:nvPr/>
        </p:nvPicPr>
        <p:blipFill>
          <a:blip r:embed="rId2"/>
          <a:stretch>
            <a:fillRect/>
          </a:stretch>
        </p:blipFill>
        <p:spPr>
          <a:xfrm>
            <a:off x="5622652" y="2002542"/>
            <a:ext cx="2358667" cy="14332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descr="A screenshot of a login&#10;&#10;AI-generated content may be incorrect.">
            <a:extLst>
              <a:ext uri="{FF2B5EF4-FFF2-40B4-BE49-F238E27FC236}">
                <a16:creationId xmlns:a16="http://schemas.microsoft.com/office/drawing/2014/main" id="{FB63913B-1FF2-A7C1-F57D-747AD82C78FF}"/>
              </a:ext>
            </a:extLst>
          </p:cNvPr>
          <p:cNvPicPr>
            <a:picLocks noChangeAspect="1"/>
          </p:cNvPicPr>
          <p:nvPr/>
        </p:nvPicPr>
        <p:blipFill>
          <a:blip r:embed="rId3"/>
          <a:stretch>
            <a:fillRect/>
          </a:stretch>
        </p:blipFill>
        <p:spPr>
          <a:xfrm>
            <a:off x="3896178" y="3315695"/>
            <a:ext cx="2751360" cy="14332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AB6DDDE4-B1F3-1019-E32A-89282AF8EB18}"/>
              </a:ext>
            </a:extLst>
          </p:cNvPr>
          <p:cNvCxnSpPr/>
          <p:nvPr/>
        </p:nvCxnSpPr>
        <p:spPr>
          <a:xfrm>
            <a:off x="3760546" y="2264805"/>
            <a:ext cx="17319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Connector: Elbow 9">
            <a:extLst>
              <a:ext uri="{FF2B5EF4-FFF2-40B4-BE49-F238E27FC236}">
                <a16:creationId xmlns:a16="http://schemas.microsoft.com/office/drawing/2014/main" id="{005F434D-9B78-F4F0-C115-8DD619FDE769}"/>
              </a:ext>
            </a:extLst>
          </p:cNvPr>
          <p:cNvCxnSpPr>
            <a:endCxn id="6" idx="0"/>
          </p:cNvCxnSpPr>
          <p:nvPr/>
        </p:nvCxnSpPr>
        <p:spPr>
          <a:xfrm>
            <a:off x="3948270" y="2737144"/>
            <a:ext cx="1323588" cy="57855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Scroll: Horizontal 11">
            <a:extLst>
              <a:ext uri="{FF2B5EF4-FFF2-40B4-BE49-F238E27FC236}">
                <a16:creationId xmlns:a16="http://schemas.microsoft.com/office/drawing/2014/main" id="{995A557A-0FE7-32E1-5555-674201B576AD}"/>
              </a:ext>
            </a:extLst>
          </p:cNvPr>
          <p:cNvSpPr/>
          <p:nvPr/>
        </p:nvSpPr>
        <p:spPr>
          <a:xfrm>
            <a:off x="6413185" y="4363638"/>
            <a:ext cx="989673" cy="355021"/>
          </a:xfrm>
          <a:prstGeom prst="horizontalScroll">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pt-BR" sz="800" dirty="0"/>
              <a:t>IDEMPOTÊNCIA</a:t>
            </a:r>
          </a:p>
        </p:txBody>
      </p:sp>
    </p:spTree>
    <p:extLst>
      <p:ext uri="{BB962C8B-B14F-4D97-AF65-F5344CB8AC3E}">
        <p14:creationId xmlns:p14="http://schemas.microsoft.com/office/powerpoint/2010/main" val="160382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0EC21C92-F0FD-4EF8-BC9B-C3600AA77D15}"/>
              </a:ext>
            </a:extLst>
          </p:cNvPr>
          <p:cNvSpPr>
            <a:spLocks noGrp="1"/>
          </p:cNvSpPr>
          <p:nvPr>
            <p:ph type="ctrTitle"/>
          </p:nvPr>
        </p:nvSpPr>
        <p:spPr>
          <a:xfrm>
            <a:off x="1842348" y="203200"/>
            <a:ext cx="5459303" cy="586916"/>
          </a:xfrm>
        </p:spPr>
        <p:txBody>
          <a:bodyPr>
            <a:normAutofit/>
          </a:bodyPr>
          <a:lstStyle/>
          <a:p>
            <a:pPr eaLnBrk="1" hangingPunct="1"/>
            <a:r>
              <a:rPr lang="pt-BR" altLang="pt-BR" dirty="0">
                <a:solidFill>
                  <a:srgbClr val="ED145B"/>
                </a:solidFill>
              </a:rPr>
              <a:t>Transação / Concorrência</a:t>
            </a:r>
          </a:p>
        </p:txBody>
      </p:sp>
      <p:sp>
        <p:nvSpPr>
          <p:cNvPr id="9" name="Subtítulo 2">
            <a:extLst>
              <a:ext uri="{FF2B5EF4-FFF2-40B4-BE49-F238E27FC236}">
                <a16:creationId xmlns:a16="http://schemas.microsoft.com/office/drawing/2014/main" id="{6732612D-25FA-4D55-8C68-0EE46461E341}"/>
              </a:ext>
            </a:extLst>
          </p:cNvPr>
          <p:cNvSpPr txBox="1">
            <a:spLocks/>
          </p:cNvSpPr>
          <p:nvPr/>
        </p:nvSpPr>
        <p:spPr>
          <a:xfrm>
            <a:off x="527855" y="1030489"/>
            <a:ext cx="8219378" cy="20701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285750" indent="-285750" algn="just">
              <a:lnSpc>
                <a:spcPct val="150000"/>
              </a:lnSpc>
              <a:buClr>
                <a:srgbClr val="ED145B"/>
              </a:buClr>
              <a:buFont typeface="Arial" panose="020B0604020202020204" pitchFamily="34" charset="0"/>
              <a:buChar char="•"/>
              <a:defRPr/>
            </a:pP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Para descrever o comportamento consistente da transação quando as transações são executadas simultaneamente, os pesquisadores do banco de dados definiram um modelo de </a:t>
            </a:r>
            <a:r>
              <a:rPr lang="pt-BR" sz="1800" b="1" dirty="0">
                <a:solidFill>
                  <a:schemeClr val="tx1"/>
                </a:solidFill>
                <a:latin typeface="Arial" panose="020B0604020202020204" pitchFamily="34" charset="0"/>
                <a:ea typeface="Calibri" panose="020F0502020204030204" pitchFamily="34" charset="0"/>
                <a:cs typeface="Arial" panose="020B0604020202020204" pitchFamily="34" charset="0"/>
              </a:rPr>
              <a:t>isolamento</a:t>
            </a: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 de transação denominado </a:t>
            </a:r>
            <a:r>
              <a:rPr lang="pt-BR" sz="1800" b="1" dirty="0" err="1">
                <a:solidFill>
                  <a:schemeClr val="tx1"/>
                </a:solidFill>
                <a:latin typeface="Arial" panose="020B0604020202020204" pitchFamily="34" charset="0"/>
                <a:ea typeface="Calibri" panose="020F0502020204030204" pitchFamily="34" charset="0"/>
                <a:cs typeface="Arial" panose="020B0604020202020204" pitchFamily="34" charset="0"/>
              </a:rPr>
              <a:t>serializabilidade</a:t>
            </a: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a:t>
            </a:r>
          </a:p>
          <a:p>
            <a:pPr algn="just">
              <a:defRPr/>
            </a:pPr>
            <a:endParaRPr lang="pt-BR" altLang="pt-BR" sz="1877"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CBD0967-190E-6AA5-BE79-508B0A6ABB82}"/>
              </a:ext>
            </a:extLst>
          </p:cNvPr>
          <p:cNvSpPr txBox="1"/>
          <p:nvPr/>
        </p:nvSpPr>
        <p:spPr>
          <a:xfrm>
            <a:off x="760033" y="2918988"/>
            <a:ext cx="7914067" cy="1754326"/>
          </a:xfrm>
          <a:prstGeom prst="rect">
            <a:avLst/>
          </a:prstGeom>
          <a:noFill/>
        </p:spPr>
        <p:txBody>
          <a:bodyPr wrap="square">
            <a:spAutoFit/>
          </a:bodyPr>
          <a:lstStyle/>
          <a:p>
            <a:r>
              <a:rPr lang="pt-BR" dirty="0"/>
              <a:t>Isso garante que múltiplas transações simultâneas sejam executadas como se fossem executadas em sequência, uma após a outra, sem interferência mútua, evitando assim problemas como perda de dados e inconsistências.</a:t>
            </a:r>
          </a:p>
          <a:p>
            <a:endParaRPr lang="pt-BR" dirty="0"/>
          </a:p>
          <a:p>
            <a:r>
              <a:rPr lang="pt-BR" dirty="0"/>
              <a:t>O nível de Isolamento pode ser definido na transação ou em configurações do Sistema Gerenciador de Banco de Dados</a:t>
            </a:r>
          </a:p>
        </p:txBody>
      </p:sp>
    </p:spTree>
    <p:extLst>
      <p:ext uri="{BB962C8B-B14F-4D97-AF65-F5344CB8AC3E}">
        <p14:creationId xmlns:p14="http://schemas.microsoft.com/office/powerpoint/2010/main" val="1109272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D8F8A-0088-8907-ED48-743A6EB4D82E}"/>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C86E65AD-0122-F9FE-986A-42DED8B11ABF}"/>
              </a:ext>
            </a:extLst>
          </p:cNvPr>
          <p:cNvSpPr>
            <a:spLocks noGrp="1"/>
          </p:cNvSpPr>
          <p:nvPr>
            <p:ph type="ctrTitle"/>
          </p:nvPr>
        </p:nvSpPr>
        <p:spPr>
          <a:xfrm>
            <a:off x="1842348" y="203200"/>
            <a:ext cx="5459303" cy="586916"/>
          </a:xfrm>
        </p:spPr>
        <p:txBody>
          <a:bodyPr>
            <a:normAutofit/>
          </a:bodyPr>
          <a:lstStyle/>
          <a:p>
            <a:pPr eaLnBrk="1" hangingPunct="1"/>
            <a:r>
              <a:rPr lang="pt-BR" altLang="pt-BR" dirty="0">
                <a:solidFill>
                  <a:srgbClr val="ED145B"/>
                </a:solidFill>
              </a:rPr>
              <a:t>Transação / Concorrência</a:t>
            </a:r>
          </a:p>
        </p:txBody>
      </p:sp>
      <p:sp>
        <p:nvSpPr>
          <p:cNvPr id="9" name="Subtítulo 2">
            <a:extLst>
              <a:ext uri="{FF2B5EF4-FFF2-40B4-BE49-F238E27FC236}">
                <a16:creationId xmlns:a16="http://schemas.microsoft.com/office/drawing/2014/main" id="{60622C82-F4B0-A0A3-8CB2-AB27D4B77542}"/>
              </a:ext>
            </a:extLst>
          </p:cNvPr>
          <p:cNvSpPr txBox="1">
            <a:spLocks/>
          </p:cNvSpPr>
          <p:nvPr/>
        </p:nvSpPr>
        <p:spPr>
          <a:xfrm>
            <a:off x="527855" y="1030489"/>
            <a:ext cx="8219378" cy="20701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285750" indent="-285750" algn="just">
              <a:lnSpc>
                <a:spcPct val="150000"/>
              </a:lnSpc>
              <a:buClr>
                <a:srgbClr val="ED145B"/>
              </a:buClr>
              <a:buFont typeface="Arial" panose="020B0604020202020204" pitchFamily="34" charset="0"/>
              <a:buChar char="•"/>
              <a:defRPr/>
            </a:pP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Bloqueios (</a:t>
            </a:r>
            <a:r>
              <a:rPr lang="pt-BR" sz="1800" dirty="0" err="1">
                <a:solidFill>
                  <a:schemeClr val="tx1"/>
                </a:solidFill>
                <a:latin typeface="Arial" panose="020B0604020202020204" pitchFamily="34" charset="0"/>
                <a:ea typeface="Calibri" panose="020F0502020204030204" pitchFamily="34" charset="0"/>
                <a:cs typeface="Arial" panose="020B0604020202020204" pitchFamily="34" charset="0"/>
              </a:rPr>
              <a:t>Lock</a:t>
            </a: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a:t>
            </a:r>
          </a:p>
          <a:p>
            <a:pPr algn="just">
              <a:defRPr/>
            </a:pPr>
            <a:endParaRPr lang="pt-BR" altLang="pt-BR" sz="1877"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8546AC4-01BE-3CA8-D6BB-BBB85BB752F0}"/>
              </a:ext>
            </a:extLst>
          </p:cNvPr>
          <p:cNvSpPr txBox="1"/>
          <p:nvPr/>
        </p:nvSpPr>
        <p:spPr>
          <a:xfrm>
            <a:off x="760033" y="1650801"/>
            <a:ext cx="7914067" cy="923330"/>
          </a:xfrm>
          <a:prstGeom prst="rect">
            <a:avLst/>
          </a:prstGeom>
          <a:noFill/>
        </p:spPr>
        <p:txBody>
          <a:bodyPr wrap="square">
            <a:spAutoFit/>
          </a:bodyPr>
          <a:lstStyle/>
          <a:p>
            <a:r>
              <a:rPr lang="pt-BR" dirty="0"/>
              <a:t>Um dos mecanismos comuns é o uso de bloqueios. Cada vez que uma transação tenta acessar um dado, um bloqueio é colocado sobre ele. Se outra transação tentar acessar o mesmo dado, ela será bloqueada até que o bloqueio seja liberado</a:t>
            </a:r>
          </a:p>
        </p:txBody>
      </p:sp>
      <p:sp>
        <p:nvSpPr>
          <p:cNvPr id="3" name="TextBox 2">
            <a:extLst>
              <a:ext uri="{FF2B5EF4-FFF2-40B4-BE49-F238E27FC236}">
                <a16:creationId xmlns:a16="http://schemas.microsoft.com/office/drawing/2014/main" id="{501958BD-9BF5-C271-6871-4F7E71861E86}"/>
              </a:ext>
            </a:extLst>
          </p:cNvPr>
          <p:cNvSpPr txBox="1"/>
          <p:nvPr/>
        </p:nvSpPr>
        <p:spPr>
          <a:xfrm>
            <a:off x="527855" y="2800823"/>
            <a:ext cx="4044146" cy="872034"/>
          </a:xfrm>
          <a:prstGeom prst="rect">
            <a:avLst/>
          </a:prstGeom>
          <a:noFill/>
        </p:spPr>
        <p:txBody>
          <a:bodyPr wrap="square">
            <a:spAutoFit/>
          </a:bodyPr>
          <a:lstStyle/>
          <a:p>
            <a:pPr marL="285750" indent="-285750" algn="just">
              <a:lnSpc>
                <a:spcPct val="150000"/>
              </a:lnSpc>
              <a:buClr>
                <a:srgbClr val="ED145B"/>
              </a:buClr>
              <a:buFont typeface="Arial" panose="020B0604020202020204" pitchFamily="34" charset="0"/>
              <a:buChar char="•"/>
              <a:defRPr/>
            </a:pP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Pode ser definido pelo SGBD em diversos níveis (granularidade)</a:t>
            </a:r>
          </a:p>
        </p:txBody>
      </p:sp>
      <p:pic>
        <p:nvPicPr>
          <p:cNvPr id="11" name="Picture 10" descr="A diagram of a computer program&#10;&#10;AI-generated content may be incorrect.">
            <a:extLst>
              <a:ext uri="{FF2B5EF4-FFF2-40B4-BE49-F238E27FC236}">
                <a16:creationId xmlns:a16="http://schemas.microsoft.com/office/drawing/2014/main" id="{889A6E53-B3F5-446E-5A19-5249DE7BBD88}"/>
              </a:ext>
            </a:extLst>
          </p:cNvPr>
          <p:cNvPicPr>
            <a:picLocks noChangeAspect="1"/>
          </p:cNvPicPr>
          <p:nvPr/>
        </p:nvPicPr>
        <p:blipFill>
          <a:blip r:embed="rId2"/>
          <a:stretch>
            <a:fillRect/>
          </a:stretch>
        </p:blipFill>
        <p:spPr>
          <a:xfrm>
            <a:off x="5273081" y="2890494"/>
            <a:ext cx="2235900" cy="2036097"/>
          </a:xfrm>
          <a:prstGeom prst="rect">
            <a:avLst/>
          </a:prstGeom>
        </p:spPr>
      </p:pic>
    </p:spTree>
    <p:extLst>
      <p:ext uri="{BB962C8B-B14F-4D97-AF65-F5344CB8AC3E}">
        <p14:creationId xmlns:p14="http://schemas.microsoft.com/office/powerpoint/2010/main" val="2768110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18C89-727A-47AC-8C96-01AF0E1F45EE}"/>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8EBF4FD9-520A-A70B-B65C-D79F73F1B6B1}"/>
              </a:ext>
            </a:extLst>
          </p:cNvPr>
          <p:cNvSpPr>
            <a:spLocks noGrp="1"/>
          </p:cNvSpPr>
          <p:nvPr>
            <p:ph type="ctrTitle"/>
          </p:nvPr>
        </p:nvSpPr>
        <p:spPr>
          <a:xfrm>
            <a:off x="1842348" y="203200"/>
            <a:ext cx="5459303" cy="586916"/>
          </a:xfrm>
        </p:spPr>
        <p:txBody>
          <a:bodyPr>
            <a:normAutofit/>
          </a:bodyPr>
          <a:lstStyle/>
          <a:p>
            <a:pPr eaLnBrk="1" hangingPunct="1"/>
            <a:r>
              <a:rPr lang="pt-BR" altLang="pt-BR" dirty="0">
                <a:solidFill>
                  <a:srgbClr val="ED145B"/>
                </a:solidFill>
              </a:rPr>
              <a:t>Transação / Concorrência</a:t>
            </a:r>
          </a:p>
        </p:txBody>
      </p:sp>
      <p:sp>
        <p:nvSpPr>
          <p:cNvPr id="9" name="Subtítulo 2">
            <a:extLst>
              <a:ext uri="{FF2B5EF4-FFF2-40B4-BE49-F238E27FC236}">
                <a16:creationId xmlns:a16="http://schemas.microsoft.com/office/drawing/2014/main" id="{0FD39968-EDE4-A9AF-EB5E-6804A6A7B558}"/>
              </a:ext>
            </a:extLst>
          </p:cNvPr>
          <p:cNvSpPr txBox="1">
            <a:spLocks/>
          </p:cNvSpPr>
          <p:nvPr/>
        </p:nvSpPr>
        <p:spPr>
          <a:xfrm>
            <a:off x="527855" y="1030489"/>
            <a:ext cx="8219378" cy="586916"/>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285750" indent="-285750" algn="just">
              <a:lnSpc>
                <a:spcPct val="150000"/>
              </a:lnSpc>
              <a:buClr>
                <a:srgbClr val="ED145B"/>
              </a:buClr>
              <a:buFont typeface="Arial" panose="020B0604020202020204" pitchFamily="34" charset="0"/>
              <a:buChar char="•"/>
              <a:defRPr/>
            </a:pP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Bloqueios</a:t>
            </a:r>
          </a:p>
          <a:p>
            <a:pPr algn="just">
              <a:defRPr/>
            </a:pPr>
            <a:endParaRPr lang="pt-BR" altLang="pt-BR" sz="1877" dirty="0">
              <a:latin typeface="Arial" panose="020B0604020202020204" pitchFamily="34" charset="0"/>
              <a:cs typeface="Arial" panose="020B0604020202020204" pitchFamily="34" charset="0"/>
            </a:endParaRPr>
          </a:p>
        </p:txBody>
      </p:sp>
      <p:pic>
        <p:nvPicPr>
          <p:cNvPr id="5" name="Picture 4" descr="A red stamp with text&#10;&#10;AI-generated content may be incorrect.">
            <a:extLst>
              <a:ext uri="{FF2B5EF4-FFF2-40B4-BE49-F238E27FC236}">
                <a16:creationId xmlns:a16="http://schemas.microsoft.com/office/drawing/2014/main" id="{7B4FB246-A969-B9BC-EFD8-8A657101128D}"/>
              </a:ext>
            </a:extLst>
          </p:cNvPr>
          <p:cNvPicPr>
            <a:picLocks noChangeAspect="1"/>
          </p:cNvPicPr>
          <p:nvPr/>
        </p:nvPicPr>
        <p:blipFill>
          <a:blip r:embed="rId2"/>
          <a:stretch>
            <a:fillRect/>
          </a:stretch>
        </p:blipFill>
        <p:spPr>
          <a:xfrm>
            <a:off x="800570" y="1909132"/>
            <a:ext cx="2647950" cy="1733550"/>
          </a:xfrm>
          <a:prstGeom prst="rect">
            <a:avLst/>
          </a:prstGeom>
        </p:spPr>
      </p:pic>
      <p:pic>
        <p:nvPicPr>
          <p:cNvPr id="12" name="Picture 11">
            <a:extLst>
              <a:ext uri="{FF2B5EF4-FFF2-40B4-BE49-F238E27FC236}">
                <a16:creationId xmlns:a16="http://schemas.microsoft.com/office/drawing/2014/main" id="{2CCCF21D-21E1-3FAF-05D8-119BB30E4CFA}"/>
              </a:ext>
            </a:extLst>
          </p:cNvPr>
          <p:cNvPicPr>
            <a:picLocks noChangeAspect="1"/>
          </p:cNvPicPr>
          <p:nvPr/>
        </p:nvPicPr>
        <p:blipFill>
          <a:blip r:embed="rId3"/>
          <a:stretch>
            <a:fillRect/>
          </a:stretch>
        </p:blipFill>
        <p:spPr>
          <a:xfrm>
            <a:off x="4065797" y="1419744"/>
            <a:ext cx="4550348" cy="251466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29254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36D54-BEA9-EDE3-0790-B2E06A3B915D}"/>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64CF6F30-7193-B13D-4E3D-F62F4ABB8C6F}"/>
              </a:ext>
            </a:extLst>
          </p:cNvPr>
          <p:cNvSpPr>
            <a:spLocks noGrp="1"/>
          </p:cNvSpPr>
          <p:nvPr>
            <p:ph type="ctrTitle"/>
          </p:nvPr>
        </p:nvSpPr>
        <p:spPr>
          <a:xfrm>
            <a:off x="1842348" y="203200"/>
            <a:ext cx="5459303" cy="586916"/>
          </a:xfrm>
        </p:spPr>
        <p:txBody>
          <a:bodyPr>
            <a:normAutofit/>
          </a:bodyPr>
          <a:lstStyle/>
          <a:p>
            <a:pPr eaLnBrk="1" hangingPunct="1"/>
            <a:r>
              <a:rPr lang="pt-BR" altLang="pt-BR" dirty="0">
                <a:solidFill>
                  <a:srgbClr val="ED145B"/>
                </a:solidFill>
              </a:rPr>
              <a:t>Transação / Concorrência</a:t>
            </a:r>
          </a:p>
        </p:txBody>
      </p:sp>
      <p:sp>
        <p:nvSpPr>
          <p:cNvPr id="9" name="Subtítulo 2">
            <a:extLst>
              <a:ext uri="{FF2B5EF4-FFF2-40B4-BE49-F238E27FC236}">
                <a16:creationId xmlns:a16="http://schemas.microsoft.com/office/drawing/2014/main" id="{6BB29BE9-1729-48DF-3AFB-250DB6D31E2E}"/>
              </a:ext>
            </a:extLst>
          </p:cNvPr>
          <p:cNvSpPr txBox="1">
            <a:spLocks/>
          </p:cNvSpPr>
          <p:nvPr/>
        </p:nvSpPr>
        <p:spPr>
          <a:xfrm>
            <a:off x="527855" y="1030489"/>
            <a:ext cx="8219378" cy="1010812"/>
          </a:xfrm>
          <a:prstGeom prst="rect">
            <a:avLst/>
          </a:prstGeom>
        </p:spPr>
        <p:txBody>
          <a:bodyPr vert="horz" lIns="91440" tIns="45720" rIns="91440" bIns="45720" rtlCol="0">
            <a:normAutofit fontScale="92500"/>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285750" indent="-285750" algn="just">
              <a:lnSpc>
                <a:spcPct val="150000"/>
              </a:lnSpc>
              <a:buClr>
                <a:srgbClr val="ED145B"/>
              </a:buClr>
              <a:buFont typeface="Arial" panose="020B0604020202020204" pitchFamily="34" charset="0"/>
              <a:buChar char="•"/>
              <a:defRPr/>
            </a:pP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Bloqueios: O DBA pode identificar os bloqueios e decidir o que fazer (notificar o usuário ou encerrar a sessão, forçando um </a:t>
            </a:r>
            <a:r>
              <a:rPr lang="pt-BR" sz="1800" dirty="0" err="1">
                <a:solidFill>
                  <a:schemeClr val="tx1"/>
                </a:solidFill>
                <a:latin typeface="Arial" panose="020B0604020202020204" pitchFamily="34" charset="0"/>
                <a:ea typeface="Calibri" panose="020F0502020204030204" pitchFamily="34" charset="0"/>
                <a:cs typeface="Arial" panose="020B0604020202020204" pitchFamily="34" charset="0"/>
              </a:rPr>
              <a:t>rollback</a:t>
            </a:r>
            <a:r>
              <a:rPr lang="pt-BR" sz="1800" dirty="0">
                <a:solidFill>
                  <a:schemeClr val="tx1"/>
                </a:solidFill>
                <a:latin typeface="Arial" panose="020B0604020202020204" pitchFamily="34" charset="0"/>
                <a:ea typeface="Calibri" panose="020F0502020204030204" pitchFamily="34" charset="0"/>
                <a:cs typeface="Arial" panose="020B0604020202020204" pitchFamily="34" charset="0"/>
              </a:rPr>
              <a:t> de uma delas</a:t>
            </a:r>
          </a:p>
          <a:p>
            <a:pPr algn="just">
              <a:defRPr/>
            </a:pPr>
            <a:endParaRPr lang="pt-BR" altLang="pt-BR" sz="1877"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AF7083C-6C98-EADD-F466-47DE4C2D48B0}"/>
              </a:ext>
            </a:extLst>
          </p:cNvPr>
          <p:cNvSpPr txBox="1"/>
          <p:nvPr/>
        </p:nvSpPr>
        <p:spPr>
          <a:xfrm>
            <a:off x="730135" y="1941491"/>
            <a:ext cx="3152845" cy="2492990"/>
          </a:xfrm>
          <a:prstGeom prst="rect">
            <a:avLst/>
          </a:prstGeom>
          <a:solidFill>
            <a:schemeClr val="bg1">
              <a:lumMod val="95000"/>
            </a:schemeClr>
          </a:solidFill>
        </p:spPr>
        <p:txBody>
          <a:bodyPr wrap="square">
            <a:spAutoFit/>
          </a:bodyPr>
          <a:lstStyle/>
          <a:p>
            <a:r>
              <a:rPr lang="pt-BR" sz="1200" i="1" dirty="0" err="1"/>
              <a:t>select</a:t>
            </a:r>
            <a:r>
              <a:rPr lang="pt-BR" sz="1200" i="1" dirty="0"/>
              <a:t> </a:t>
            </a:r>
            <a:r>
              <a:rPr lang="pt-BR" sz="1200" i="1" dirty="0" err="1"/>
              <a:t>a.sid</a:t>
            </a:r>
            <a:r>
              <a:rPr lang="pt-BR" sz="1200" i="1" dirty="0"/>
              <a:t> "</a:t>
            </a:r>
            <a:r>
              <a:rPr lang="pt-BR" sz="1200" i="1" dirty="0" err="1"/>
              <a:t>blocker</a:t>
            </a:r>
            <a:r>
              <a:rPr lang="pt-BR" sz="1200" i="1" dirty="0"/>
              <a:t> SID",</a:t>
            </a:r>
          </a:p>
          <a:p>
            <a:r>
              <a:rPr lang="pt-BR" sz="1200" i="1" dirty="0"/>
              <a:t>    '</a:t>
            </a:r>
            <a:r>
              <a:rPr lang="pt-BR" sz="1200" i="1" dirty="0" err="1"/>
              <a:t>is</a:t>
            </a:r>
            <a:r>
              <a:rPr lang="pt-BR" sz="1200" i="1" dirty="0"/>
              <a:t> </a:t>
            </a:r>
            <a:r>
              <a:rPr lang="pt-BR" sz="1200" i="1" dirty="0" err="1"/>
              <a:t>blocking</a:t>
            </a:r>
            <a:r>
              <a:rPr lang="pt-BR" sz="1200" i="1" dirty="0"/>
              <a:t>',</a:t>
            </a:r>
          </a:p>
          <a:p>
            <a:r>
              <a:rPr lang="pt-BR" sz="1200" i="1" dirty="0"/>
              <a:t>    </a:t>
            </a:r>
            <a:r>
              <a:rPr lang="pt-BR" sz="1200" i="1" dirty="0" err="1"/>
              <a:t>b.sid</a:t>
            </a:r>
            <a:r>
              <a:rPr lang="pt-BR" sz="1200" i="1" dirty="0"/>
              <a:t> "</a:t>
            </a:r>
            <a:r>
              <a:rPr lang="pt-BR" sz="1200" i="1" dirty="0" err="1"/>
              <a:t>blockee</a:t>
            </a:r>
            <a:r>
              <a:rPr lang="pt-BR" sz="1200" i="1" dirty="0"/>
              <a:t> SID", </a:t>
            </a:r>
          </a:p>
          <a:p>
            <a:r>
              <a:rPr lang="pt-BR" sz="1200" i="1" dirty="0"/>
              <a:t>    b1.ROW_WAIT_FILE# "</a:t>
            </a:r>
            <a:r>
              <a:rPr lang="pt-BR" sz="1200" i="1" dirty="0" err="1"/>
              <a:t>locked</a:t>
            </a:r>
            <a:r>
              <a:rPr lang="pt-BR" sz="1200" i="1" dirty="0"/>
              <a:t> file", </a:t>
            </a:r>
          </a:p>
          <a:p>
            <a:r>
              <a:rPr lang="pt-BR" sz="1200" i="1" dirty="0"/>
              <a:t>    b1.ROW_WAIT_BLOCK# "</a:t>
            </a:r>
            <a:r>
              <a:rPr lang="pt-BR" sz="1200" i="1" dirty="0" err="1"/>
              <a:t>locked</a:t>
            </a:r>
            <a:r>
              <a:rPr lang="pt-BR" sz="1200" i="1" dirty="0"/>
              <a:t> </a:t>
            </a:r>
            <a:r>
              <a:rPr lang="pt-BR" sz="1200" i="1" dirty="0" err="1"/>
              <a:t>block</a:t>
            </a:r>
            <a:r>
              <a:rPr lang="pt-BR" sz="1200" i="1" dirty="0"/>
              <a:t>",</a:t>
            </a:r>
          </a:p>
          <a:p>
            <a:r>
              <a:rPr lang="pt-BR" sz="1200" i="1" dirty="0"/>
              <a:t>    b1.ROW_WAIT_ROW# "</a:t>
            </a:r>
            <a:r>
              <a:rPr lang="pt-BR" sz="1200" i="1" dirty="0" err="1"/>
              <a:t>locked</a:t>
            </a:r>
            <a:r>
              <a:rPr lang="pt-BR" sz="1200" i="1" dirty="0"/>
              <a:t> </a:t>
            </a:r>
            <a:r>
              <a:rPr lang="pt-BR" sz="1200" i="1" dirty="0" err="1"/>
              <a:t>row</a:t>
            </a:r>
            <a:r>
              <a:rPr lang="pt-BR" sz="1200" i="1" dirty="0"/>
              <a:t>",</a:t>
            </a:r>
          </a:p>
          <a:p>
            <a:r>
              <a:rPr lang="pt-BR" sz="1200" i="1" dirty="0"/>
              <a:t>    b1.ROW_WAIT_OBJ# "</a:t>
            </a:r>
            <a:r>
              <a:rPr lang="pt-BR" sz="1200" i="1" dirty="0" err="1"/>
              <a:t>locked</a:t>
            </a:r>
            <a:r>
              <a:rPr lang="pt-BR" sz="1200" i="1" dirty="0"/>
              <a:t> </a:t>
            </a:r>
            <a:r>
              <a:rPr lang="pt-BR" sz="1200" i="1" dirty="0" err="1"/>
              <a:t>object</a:t>
            </a:r>
            <a:r>
              <a:rPr lang="pt-BR" sz="1200" i="1" dirty="0"/>
              <a:t> ID",</a:t>
            </a:r>
          </a:p>
          <a:p>
            <a:r>
              <a:rPr lang="pt-BR" sz="1200" i="1" dirty="0"/>
              <a:t>    FINAL_BLOCKING_SESSION</a:t>
            </a:r>
          </a:p>
          <a:p>
            <a:r>
              <a:rPr lang="pt-BR" sz="1200" i="1" dirty="0"/>
              <a:t>    </a:t>
            </a:r>
            <a:r>
              <a:rPr lang="pt-BR" sz="1200" i="1" dirty="0" err="1"/>
              <a:t>from</a:t>
            </a:r>
            <a:r>
              <a:rPr lang="pt-BR" sz="1200" i="1" dirty="0"/>
              <a:t> </a:t>
            </a:r>
            <a:r>
              <a:rPr lang="pt-BR" sz="1200" i="1" dirty="0" err="1"/>
              <a:t>v$lock</a:t>
            </a:r>
            <a:r>
              <a:rPr lang="pt-BR" sz="1200" i="1" dirty="0"/>
              <a:t> a, </a:t>
            </a:r>
            <a:r>
              <a:rPr lang="pt-BR" sz="1200" i="1" dirty="0" err="1"/>
              <a:t>v$lock</a:t>
            </a:r>
            <a:r>
              <a:rPr lang="pt-BR" sz="1200" i="1" dirty="0"/>
              <a:t> b, </a:t>
            </a:r>
            <a:r>
              <a:rPr lang="pt-BR" sz="1200" i="1" dirty="0" err="1"/>
              <a:t>v$session</a:t>
            </a:r>
            <a:r>
              <a:rPr lang="pt-BR" sz="1200" i="1" dirty="0"/>
              <a:t> b1</a:t>
            </a:r>
          </a:p>
          <a:p>
            <a:r>
              <a:rPr lang="pt-BR" sz="1200" i="1" dirty="0"/>
              <a:t>    </a:t>
            </a:r>
            <a:r>
              <a:rPr lang="pt-BR" sz="1200" i="1" dirty="0" err="1"/>
              <a:t>where</a:t>
            </a:r>
            <a:r>
              <a:rPr lang="pt-BR" sz="1200" i="1" dirty="0"/>
              <a:t> </a:t>
            </a:r>
            <a:r>
              <a:rPr lang="pt-BR" sz="1200" i="1" dirty="0" err="1"/>
              <a:t>a.block</a:t>
            </a:r>
            <a:r>
              <a:rPr lang="pt-BR" sz="1200" i="1" dirty="0"/>
              <a:t> = 1 </a:t>
            </a:r>
            <a:r>
              <a:rPr lang="pt-BR" sz="1200" i="1" dirty="0" err="1"/>
              <a:t>and</a:t>
            </a:r>
            <a:endParaRPr lang="pt-BR" sz="1200" i="1" dirty="0"/>
          </a:p>
          <a:p>
            <a:r>
              <a:rPr lang="pt-BR" sz="1200" i="1" dirty="0"/>
              <a:t>   </a:t>
            </a:r>
            <a:r>
              <a:rPr lang="pt-BR" sz="1200" i="1" dirty="0" err="1"/>
              <a:t>b.request</a:t>
            </a:r>
            <a:r>
              <a:rPr lang="pt-BR" sz="1200" i="1" dirty="0"/>
              <a:t> &gt; 0 </a:t>
            </a:r>
            <a:r>
              <a:rPr lang="pt-BR" sz="1200" i="1" dirty="0" err="1"/>
              <a:t>and</a:t>
            </a:r>
            <a:endParaRPr lang="pt-BR" sz="1200" i="1" dirty="0"/>
          </a:p>
          <a:p>
            <a:r>
              <a:rPr lang="pt-BR" sz="1200" i="1" dirty="0"/>
              <a:t>   a.id1 = b.id1 </a:t>
            </a:r>
            <a:r>
              <a:rPr lang="pt-BR" sz="1200" i="1" dirty="0" err="1"/>
              <a:t>and</a:t>
            </a:r>
            <a:r>
              <a:rPr lang="pt-BR" sz="1200" i="1" dirty="0"/>
              <a:t> a.id2 = b.id2</a:t>
            </a:r>
          </a:p>
          <a:p>
            <a:r>
              <a:rPr lang="pt-BR" sz="1200" i="1" dirty="0"/>
              <a:t>   </a:t>
            </a:r>
            <a:r>
              <a:rPr lang="pt-BR" sz="1200" i="1" dirty="0" err="1"/>
              <a:t>and</a:t>
            </a:r>
            <a:r>
              <a:rPr lang="pt-BR" sz="1200" i="1" dirty="0"/>
              <a:t> b1.sid = </a:t>
            </a:r>
            <a:r>
              <a:rPr lang="pt-BR" sz="1200" i="1" dirty="0" err="1"/>
              <a:t>b.sid</a:t>
            </a:r>
            <a:r>
              <a:rPr lang="pt-BR" sz="1200" i="1" dirty="0"/>
              <a:t>;</a:t>
            </a:r>
          </a:p>
        </p:txBody>
      </p:sp>
      <p:pic>
        <p:nvPicPr>
          <p:cNvPr id="10" name="Picture 9">
            <a:extLst>
              <a:ext uri="{FF2B5EF4-FFF2-40B4-BE49-F238E27FC236}">
                <a16:creationId xmlns:a16="http://schemas.microsoft.com/office/drawing/2014/main" id="{F364E6F7-4B7B-5354-DC11-4EA4551E2F46}"/>
              </a:ext>
            </a:extLst>
          </p:cNvPr>
          <p:cNvPicPr>
            <a:picLocks noChangeAspect="1"/>
          </p:cNvPicPr>
          <p:nvPr/>
        </p:nvPicPr>
        <p:blipFill>
          <a:blip r:embed="rId2"/>
          <a:stretch>
            <a:fillRect/>
          </a:stretch>
        </p:blipFill>
        <p:spPr>
          <a:xfrm>
            <a:off x="3499539" y="3846241"/>
            <a:ext cx="5325022" cy="680808"/>
          </a:xfrm>
          <a:prstGeom prst="rect">
            <a:avLst/>
          </a:prstGeom>
        </p:spPr>
      </p:pic>
      <p:cxnSp>
        <p:nvCxnSpPr>
          <p:cNvPr id="13" name="Connector: Elbow 12">
            <a:extLst>
              <a:ext uri="{FF2B5EF4-FFF2-40B4-BE49-F238E27FC236}">
                <a16:creationId xmlns:a16="http://schemas.microsoft.com/office/drawing/2014/main" id="{67756EB6-CFF6-F939-C130-23E575E20826}"/>
              </a:ext>
            </a:extLst>
          </p:cNvPr>
          <p:cNvCxnSpPr>
            <a:stCxn id="3" idx="3"/>
            <a:endCxn id="10" idx="0"/>
          </p:cNvCxnSpPr>
          <p:nvPr/>
        </p:nvCxnSpPr>
        <p:spPr>
          <a:xfrm>
            <a:off x="3882980" y="3187986"/>
            <a:ext cx="2279070" cy="65825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A688963-747C-BE2D-76A8-F80F8BFB55CD}"/>
              </a:ext>
            </a:extLst>
          </p:cNvPr>
          <p:cNvSpPr txBox="1"/>
          <p:nvPr/>
        </p:nvSpPr>
        <p:spPr>
          <a:xfrm>
            <a:off x="4637544" y="2301126"/>
            <a:ext cx="3727284" cy="461665"/>
          </a:xfrm>
          <a:prstGeom prst="rect">
            <a:avLst/>
          </a:prstGeom>
          <a:solidFill>
            <a:schemeClr val="bg2"/>
          </a:solidFill>
        </p:spPr>
        <p:txBody>
          <a:bodyPr wrap="square">
            <a:spAutoFit/>
          </a:bodyPr>
          <a:lstStyle/>
          <a:p>
            <a:r>
              <a:rPr lang="pt-BR" sz="1200" dirty="0" err="1"/>
              <a:t>select</a:t>
            </a:r>
            <a:r>
              <a:rPr lang="pt-BR" sz="1200" dirty="0"/>
              <a:t> </a:t>
            </a:r>
            <a:r>
              <a:rPr lang="pt-BR" sz="1200" dirty="0" err="1"/>
              <a:t>sid</a:t>
            </a:r>
            <a:r>
              <a:rPr lang="pt-BR" sz="1200" dirty="0"/>
              <a:t>, </a:t>
            </a:r>
            <a:r>
              <a:rPr lang="pt-BR" sz="1200" dirty="0" err="1"/>
              <a:t>username</a:t>
            </a:r>
            <a:r>
              <a:rPr lang="pt-BR" sz="1200" dirty="0"/>
              <a:t> </a:t>
            </a:r>
            <a:r>
              <a:rPr lang="pt-BR" sz="1200" dirty="0" err="1"/>
              <a:t>from</a:t>
            </a:r>
            <a:r>
              <a:rPr lang="pt-BR" sz="1200" dirty="0"/>
              <a:t> </a:t>
            </a:r>
            <a:r>
              <a:rPr lang="pt-BR" sz="1200" dirty="0" err="1"/>
              <a:t>v$session</a:t>
            </a:r>
            <a:r>
              <a:rPr lang="pt-BR" sz="1200" dirty="0"/>
              <a:t> </a:t>
            </a:r>
            <a:r>
              <a:rPr lang="pt-BR" sz="1200" dirty="0" err="1"/>
              <a:t>where</a:t>
            </a:r>
            <a:r>
              <a:rPr lang="pt-BR" sz="1200" dirty="0"/>
              <a:t> </a:t>
            </a:r>
            <a:r>
              <a:rPr lang="pt-BR" sz="1200" dirty="0" err="1"/>
              <a:t>sid</a:t>
            </a:r>
            <a:r>
              <a:rPr lang="pt-BR" sz="1200" dirty="0"/>
              <a:t> = (</a:t>
            </a:r>
            <a:r>
              <a:rPr lang="pt-BR" sz="1200" dirty="0" err="1"/>
              <a:t>select</a:t>
            </a:r>
            <a:r>
              <a:rPr lang="pt-BR" sz="1200" dirty="0"/>
              <a:t> </a:t>
            </a:r>
            <a:r>
              <a:rPr lang="pt-BR" sz="1200" dirty="0" err="1"/>
              <a:t>sys_context</a:t>
            </a:r>
            <a:r>
              <a:rPr lang="pt-BR" sz="1200" dirty="0"/>
              <a:t>('USERENV','SID') </a:t>
            </a:r>
            <a:r>
              <a:rPr lang="pt-BR" sz="1200" dirty="0" err="1"/>
              <a:t>from</a:t>
            </a:r>
            <a:r>
              <a:rPr lang="pt-BR" sz="1200" dirty="0"/>
              <a:t> dual);</a:t>
            </a:r>
          </a:p>
        </p:txBody>
      </p:sp>
      <p:sp>
        <p:nvSpPr>
          <p:cNvPr id="19" name="TextBox 18">
            <a:extLst>
              <a:ext uri="{FF2B5EF4-FFF2-40B4-BE49-F238E27FC236}">
                <a16:creationId xmlns:a16="http://schemas.microsoft.com/office/drawing/2014/main" id="{59758C83-2612-5EEB-4A67-D28FF9188297}"/>
              </a:ext>
            </a:extLst>
          </p:cNvPr>
          <p:cNvSpPr txBox="1"/>
          <p:nvPr/>
        </p:nvSpPr>
        <p:spPr>
          <a:xfrm>
            <a:off x="4571999" y="2017325"/>
            <a:ext cx="3091424" cy="307777"/>
          </a:xfrm>
          <a:prstGeom prst="rect">
            <a:avLst/>
          </a:prstGeom>
          <a:noFill/>
        </p:spPr>
        <p:txBody>
          <a:bodyPr wrap="none" rtlCol="0">
            <a:spAutoFit/>
          </a:bodyPr>
          <a:lstStyle/>
          <a:p>
            <a:r>
              <a:rPr lang="pt-BR" sz="1400" i="1" dirty="0"/>
              <a:t>Dica: Para descobrir o SID da sua sessão</a:t>
            </a:r>
          </a:p>
        </p:txBody>
      </p:sp>
    </p:spTree>
    <p:extLst>
      <p:ext uri="{BB962C8B-B14F-4D97-AF65-F5344CB8AC3E}">
        <p14:creationId xmlns:p14="http://schemas.microsoft.com/office/powerpoint/2010/main" val="980889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ítulo 1">
            <a:extLst>
              <a:ext uri="{FF2B5EF4-FFF2-40B4-BE49-F238E27FC236}">
                <a16:creationId xmlns:a16="http://schemas.microsoft.com/office/drawing/2014/main" id="{A7661111-56F2-4CF4-A73C-F4DCB49F791A}"/>
              </a:ext>
            </a:extLst>
          </p:cNvPr>
          <p:cNvSpPr>
            <a:spLocks noGrp="1"/>
          </p:cNvSpPr>
          <p:nvPr>
            <p:ph type="ctrTitle"/>
          </p:nvPr>
        </p:nvSpPr>
        <p:spPr>
          <a:xfrm>
            <a:off x="1694585" y="152400"/>
            <a:ext cx="5459303" cy="637716"/>
          </a:xfrm>
        </p:spPr>
        <p:txBody>
          <a:bodyPr>
            <a:normAutofit/>
          </a:bodyPr>
          <a:lstStyle/>
          <a:p>
            <a:pPr eaLnBrk="1" hangingPunct="1"/>
            <a:r>
              <a:rPr lang="pt-BR" altLang="pt-BR" dirty="0">
                <a:solidFill>
                  <a:srgbClr val="ED145B"/>
                </a:solidFill>
              </a:rPr>
              <a:t>Leitura </a:t>
            </a:r>
            <a:r>
              <a:rPr lang="pt-BR" altLang="pt-BR" dirty="0" err="1">
                <a:solidFill>
                  <a:srgbClr val="ED145B"/>
                </a:solidFill>
              </a:rPr>
              <a:t>Multiversão</a:t>
            </a:r>
            <a:endParaRPr lang="pt-BR" altLang="pt-BR" dirty="0">
              <a:solidFill>
                <a:srgbClr val="ED145B"/>
              </a:solidFill>
            </a:endParaRPr>
          </a:p>
        </p:txBody>
      </p:sp>
      <p:sp>
        <p:nvSpPr>
          <p:cNvPr id="6" name="Subtítulo 2">
            <a:extLst>
              <a:ext uri="{FF2B5EF4-FFF2-40B4-BE49-F238E27FC236}">
                <a16:creationId xmlns:a16="http://schemas.microsoft.com/office/drawing/2014/main" id="{51ECE744-9779-4EB8-89D0-B6AC3417B8F2}"/>
              </a:ext>
            </a:extLst>
          </p:cNvPr>
          <p:cNvSpPr txBox="1">
            <a:spLocks/>
          </p:cNvSpPr>
          <p:nvPr/>
        </p:nvSpPr>
        <p:spPr>
          <a:xfrm>
            <a:off x="469900" y="1418431"/>
            <a:ext cx="8219378" cy="2311400"/>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285750" indent="-285750" algn="just">
              <a:buClr>
                <a:srgbClr val="ED145B"/>
              </a:buClr>
              <a:buFont typeface="Arial" panose="020B0604020202020204" pitchFamily="34" charset="0"/>
              <a:buChar char="•"/>
              <a:defRPr/>
            </a:pPr>
            <a:endParaRPr lang="pt-BR" altLang="pt-BR" sz="1800" dirty="0">
              <a:latin typeface="Arial" panose="020B0604020202020204" pitchFamily="34" charset="0"/>
              <a:cs typeface="Arial" panose="020B0604020202020204" pitchFamily="34" charset="0"/>
            </a:endParaRPr>
          </a:p>
        </p:txBody>
      </p:sp>
      <p:sp>
        <p:nvSpPr>
          <p:cNvPr id="4" name="Subtítulo 2">
            <a:extLst>
              <a:ext uri="{FF2B5EF4-FFF2-40B4-BE49-F238E27FC236}">
                <a16:creationId xmlns:a16="http://schemas.microsoft.com/office/drawing/2014/main" id="{F0F0B0FA-F940-43F6-977E-C274F21E7AF4}"/>
              </a:ext>
            </a:extLst>
          </p:cNvPr>
          <p:cNvSpPr txBox="1">
            <a:spLocks/>
          </p:cNvSpPr>
          <p:nvPr/>
        </p:nvSpPr>
        <p:spPr>
          <a:xfrm>
            <a:off x="314547" y="1428364"/>
            <a:ext cx="8219378" cy="1233355"/>
          </a:xfrm>
          <a:prstGeom prst="rect">
            <a:avLst/>
          </a:prstGeom>
        </p:spPr>
        <p:txBody>
          <a:bodyPr vert="horz" lIns="91440" tIns="45720" rIns="91440" bIns="45720" rtlCol="0">
            <a:normAutofit fontScale="47500" lnSpcReduction="20000"/>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285750" indent="-285750" algn="just">
              <a:lnSpc>
                <a:spcPct val="150000"/>
              </a:lnSpc>
              <a:buClr>
                <a:srgbClr val="ED145B"/>
              </a:buClr>
              <a:buFont typeface="Arial" panose="020B0604020202020204" pitchFamily="34" charset="0"/>
              <a:buChar char="•"/>
              <a:defRPr/>
            </a:pPr>
            <a:r>
              <a:rPr lang="pt-BR" sz="3700" dirty="0" err="1">
                <a:solidFill>
                  <a:schemeClr val="tx1"/>
                </a:solidFill>
                <a:latin typeface="Arial" panose="020B0604020202020204" pitchFamily="34" charset="0"/>
                <a:ea typeface="Calibri" panose="020F0502020204030204" pitchFamily="34" charset="0"/>
                <a:cs typeface="Arial" panose="020B0604020202020204" pitchFamily="34" charset="0"/>
              </a:rPr>
              <a:t>Multiversionamento</a:t>
            </a:r>
            <a:r>
              <a:rPr lang="pt-BR" sz="3700" dirty="0">
                <a:solidFill>
                  <a:schemeClr val="tx1"/>
                </a:solidFill>
                <a:latin typeface="Arial" panose="020B0604020202020204" pitchFamily="34" charset="0"/>
                <a:ea typeface="Calibri" panose="020F0502020204030204" pitchFamily="34" charset="0"/>
                <a:cs typeface="Arial" panose="020B0604020202020204" pitchFamily="34" charset="0"/>
              </a:rPr>
              <a:t> é a capacidade de materializar simultaneamente várias versões de dados. O banco de dados  mantém a </a:t>
            </a:r>
            <a:r>
              <a:rPr lang="pt-BR" sz="3700" b="1" dirty="0">
                <a:solidFill>
                  <a:schemeClr val="tx1"/>
                </a:solidFill>
                <a:latin typeface="Arial" panose="020B0604020202020204" pitchFamily="34" charset="0"/>
                <a:ea typeface="Calibri" panose="020F0502020204030204" pitchFamily="34" charset="0"/>
                <a:cs typeface="Arial" panose="020B0604020202020204" pitchFamily="34" charset="0"/>
              </a:rPr>
              <a:t>consistência de leitura</a:t>
            </a:r>
            <a:r>
              <a:rPr lang="pt-BR" sz="3700" dirty="0">
                <a:solidFill>
                  <a:schemeClr val="tx1"/>
                </a:solidFill>
                <a:latin typeface="Arial" panose="020B0604020202020204" pitchFamily="34" charset="0"/>
                <a:ea typeface="Calibri" panose="020F0502020204030204" pitchFamily="34" charset="0"/>
                <a:cs typeface="Arial" panose="020B0604020202020204" pitchFamily="34" charset="0"/>
              </a:rPr>
              <a:t> em várias versões.</a:t>
            </a:r>
          </a:p>
          <a:p>
            <a:pPr marL="285750" indent="-285750" algn="just">
              <a:lnSpc>
                <a:spcPct val="150000"/>
              </a:lnSpc>
              <a:buClr>
                <a:srgbClr val="ED145B"/>
              </a:buClr>
              <a:buFont typeface="Arial" panose="020B0604020202020204" pitchFamily="34" charset="0"/>
              <a:buChar char="•"/>
              <a:defRPr/>
            </a:pPr>
            <a:endParaRPr lang="pt-BR" sz="720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7844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DA20CC35-1C16-4C4B-856A-5D4F66CF1C7F}"/>
              </a:ext>
            </a:extLst>
          </p:cNvPr>
          <p:cNvPicPr>
            <a:picLocks noChangeAspect="1"/>
          </p:cNvPicPr>
          <p:nvPr/>
        </p:nvPicPr>
        <p:blipFill>
          <a:blip r:embed="rId2"/>
          <a:stretch>
            <a:fillRect/>
          </a:stretch>
        </p:blipFill>
        <p:spPr>
          <a:xfrm>
            <a:off x="1271127" y="821287"/>
            <a:ext cx="6601746" cy="3505689"/>
          </a:xfrm>
          <a:prstGeom prst="rect">
            <a:avLst/>
          </a:prstGeom>
        </p:spPr>
      </p:pic>
      <p:sp>
        <p:nvSpPr>
          <p:cNvPr id="6" name="Título 1">
            <a:extLst>
              <a:ext uri="{FF2B5EF4-FFF2-40B4-BE49-F238E27FC236}">
                <a16:creationId xmlns:a16="http://schemas.microsoft.com/office/drawing/2014/main" id="{D9569E3C-DB67-40A2-BE69-0F7597D7B3E8}"/>
              </a:ext>
            </a:extLst>
          </p:cNvPr>
          <p:cNvSpPr txBox="1">
            <a:spLocks/>
          </p:cNvSpPr>
          <p:nvPr/>
        </p:nvSpPr>
        <p:spPr>
          <a:xfrm>
            <a:off x="1842348" y="95746"/>
            <a:ext cx="5459303" cy="79011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mj-lt"/>
                <a:ea typeface="+mj-ea"/>
                <a:cs typeface="+mj-cs"/>
              </a:defRPr>
            </a:lvl1pPr>
          </a:lstStyle>
          <a:p>
            <a:r>
              <a:rPr lang="pt-BR" altLang="pt-BR" dirty="0">
                <a:solidFill>
                  <a:srgbClr val="ED145B"/>
                </a:solidFill>
              </a:rPr>
              <a:t>Leitura Consistente</a:t>
            </a:r>
          </a:p>
        </p:txBody>
      </p:sp>
      <p:sp>
        <p:nvSpPr>
          <p:cNvPr id="7" name="CaixaDeTexto 6">
            <a:extLst>
              <a:ext uri="{FF2B5EF4-FFF2-40B4-BE49-F238E27FC236}">
                <a16:creationId xmlns:a16="http://schemas.microsoft.com/office/drawing/2014/main" id="{6777B0FE-3303-44A2-8E48-2F0211CF8F42}"/>
              </a:ext>
            </a:extLst>
          </p:cNvPr>
          <p:cNvSpPr txBox="1"/>
          <p:nvPr/>
        </p:nvSpPr>
        <p:spPr>
          <a:xfrm>
            <a:off x="3852731" y="4311134"/>
            <a:ext cx="1021113" cy="276999"/>
          </a:xfrm>
          <a:prstGeom prst="rect">
            <a:avLst/>
          </a:prstGeom>
          <a:noFill/>
        </p:spPr>
        <p:txBody>
          <a:bodyPr wrap="none" rtlCol="0">
            <a:spAutoFit/>
          </a:bodyPr>
          <a:lstStyle/>
          <a:p>
            <a:r>
              <a:rPr lang="pt-BR" sz="1200" dirty="0"/>
              <a:t>Fonte: Oracle</a:t>
            </a:r>
          </a:p>
        </p:txBody>
      </p:sp>
    </p:spTree>
    <p:extLst>
      <p:ext uri="{BB962C8B-B14F-4D97-AF65-F5344CB8AC3E}">
        <p14:creationId xmlns:p14="http://schemas.microsoft.com/office/powerpoint/2010/main" val="34597618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ítulo 2">
            <a:extLst>
              <a:ext uri="{FF2B5EF4-FFF2-40B4-BE49-F238E27FC236}">
                <a16:creationId xmlns:a16="http://schemas.microsoft.com/office/drawing/2014/main" id="{51ECE744-9779-4EB8-89D0-B6AC3417B8F2}"/>
              </a:ext>
            </a:extLst>
          </p:cNvPr>
          <p:cNvSpPr txBox="1">
            <a:spLocks/>
          </p:cNvSpPr>
          <p:nvPr/>
        </p:nvSpPr>
        <p:spPr>
          <a:xfrm>
            <a:off x="469900" y="1418431"/>
            <a:ext cx="8219378" cy="2311400"/>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285750" indent="-285750" algn="just">
              <a:buClr>
                <a:srgbClr val="ED145B"/>
              </a:buClr>
              <a:buFont typeface="Arial" panose="020B0604020202020204" pitchFamily="34" charset="0"/>
              <a:buChar char="•"/>
              <a:defRPr/>
            </a:pPr>
            <a:endParaRPr lang="pt-BR" altLang="pt-BR" sz="1800" dirty="0">
              <a:latin typeface="Arial" panose="020B0604020202020204" pitchFamily="34" charset="0"/>
              <a:cs typeface="Arial" panose="020B0604020202020204" pitchFamily="34" charset="0"/>
            </a:endParaRPr>
          </a:p>
        </p:txBody>
      </p:sp>
      <p:sp>
        <p:nvSpPr>
          <p:cNvPr id="4" name="Subtítulo 2">
            <a:extLst>
              <a:ext uri="{FF2B5EF4-FFF2-40B4-BE49-F238E27FC236}">
                <a16:creationId xmlns:a16="http://schemas.microsoft.com/office/drawing/2014/main" id="{F0F0B0FA-F940-43F6-977E-C274F21E7AF4}"/>
              </a:ext>
            </a:extLst>
          </p:cNvPr>
          <p:cNvSpPr txBox="1">
            <a:spLocks/>
          </p:cNvSpPr>
          <p:nvPr/>
        </p:nvSpPr>
        <p:spPr>
          <a:xfrm>
            <a:off x="314547" y="879065"/>
            <a:ext cx="8219378" cy="4181821"/>
          </a:xfrm>
          <a:prstGeom prst="rect">
            <a:avLst/>
          </a:prstGeom>
        </p:spPr>
        <p:txBody>
          <a:bodyPr vert="horz" lIns="91440" tIns="45720" rIns="91440" bIns="45720" rtlCol="0">
            <a:normAutofit fontScale="25000" lnSpcReduction="20000"/>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285750" indent="-285750" algn="just">
              <a:lnSpc>
                <a:spcPct val="150000"/>
              </a:lnSpc>
              <a:buClr>
                <a:srgbClr val="ED145B"/>
              </a:buClr>
              <a:buFont typeface="Arial" panose="020B0604020202020204" pitchFamily="34" charset="0"/>
              <a:buChar char="•"/>
              <a:defRPr/>
            </a:pPr>
            <a:r>
              <a:rPr lang="pt-BR" sz="7200" dirty="0">
                <a:solidFill>
                  <a:schemeClr val="tx1"/>
                </a:solidFill>
                <a:latin typeface="Arial" panose="020B0604020202020204" pitchFamily="34" charset="0"/>
                <a:ea typeface="Calibri" panose="020F0502020204030204" pitchFamily="34" charset="0"/>
                <a:cs typeface="Arial" panose="020B0604020202020204" pitchFamily="34" charset="0"/>
              </a:rPr>
              <a:t>Os níveis de isolamento são definidos em termos de </a:t>
            </a:r>
            <a:r>
              <a:rPr lang="pt-BR" sz="7200" b="1" dirty="0">
                <a:solidFill>
                  <a:schemeClr val="tx1"/>
                </a:solidFill>
                <a:latin typeface="Arial" panose="020B0604020202020204" pitchFamily="34" charset="0"/>
                <a:ea typeface="Calibri" panose="020F0502020204030204" pitchFamily="34" charset="0"/>
                <a:cs typeface="Arial" panose="020B0604020202020204" pitchFamily="34" charset="0"/>
              </a:rPr>
              <a:t>fenômenos</a:t>
            </a:r>
            <a:r>
              <a:rPr lang="pt-BR" sz="7200" dirty="0">
                <a:solidFill>
                  <a:schemeClr val="tx1"/>
                </a:solidFill>
                <a:latin typeface="Arial" panose="020B0604020202020204" pitchFamily="34" charset="0"/>
                <a:ea typeface="Calibri" panose="020F0502020204030204" pitchFamily="34" charset="0"/>
                <a:cs typeface="Arial" panose="020B0604020202020204" pitchFamily="34" charset="0"/>
              </a:rPr>
              <a:t> que devem ser evitados entre transações em execução .</a:t>
            </a:r>
          </a:p>
          <a:p>
            <a:pPr marL="285750" indent="-285750" algn="just">
              <a:lnSpc>
                <a:spcPct val="150000"/>
              </a:lnSpc>
              <a:buClr>
                <a:srgbClr val="ED145B"/>
              </a:buClr>
              <a:buFont typeface="Arial" panose="020B0604020202020204" pitchFamily="34" charset="0"/>
              <a:buChar char="•"/>
              <a:defRPr/>
            </a:pPr>
            <a:endParaRPr lang="pt-BR" sz="64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marL="285750" indent="-285750" algn="just">
              <a:lnSpc>
                <a:spcPct val="150000"/>
              </a:lnSpc>
              <a:buClr>
                <a:srgbClr val="ED145B"/>
              </a:buClr>
              <a:buFont typeface="Arial" panose="020B0604020202020204" pitchFamily="34" charset="0"/>
              <a:buChar char="•"/>
              <a:defRPr/>
            </a:pPr>
            <a:r>
              <a:rPr lang="pt-BR" sz="7200" dirty="0">
                <a:solidFill>
                  <a:schemeClr val="tx1"/>
                </a:solidFill>
                <a:latin typeface="Arial" panose="020B0604020202020204" pitchFamily="34" charset="0"/>
                <a:ea typeface="Calibri" panose="020F0502020204030204" pitchFamily="34" charset="0"/>
                <a:cs typeface="Arial" panose="020B0604020202020204" pitchFamily="34" charset="0"/>
              </a:rPr>
              <a:t>Os níveis de isolamento são explicados em termos dos seguintes fenômenos:</a:t>
            </a:r>
          </a:p>
          <a:p>
            <a:pPr marL="742950" lvl="1" indent="-285750" algn="just">
              <a:lnSpc>
                <a:spcPct val="150000"/>
              </a:lnSpc>
              <a:buClr>
                <a:srgbClr val="ED145B"/>
              </a:buClr>
              <a:buFont typeface="Arial" panose="020B0604020202020204" pitchFamily="34" charset="0"/>
              <a:buChar char="•"/>
              <a:defRPr/>
            </a:pP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Leituras sujas (</a:t>
            </a:r>
            <a:r>
              <a:rPr lang="pt-BR" sz="6800" dirty="0" err="1">
                <a:solidFill>
                  <a:schemeClr val="tx1"/>
                </a:solidFill>
                <a:latin typeface="Arial" panose="020B0604020202020204" pitchFamily="34" charset="0"/>
                <a:ea typeface="Calibri" panose="020F0502020204030204" pitchFamily="34" charset="0"/>
                <a:cs typeface="Arial" panose="020B0604020202020204" pitchFamily="34" charset="0"/>
              </a:rPr>
              <a:t>dirty</a:t>
            </a: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pt-BR" sz="6800" dirty="0" err="1">
                <a:solidFill>
                  <a:schemeClr val="tx1"/>
                </a:solidFill>
                <a:latin typeface="Arial" panose="020B0604020202020204" pitchFamily="34" charset="0"/>
                <a:ea typeface="Calibri" panose="020F0502020204030204" pitchFamily="34" charset="0"/>
                <a:cs typeface="Arial" panose="020B0604020202020204" pitchFamily="34" charset="0"/>
              </a:rPr>
              <a:t>reads</a:t>
            </a: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 .</a:t>
            </a:r>
          </a:p>
          <a:p>
            <a:pPr marL="742950" lvl="1" indent="-285750" algn="just">
              <a:lnSpc>
                <a:spcPct val="150000"/>
              </a:lnSpc>
              <a:buClr>
                <a:srgbClr val="ED145B"/>
              </a:buClr>
              <a:buFont typeface="Arial" panose="020B0604020202020204" pitchFamily="34" charset="0"/>
              <a:buChar char="•"/>
              <a:defRPr/>
            </a:pP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Leituras difusas ou não repetíveis (</a:t>
            </a:r>
            <a:r>
              <a:rPr lang="pt-BR" sz="6800" dirty="0" err="1">
                <a:solidFill>
                  <a:schemeClr val="tx1"/>
                </a:solidFill>
                <a:latin typeface="Arial" panose="020B0604020202020204" pitchFamily="34" charset="0"/>
                <a:ea typeface="Calibri" panose="020F0502020204030204" pitchFamily="34" charset="0"/>
                <a:cs typeface="Arial" panose="020B0604020202020204" pitchFamily="34" charset="0"/>
              </a:rPr>
              <a:t>fuzzy</a:t>
            </a: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pt-BR" sz="6800" dirty="0" err="1">
                <a:solidFill>
                  <a:schemeClr val="tx1"/>
                </a:solidFill>
                <a:latin typeface="Arial" panose="020B0604020202020204" pitchFamily="34" charset="0"/>
                <a:ea typeface="Calibri" panose="020F0502020204030204" pitchFamily="34" charset="0"/>
                <a:cs typeface="Arial" panose="020B0604020202020204" pitchFamily="34" charset="0"/>
              </a:rPr>
              <a:t>or</a:t>
            </a: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pt-BR" sz="6800" dirty="0" err="1">
                <a:solidFill>
                  <a:schemeClr val="tx1"/>
                </a:solidFill>
                <a:latin typeface="Arial" panose="020B0604020202020204" pitchFamily="34" charset="0"/>
                <a:ea typeface="Calibri" panose="020F0502020204030204" pitchFamily="34" charset="0"/>
                <a:cs typeface="Arial" panose="020B0604020202020204" pitchFamily="34" charset="0"/>
              </a:rPr>
              <a:t>on-repeatable</a:t>
            </a: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pt-BR" sz="6800" dirty="0" err="1">
                <a:solidFill>
                  <a:schemeClr val="tx1"/>
                </a:solidFill>
                <a:latin typeface="Arial" panose="020B0604020202020204" pitchFamily="34" charset="0"/>
                <a:ea typeface="Calibri" panose="020F0502020204030204" pitchFamily="34" charset="0"/>
                <a:cs typeface="Arial" panose="020B0604020202020204" pitchFamily="34" charset="0"/>
              </a:rPr>
              <a:t>read</a:t>
            </a: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a:t>
            </a:r>
          </a:p>
          <a:p>
            <a:pPr marL="742950" lvl="1" indent="-285750" algn="just">
              <a:lnSpc>
                <a:spcPct val="150000"/>
              </a:lnSpc>
              <a:buClr>
                <a:srgbClr val="ED145B"/>
              </a:buClr>
              <a:buFont typeface="Arial" panose="020B0604020202020204" pitchFamily="34" charset="0"/>
              <a:buChar char="•"/>
              <a:defRPr/>
            </a:pP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Leituras fantasmas (</a:t>
            </a:r>
            <a:r>
              <a:rPr lang="pt-BR" sz="6800" dirty="0" err="1">
                <a:solidFill>
                  <a:schemeClr val="tx1"/>
                </a:solidFill>
                <a:latin typeface="Arial" panose="020B0604020202020204" pitchFamily="34" charset="0"/>
                <a:ea typeface="Calibri" panose="020F0502020204030204" pitchFamily="34" charset="0"/>
                <a:cs typeface="Arial" panose="020B0604020202020204" pitchFamily="34" charset="0"/>
              </a:rPr>
              <a:t>phantom</a:t>
            </a: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pt-BR" sz="6800" dirty="0" err="1">
                <a:solidFill>
                  <a:schemeClr val="tx1"/>
                </a:solidFill>
                <a:latin typeface="Arial" panose="020B0604020202020204" pitchFamily="34" charset="0"/>
                <a:ea typeface="Calibri" panose="020F0502020204030204" pitchFamily="34" charset="0"/>
                <a:cs typeface="Arial" panose="020B0604020202020204" pitchFamily="34" charset="0"/>
              </a:rPr>
              <a:t>reads</a:t>
            </a:r>
            <a:r>
              <a:rPr lang="pt-BR" sz="6800" dirty="0">
                <a:solidFill>
                  <a:schemeClr val="tx1"/>
                </a:solidFill>
                <a:latin typeface="Arial" panose="020B0604020202020204" pitchFamily="34" charset="0"/>
                <a:ea typeface="Calibri" panose="020F0502020204030204" pitchFamily="34" charset="0"/>
                <a:cs typeface="Arial" panose="020B0604020202020204" pitchFamily="34" charset="0"/>
              </a:rPr>
              <a:t>), </a:t>
            </a:r>
          </a:p>
          <a:p>
            <a:pPr marL="271463" indent="-271463" algn="just">
              <a:lnSpc>
                <a:spcPct val="150000"/>
              </a:lnSpc>
              <a:buClr>
                <a:srgbClr val="ED145B"/>
              </a:buClr>
              <a:buFont typeface="Arial" panose="020B0604020202020204" pitchFamily="34" charset="0"/>
              <a:buChar char="•"/>
              <a:defRPr/>
            </a:pPr>
            <a:r>
              <a:rPr lang="pt-BR" sz="7200" dirty="0">
                <a:solidFill>
                  <a:schemeClr val="tx1"/>
                </a:solidFill>
                <a:latin typeface="Arial" panose="020B0604020202020204" pitchFamily="34" charset="0"/>
                <a:ea typeface="Calibri" panose="020F0502020204030204" pitchFamily="34" charset="0"/>
                <a:cs typeface="Arial" panose="020B0604020202020204" pitchFamily="34" charset="0"/>
              </a:rPr>
              <a:t>Esses fenômenos devem ser evitados entre transações que executam simultaneamente.</a:t>
            </a:r>
            <a:endParaRPr lang="pt-BR" altLang="pt-BR" sz="1877" dirty="0">
              <a:latin typeface="Arial" panose="020B0604020202020204" pitchFamily="34" charset="0"/>
              <a:cs typeface="Arial" panose="020B0604020202020204" pitchFamily="34" charset="0"/>
            </a:endParaRPr>
          </a:p>
        </p:txBody>
      </p:sp>
      <p:sp>
        <p:nvSpPr>
          <p:cNvPr id="7" name="Título 1">
            <a:extLst>
              <a:ext uri="{FF2B5EF4-FFF2-40B4-BE49-F238E27FC236}">
                <a16:creationId xmlns:a16="http://schemas.microsoft.com/office/drawing/2014/main" id="{FD8E4433-DFF0-4943-AAD1-E1D06407CABC}"/>
              </a:ext>
            </a:extLst>
          </p:cNvPr>
          <p:cNvSpPr>
            <a:spLocks noGrp="1"/>
          </p:cNvSpPr>
          <p:nvPr>
            <p:ph type="ctrTitle"/>
          </p:nvPr>
        </p:nvSpPr>
        <p:spPr>
          <a:xfrm>
            <a:off x="1463975" y="108446"/>
            <a:ext cx="6137528" cy="790116"/>
          </a:xfrm>
        </p:spPr>
        <p:txBody>
          <a:bodyPr>
            <a:normAutofit fontScale="90000"/>
          </a:bodyPr>
          <a:lstStyle/>
          <a:p>
            <a:pPr eaLnBrk="1" hangingPunct="1"/>
            <a:r>
              <a:rPr lang="pt-BR" altLang="pt-BR" dirty="0">
                <a:solidFill>
                  <a:srgbClr val="ED145B"/>
                </a:solidFill>
              </a:rPr>
              <a:t>Fenômenos evitáveis em Transações </a:t>
            </a:r>
          </a:p>
        </p:txBody>
      </p:sp>
    </p:spTree>
    <p:extLst>
      <p:ext uri="{BB962C8B-B14F-4D97-AF65-F5344CB8AC3E}">
        <p14:creationId xmlns:p14="http://schemas.microsoft.com/office/powerpoint/2010/main" val="4136434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ítulo 1">
            <a:extLst>
              <a:ext uri="{FF2B5EF4-FFF2-40B4-BE49-F238E27FC236}">
                <a16:creationId xmlns:a16="http://schemas.microsoft.com/office/drawing/2014/main" id="{A7661111-56F2-4CF4-A73C-F4DCB49F791A}"/>
              </a:ext>
            </a:extLst>
          </p:cNvPr>
          <p:cNvSpPr>
            <a:spLocks noGrp="1"/>
          </p:cNvSpPr>
          <p:nvPr>
            <p:ph type="ctrTitle"/>
          </p:nvPr>
        </p:nvSpPr>
        <p:spPr>
          <a:xfrm>
            <a:off x="1463975" y="108446"/>
            <a:ext cx="6137528" cy="790116"/>
          </a:xfrm>
        </p:spPr>
        <p:txBody>
          <a:bodyPr>
            <a:normAutofit fontScale="90000"/>
          </a:bodyPr>
          <a:lstStyle/>
          <a:p>
            <a:pPr eaLnBrk="1" hangingPunct="1"/>
            <a:r>
              <a:rPr lang="pt-BR" altLang="pt-BR" dirty="0">
                <a:solidFill>
                  <a:srgbClr val="ED145B"/>
                </a:solidFill>
              </a:rPr>
              <a:t>Fenômenos evitáveis em Transações </a:t>
            </a:r>
          </a:p>
        </p:txBody>
      </p:sp>
      <p:sp>
        <p:nvSpPr>
          <p:cNvPr id="17411" name="Subtítulo 2">
            <a:extLst>
              <a:ext uri="{FF2B5EF4-FFF2-40B4-BE49-F238E27FC236}">
                <a16:creationId xmlns:a16="http://schemas.microsoft.com/office/drawing/2014/main" id="{E160E686-CF48-4091-9014-C01D199433F7}"/>
              </a:ext>
            </a:extLst>
          </p:cNvPr>
          <p:cNvSpPr>
            <a:spLocks noGrp="1"/>
          </p:cNvSpPr>
          <p:nvPr>
            <p:ph type="subTitle" idx="1"/>
          </p:nvPr>
        </p:nvSpPr>
        <p:spPr>
          <a:xfrm>
            <a:off x="568840" y="1088656"/>
            <a:ext cx="8153399" cy="1431988"/>
          </a:xfrm>
        </p:spPr>
        <p:txBody>
          <a:bodyPr>
            <a:normAutofit/>
          </a:bodyPr>
          <a:lstStyle/>
          <a:p>
            <a:pPr marL="285750" indent="-285750" algn="just">
              <a:buClr>
                <a:srgbClr val="ED145B"/>
              </a:buClr>
              <a:buFont typeface="Arial" panose="020B0604020202020204" pitchFamily="34" charset="0"/>
              <a:buChar char="•"/>
              <a:defRPr/>
            </a:pPr>
            <a:r>
              <a:rPr lang="pt-BR" altLang="pt-BR" sz="2000" dirty="0">
                <a:solidFill>
                  <a:schemeClr val="tx1"/>
                </a:solidFill>
                <a:latin typeface="Arial" panose="020B0604020202020204" pitchFamily="34" charset="0"/>
                <a:cs typeface="Arial" panose="020B0604020202020204" pitchFamily="34" charset="0"/>
              </a:rPr>
              <a:t>Dirty </a:t>
            </a:r>
            <a:r>
              <a:rPr lang="pt-BR" altLang="pt-BR" sz="2000" dirty="0" err="1">
                <a:solidFill>
                  <a:schemeClr val="tx1"/>
                </a:solidFill>
                <a:latin typeface="Arial" panose="020B0604020202020204" pitchFamily="34" charset="0"/>
                <a:cs typeface="Arial" panose="020B0604020202020204" pitchFamily="34" charset="0"/>
              </a:rPr>
              <a:t>Reads</a:t>
            </a:r>
            <a:r>
              <a:rPr lang="pt-BR" altLang="pt-BR" sz="2000" dirty="0">
                <a:solidFill>
                  <a:schemeClr val="tx1"/>
                </a:solidFill>
                <a:latin typeface="Arial" panose="020B0604020202020204" pitchFamily="34" charset="0"/>
                <a:cs typeface="Arial" panose="020B0604020202020204" pitchFamily="34" charset="0"/>
              </a:rPr>
              <a:t>  (</a:t>
            </a:r>
            <a:r>
              <a:rPr lang="pt-BR" sz="2000" dirty="0"/>
              <a:t>READ UNCOMMITTED</a:t>
            </a:r>
            <a:r>
              <a:rPr lang="pt-BR" sz="2000" dirty="0">
                <a:solidFill>
                  <a:schemeClr val="tx1"/>
                </a:solidFill>
              </a:rPr>
              <a:t>)</a:t>
            </a:r>
            <a:endParaRPr lang="pt-BR" altLang="pt-BR" sz="2000" dirty="0">
              <a:solidFill>
                <a:schemeClr val="tx1"/>
              </a:solidFill>
              <a:latin typeface="Arial" panose="020B0604020202020204" pitchFamily="34" charset="0"/>
              <a:cs typeface="Arial" panose="020B0604020202020204" pitchFamily="34" charset="0"/>
            </a:endParaRPr>
          </a:p>
          <a:p>
            <a:pPr marL="285750" indent="-285750" algn="just">
              <a:buClr>
                <a:srgbClr val="ED145B"/>
              </a:buClr>
              <a:buFont typeface="Arial" panose="020B0604020202020204" pitchFamily="34" charset="0"/>
              <a:buChar char="•"/>
              <a:defRPr/>
            </a:pPr>
            <a:endParaRPr lang="pt-BR" altLang="pt-BR" sz="2000" dirty="0">
              <a:solidFill>
                <a:schemeClr val="tx1"/>
              </a:solidFill>
              <a:latin typeface="Arial" panose="020B0604020202020204" pitchFamily="34" charset="0"/>
              <a:cs typeface="Arial" panose="020B0604020202020204" pitchFamily="34" charset="0"/>
            </a:endParaRPr>
          </a:p>
          <a:p>
            <a:pPr marL="742950" lvl="1" indent="-285750" algn="just">
              <a:buClr>
                <a:srgbClr val="ED145B"/>
              </a:buClr>
              <a:buFont typeface="Arial" panose="020B0604020202020204" pitchFamily="34" charset="0"/>
              <a:buChar char="•"/>
              <a:defRPr/>
            </a:pPr>
            <a:r>
              <a:rPr lang="pt-BR" altLang="pt-BR" sz="1800" dirty="0">
                <a:solidFill>
                  <a:schemeClr val="tx1"/>
                </a:solidFill>
                <a:latin typeface="Arial" panose="020B0604020202020204" pitchFamily="34" charset="0"/>
                <a:cs typeface="Arial" panose="020B0604020202020204" pitchFamily="34" charset="0"/>
              </a:rPr>
              <a:t>Uma transação lê dados que foram gravados por outra transação que ainda não foi confirmada.</a:t>
            </a:r>
          </a:p>
        </p:txBody>
      </p:sp>
      <p:sp>
        <p:nvSpPr>
          <p:cNvPr id="3" name="TextBox 2">
            <a:extLst>
              <a:ext uri="{FF2B5EF4-FFF2-40B4-BE49-F238E27FC236}">
                <a16:creationId xmlns:a16="http://schemas.microsoft.com/office/drawing/2014/main" id="{CE89CFEA-4B1C-0BA5-F18E-A353E56CAEB5}"/>
              </a:ext>
            </a:extLst>
          </p:cNvPr>
          <p:cNvSpPr txBox="1"/>
          <p:nvPr/>
        </p:nvSpPr>
        <p:spPr>
          <a:xfrm>
            <a:off x="627320" y="2694536"/>
            <a:ext cx="8318206" cy="1324658"/>
          </a:xfrm>
          <a:prstGeom prst="rect">
            <a:avLst/>
          </a:prstGeom>
          <a:solidFill>
            <a:schemeClr val="accent6">
              <a:lumMod val="20000"/>
              <a:lumOff val="80000"/>
            </a:schemeClr>
          </a:solidFill>
        </p:spPr>
        <p:txBody>
          <a:bodyPr wrap="square">
            <a:spAutoFit/>
          </a:bodyPr>
          <a:lstStyle/>
          <a:p>
            <a:pPr>
              <a:lnSpc>
                <a:spcPct val="200000"/>
              </a:lnSpc>
            </a:pPr>
            <a:r>
              <a:rPr lang="pt-BR" sz="1400" dirty="0"/>
              <a:t>1. A transação T1 modifica um item de dados.</a:t>
            </a:r>
          </a:p>
          <a:p>
            <a:pPr>
              <a:lnSpc>
                <a:spcPct val="200000"/>
              </a:lnSpc>
            </a:pPr>
            <a:r>
              <a:rPr lang="pt-BR" sz="1400" dirty="0"/>
              <a:t>2. Outra transação T2 lê esse item de dados antes de T1 executar um COMMIT ou ROLLBACK.</a:t>
            </a:r>
          </a:p>
          <a:p>
            <a:pPr>
              <a:lnSpc>
                <a:spcPct val="200000"/>
              </a:lnSpc>
            </a:pPr>
            <a:r>
              <a:rPr lang="pt-BR" sz="1400" dirty="0"/>
              <a:t>3. Se T1 executar um ROLLBACK, T2 lerá um item de dados que nunca foi confirmado e, portanto, nunca existiu.</a:t>
            </a:r>
          </a:p>
        </p:txBody>
      </p:sp>
      <p:sp>
        <p:nvSpPr>
          <p:cNvPr id="5" name="TextBox 4">
            <a:extLst>
              <a:ext uri="{FF2B5EF4-FFF2-40B4-BE49-F238E27FC236}">
                <a16:creationId xmlns:a16="http://schemas.microsoft.com/office/drawing/2014/main" id="{11B984D5-B3B0-964E-4D60-5BB855DC1F4B}"/>
              </a:ext>
            </a:extLst>
          </p:cNvPr>
          <p:cNvSpPr txBox="1"/>
          <p:nvPr/>
        </p:nvSpPr>
        <p:spPr>
          <a:xfrm>
            <a:off x="627319" y="4217251"/>
            <a:ext cx="6974183" cy="369332"/>
          </a:xfrm>
          <a:prstGeom prst="rect">
            <a:avLst/>
          </a:prstGeom>
          <a:noFill/>
        </p:spPr>
        <p:txBody>
          <a:bodyPr wrap="square">
            <a:spAutoFit/>
          </a:bodyPr>
          <a:lstStyle/>
          <a:p>
            <a:r>
              <a:rPr lang="pt-BR" dirty="0">
                <a:sym typeface="Wingdings" panose="05000000000000000000" pitchFamily="2" charset="2"/>
              </a:rPr>
              <a:t> </a:t>
            </a:r>
            <a:r>
              <a:rPr lang="pt-BR" dirty="0"/>
              <a:t>O </a:t>
            </a:r>
            <a:r>
              <a:rPr lang="pt-BR" dirty="0" err="1"/>
              <a:t>hint</a:t>
            </a:r>
            <a:r>
              <a:rPr lang="pt-BR" dirty="0"/>
              <a:t> NO_LOCK no MS SQL Server pode causar este problema</a:t>
            </a:r>
          </a:p>
        </p:txBody>
      </p:sp>
    </p:spTree>
    <p:extLst>
      <p:ext uri="{BB962C8B-B14F-4D97-AF65-F5344CB8AC3E}">
        <p14:creationId xmlns:p14="http://schemas.microsoft.com/office/powerpoint/2010/main" val="586868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ubtítulo 2">
            <a:extLst>
              <a:ext uri="{FF2B5EF4-FFF2-40B4-BE49-F238E27FC236}">
                <a16:creationId xmlns:a16="http://schemas.microsoft.com/office/drawing/2014/main" id="{E160E686-CF48-4091-9014-C01D199433F7}"/>
              </a:ext>
            </a:extLst>
          </p:cNvPr>
          <p:cNvSpPr>
            <a:spLocks noGrp="1"/>
          </p:cNvSpPr>
          <p:nvPr>
            <p:ph type="subTitle" idx="1"/>
          </p:nvPr>
        </p:nvSpPr>
        <p:spPr>
          <a:xfrm>
            <a:off x="546100" y="1240006"/>
            <a:ext cx="8089899" cy="2668250"/>
          </a:xfrm>
        </p:spPr>
        <p:txBody>
          <a:bodyPr>
            <a:normAutofit/>
          </a:bodyPr>
          <a:lstStyle/>
          <a:p>
            <a:pPr marL="285750" indent="-285750" algn="just">
              <a:buClr>
                <a:srgbClr val="ED145B"/>
              </a:buClr>
              <a:buFont typeface="Arial" panose="020B0604020202020204" pitchFamily="34" charset="0"/>
              <a:buChar char="•"/>
              <a:defRPr/>
            </a:pPr>
            <a:r>
              <a:rPr lang="pt-BR" sz="200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Fuzzy</a:t>
            </a:r>
            <a:r>
              <a:rPr lang="pt-BR" sz="2000" dirty="0">
                <a:solidFill>
                  <a:schemeClr val="tx1"/>
                </a:solidFill>
                <a:effectLst/>
                <a:latin typeface="Arial" panose="020B0604020202020204" pitchFamily="34" charset="0"/>
                <a:ea typeface="Calibri" panose="020F0502020204030204" pitchFamily="34" charset="0"/>
                <a:cs typeface="Arial" panose="020B0604020202020204" pitchFamily="34" charset="0"/>
              </a:rPr>
              <a:t> ou Non-</a:t>
            </a:r>
            <a:r>
              <a:rPr lang="pt-BR" sz="200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repeatable</a:t>
            </a:r>
            <a:r>
              <a:rPr lang="pt-BR" sz="2000"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reads</a:t>
            </a:r>
            <a:endParaRPr lang="pt-BR" sz="20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285750" indent="-285750" algn="just">
              <a:buClr>
                <a:srgbClr val="ED145B"/>
              </a:buClr>
              <a:buFont typeface="Arial" panose="020B0604020202020204" pitchFamily="34" charset="0"/>
              <a:buChar char="•"/>
              <a:defRPr/>
            </a:pPr>
            <a:endPar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742950" lvl="1" indent="-285750" algn="just">
              <a:buClr>
                <a:srgbClr val="ED145B"/>
              </a:buClr>
              <a:buFont typeface="Arial" panose="020B0604020202020204" pitchFamily="34" charset="0"/>
              <a:buChar char="•"/>
              <a:defRPr/>
            </a:pP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Uma transação relê os dados lidos anteriormente e descobre que outra transação confirmada modificou ou excluiu os dados. </a:t>
            </a:r>
          </a:p>
          <a:p>
            <a:pPr marL="742950" lvl="1" indent="-285750" algn="just">
              <a:buClr>
                <a:srgbClr val="ED145B"/>
              </a:buClr>
              <a:buFont typeface="Arial" panose="020B0604020202020204" pitchFamily="34" charset="0"/>
              <a:buChar char="•"/>
              <a:defRPr/>
            </a:pP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Por exemplo, um usuário consulta uma linha e, posteriormente, consulta a mesma linha, apenas para descobrir que os dados foram alterados.</a:t>
            </a:r>
          </a:p>
        </p:txBody>
      </p:sp>
      <p:sp>
        <p:nvSpPr>
          <p:cNvPr id="8" name="Título 1">
            <a:extLst>
              <a:ext uri="{FF2B5EF4-FFF2-40B4-BE49-F238E27FC236}">
                <a16:creationId xmlns:a16="http://schemas.microsoft.com/office/drawing/2014/main" id="{E801C02C-E0F2-4CD0-A199-F345517F28DF}"/>
              </a:ext>
            </a:extLst>
          </p:cNvPr>
          <p:cNvSpPr>
            <a:spLocks noGrp="1"/>
          </p:cNvSpPr>
          <p:nvPr>
            <p:ph type="ctrTitle"/>
          </p:nvPr>
        </p:nvSpPr>
        <p:spPr>
          <a:xfrm>
            <a:off x="1463975" y="108446"/>
            <a:ext cx="6137528" cy="790116"/>
          </a:xfrm>
        </p:spPr>
        <p:txBody>
          <a:bodyPr>
            <a:normAutofit fontScale="90000"/>
          </a:bodyPr>
          <a:lstStyle/>
          <a:p>
            <a:pPr eaLnBrk="1" hangingPunct="1"/>
            <a:r>
              <a:rPr lang="pt-BR" altLang="pt-BR" dirty="0">
                <a:solidFill>
                  <a:srgbClr val="ED145B"/>
                </a:solidFill>
              </a:rPr>
              <a:t>Fenômenos evitáveis em Transações </a:t>
            </a:r>
          </a:p>
        </p:txBody>
      </p:sp>
      <p:sp>
        <p:nvSpPr>
          <p:cNvPr id="6" name="TextBox 5">
            <a:extLst>
              <a:ext uri="{FF2B5EF4-FFF2-40B4-BE49-F238E27FC236}">
                <a16:creationId xmlns:a16="http://schemas.microsoft.com/office/drawing/2014/main" id="{82DF96A2-8A3B-AE8E-45AD-79D4759BD23A}"/>
              </a:ext>
            </a:extLst>
          </p:cNvPr>
          <p:cNvSpPr txBox="1"/>
          <p:nvPr/>
        </p:nvSpPr>
        <p:spPr>
          <a:xfrm>
            <a:off x="834381" y="3643735"/>
            <a:ext cx="7396716" cy="954107"/>
          </a:xfrm>
          <a:prstGeom prst="rect">
            <a:avLst/>
          </a:prstGeom>
          <a:solidFill>
            <a:schemeClr val="accent6">
              <a:lumMod val="20000"/>
              <a:lumOff val="80000"/>
            </a:schemeClr>
          </a:solidFill>
        </p:spPr>
        <p:txBody>
          <a:bodyPr wrap="square">
            <a:spAutoFit/>
          </a:bodyPr>
          <a:lstStyle/>
          <a:p>
            <a:r>
              <a:rPr lang="pt-BR" sz="1400" dirty="0"/>
              <a:t>1. A transação T1 lê um item de dados.</a:t>
            </a:r>
          </a:p>
          <a:p>
            <a:r>
              <a:rPr lang="pt-BR" sz="1400" dirty="0"/>
              <a:t>2. Outra transação T2 modifica ou exclui esse item de dados e confirma.</a:t>
            </a:r>
          </a:p>
          <a:p>
            <a:r>
              <a:rPr lang="pt-BR" sz="1400" dirty="0"/>
              <a:t>3. Se T1, em seguida, tenta reler o item de dados, ele recebe um valor modificado ou descobre que o item de dados foi excluído.</a:t>
            </a:r>
          </a:p>
        </p:txBody>
      </p:sp>
    </p:spTree>
    <p:extLst>
      <p:ext uri="{BB962C8B-B14F-4D97-AF65-F5344CB8AC3E}">
        <p14:creationId xmlns:p14="http://schemas.microsoft.com/office/powerpoint/2010/main" val="1512224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ubtítulo 2">
            <a:extLst>
              <a:ext uri="{FF2B5EF4-FFF2-40B4-BE49-F238E27FC236}">
                <a16:creationId xmlns:a16="http://schemas.microsoft.com/office/drawing/2014/main" id="{E160E686-CF48-4091-9014-C01D199433F7}"/>
              </a:ext>
            </a:extLst>
          </p:cNvPr>
          <p:cNvSpPr>
            <a:spLocks noGrp="1"/>
          </p:cNvSpPr>
          <p:nvPr>
            <p:ph type="subTitle" idx="1"/>
          </p:nvPr>
        </p:nvSpPr>
        <p:spPr>
          <a:xfrm>
            <a:off x="571500" y="1000451"/>
            <a:ext cx="8064499" cy="2338050"/>
          </a:xfrm>
        </p:spPr>
        <p:txBody>
          <a:bodyPr>
            <a:normAutofit/>
          </a:bodyPr>
          <a:lstStyle/>
          <a:p>
            <a:pPr marL="285750" indent="-285750" algn="just">
              <a:buClr>
                <a:srgbClr val="ED145B"/>
              </a:buClr>
              <a:buFont typeface="Arial" panose="020B0604020202020204" pitchFamily="34" charset="0"/>
              <a:buChar char="•"/>
              <a:defRPr/>
            </a:pPr>
            <a:r>
              <a:rPr lang="pt-BR" sz="2000" dirty="0">
                <a:solidFill>
                  <a:schemeClr val="tx1"/>
                </a:solidFill>
                <a:effectLst/>
                <a:latin typeface="Arial" panose="020B0604020202020204" pitchFamily="34" charset="0"/>
                <a:ea typeface="Calibri" panose="020F0502020204030204" pitchFamily="34" charset="0"/>
                <a:cs typeface="Arial" panose="020B0604020202020204" pitchFamily="34" charset="0"/>
              </a:rPr>
              <a:t>Phantom </a:t>
            </a:r>
            <a:r>
              <a:rPr lang="pt-BR" sz="200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reads</a:t>
            </a:r>
            <a:endParaRPr lang="pt-BR" sz="20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285750" indent="-285750" algn="just">
              <a:buClr>
                <a:srgbClr val="ED145B"/>
              </a:buClr>
              <a:buFont typeface="Arial" panose="020B0604020202020204" pitchFamily="34" charset="0"/>
              <a:buChar char="•"/>
              <a:defRPr/>
            </a:pPr>
            <a:endParaRPr lang="pt-BR" sz="1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742950" lvl="1" indent="-285750" algn="just">
              <a:buClr>
                <a:srgbClr val="ED145B"/>
              </a:buClr>
              <a:buFont typeface="Arial" panose="020B0604020202020204" pitchFamily="34" charset="0"/>
              <a:buChar char="•"/>
              <a:defRPr/>
            </a:pP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Uma transação executa novamente uma consulta retornando um conjunto de linhas que satisfaz uma condição de pesquisa e descobre que outra transação confirmada inseriu linhas adicionais que satisfazem a condição.</a:t>
            </a:r>
            <a:endParaRPr lang="pt-BR" altLang="pt-BR" sz="1800" dirty="0">
              <a:solidFill>
                <a:schemeClr val="tx1"/>
              </a:solidFill>
              <a:latin typeface="Arial" panose="020B0604020202020204" pitchFamily="34" charset="0"/>
              <a:cs typeface="Arial" panose="020B0604020202020204" pitchFamily="34" charset="0"/>
            </a:endParaRPr>
          </a:p>
        </p:txBody>
      </p:sp>
      <p:sp>
        <p:nvSpPr>
          <p:cNvPr id="7" name="Título 1">
            <a:extLst>
              <a:ext uri="{FF2B5EF4-FFF2-40B4-BE49-F238E27FC236}">
                <a16:creationId xmlns:a16="http://schemas.microsoft.com/office/drawing/2014/main" id="{2BA1256F-4A05-49C3-B6E4-1874EEEB322C}"/>
              </a:ext>
            </a:extLst>
          </p:cNvPr>
          <p:cNvSpPr>
            <a:spLocks noGrp="1"/>
          </p:cNvSpPr>
          <p:nvPr>
            <p:ph type="ctrTitle"/>
          </p:nvPr>
        </p:nvSpPr>
        <p:spPr>
          <a:xfrm>
            <a:off x="1463975" y="108446"/>
            <a:ext cx="6137528" cy="790116"/>
          </a:xfrm>
        </p:spPr>
        <p:txBody>
          <a:bodyPr>
            <a:normAutofit fontScale="90000"/>
          </a:bodyPr>
          <a:lstStyle/>
          <a:p>
            <a:pPr eaLnBrk="1" hangingPunct="1"/>
            <a:r>
              <a:rPr lang="pt-BR" altLang="pt-BR" dirty="0">
                <a:solidFill>
                  <a:srgbClr val="ED145B"/>
                </a:solidFill>
              </a:rPr>
              <a:t>Fenômenos evitáveis em Transações </a:t>
            </a:r>
          </a:p>
        </p:txBody>
      </p:sp>
      <p:sp>
        <p:nvSpPr>
          <p:cNvPr id="3" name="TextBox 2">
            <a:extLst>
              <a:ext uri="{FF2B5EF4-FFF2-40B4-BE49-F238E27FC236}">
                <a16:creationId xmlns:a16="http://schemas.microsoft.com/office/drawing/2014/main" id="{8BAB05BE-FB46-8D23-E7A7-F577780F0BF6}"/>
              </a:ext>
            </a:extLst>
          </p:cNvPr>
          <p:cNvSpPr txBox="1"/>
          <p:nvPr/>
        </p:nvSpPr>
        <p:spPr>
          <a:xfrm>
            <a:off x="539750" y="3809258"/>
            <a:ext cx="4572000" cy="338554"/>
          </a:xfrm>
          <a:prstGeom prst="rect">
            <a:avLst/>
          </a:prstGeom>
          <a:noFill/>
        </p:spPr>
        <p:txBody>
          <a:bodyPr wrap="square">
            <a:spAutoFit/>
          </a:bodyPr>
          <a:lstStyle/>
          <a:p>
            <a:r>
              <a:rPr lang="en-US" sz="1600" b="1" dirty="0"/>
              <a:t>Phantom Reads vs. Non-Repeatable Reads:</a:t>
            </a:r>
            <a:endParaRPr lang="pt-BR" sz="1600" dirty="0"/>
          </a:p>
        </p:txBody>
      </p:sp>
      <p:sp>
        <p:nvSpPr>
          <p:cNvPr id="5" name="TextBox 4">
            <a:extLst>
              <a:ext uri="{FF2B5EF4-FFF2-40B4-BE49-F238E27FC236}">
                <a16:creationId xmlns:a16="http://schemas.microsoft.com/office/drawing/2014/main" id="{303A2CDC-ACDE-E86A-D739-FD7D6458C32C}"/>
              </a:ext>
            </a:extLst>
          </p:cNvPr>
          <p:cNvSpPr txBox="1"/>
          <p:nvPr/>
        </p:nvSpPr>
        <p:spPr>
          <a:xfrm>
            <a:off x="539750" y="4089092"/>
            <a:ext cx="8064499" cy="738664"/>
          </a:xfrm>
          <a:prstGeom prst="rect">
            <a:avLst/>
          </a:prstGeom>
          <a:noFill/>
        </p:spPr>
        <p:txBody>
          <a:bodyPr wrap="square">
            <a:spAutoFit/>
          </a:bodyPr>
          <a:lstStyle/>
          <a:p>
            <a:r>
              <a:rPr lang="pt-BR" sz="1400" dirty="0"/>
              <a:t>Embora ambas envolvam inconsistências de transações simultâneas, as leituras não repetíveis tratam de modificações (atualizações ou eliminações) em dados existentes, enquanto as leituras fantasma envolvem a inserção ou eliminação de linhas, afetando o número de linhas devolvidas numa consulta.</a:t>
            </a:r>
          </a:p>
        </p:txBody>
      </p:sp>
      <p:sp>
        <p:nvSpPr>
          <p:cNvPr id="8" name="TextBox 7">
            <a:extLst>
              <a:ext uri="{FF2B5EF4-FFF2-40B4-BE49-F238E27FC236}">
                <a16:creationId xmlns:a16="http://schemas.microsoft.com/office/drawing/2014/main" id="{C811EDB9-1A65-6C1F-8501-B35586C0D41D}"/>
              </a:ext>
            </a:extLst>
          </p:cNvPr>
          <p:cNvSpPr txBox="1"/>
          <p:nvPr/>
        </p:nvSpPr>
        <p:spPr>
          <a:xfrm>
            <a:off x="571500" y="2743845"/>
            <a:ext cx="8064499" cy="954107"/>
          </a:xfrm>
          <a:prstGeom prst="rect">
            <a:avLst/>
          </a:prstGeom>
          <a:solidFill>
            <a:schemeClr val="accent6">
              <a:lumMod val="20000"/>
              <a:lumOff val="80000"/>
            </a:schemeClr>
          </a:solidFill>
        </p:spPr>
        <p:txBody>
          <a:bodyPr wrap="square">
            <a:spAutoFit/>
          </a:bodyPr>
          <a:lstStyle/>
          <a:p>
            <a:r>
              <a:rPr lang="pt-BR" sz="1400" dirty="0"/>
              <a:t>1. A transação T1 lê um conjunto de itens de dados que satisfazem algumas &lt;condições de pesquisa&gt;.</a:t>
            </a:r>
          </a:p>
          <a:p>
            <a:r>
              <a:rPr lang="pt-BR" sz="1400" dirty="0"/>
              <a:t>2. A Transação T2 em seguida, cria itens de dados que atendem à &lt;condição de pesquisa&gt; de T1 e confirma.</a:t>
            </a:r>
          </a:p>
          <a:p>
            <a:r>
              <a:rPr lang="pt-BR" sz="1400" dirty="0"/>
              <a:t>3. Se T1 repetir sua leitura com a mesma &lt;condição de pesquisa&gt;, ele obterá um conjunto de itens de dados diferentes da primeira leitura.</a:t>
            </a:r>
          </a:p>
        </p:txBody>
      </p:sp>
    </p:spTree>
    <p:extLst>
      <p:ext uri="{BB962C8B-B14F-4D97-AF65-F5344CB8AC3E}">
        <p14:creationId xmlns:p14="http://schemas.microsoft.com/office/powerpoint/2010/main" val="1855386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ítulo 1">
            <a:extLst>
              <a:ext uri="{FF2B5EF4-FFF2-40B4-BE49-F238E27FC236}">
                <a16:creationId xmlns:a16="http://schemas.microsoft.com/office/drawing/2014/main" id="{A7661111-56F2-4CF4-A73C-F4DCB49F791A}"/>
              </a:ext>
            </a:extLst>
          </p:cNvPr>
          <p:cNvSpPr>
            <a:spLocks noGrp="1"/>
          </p:cNvSpPr>
          <p:nvPr>
            <p:ph type="ctrTitle"/>
          </p:nvPr>
        </p:nvSpPr>
        <p:spPr>
          <a:xfrm>
            <a:off x="1681885" y="133846"/>
            <a:ext cx="5459303" cy="790116"/>
          </a:xfrm>
        </p:spPr>
        <p:txBody>
          <a:bodyPr>
            <a:normAutofit/>
          </a:bodyPr>
          <a:lstStyle/>
          <a:p>
            <a:pPr eaLnBrk="1" hangingPunct="1"/>
            <a:r>
              <a:rPr lang="pt-BR" altLang="pt-BR" dirty="0">
                <a:solidFill>
                  <a:srgbClr val="ED145B"/>
                </a:solidFill>
              </a:rPr>
              <a:t>Níveis de Isolamento</a:t>
            </a:r>
          </a:p>
        </p:txBody>
      </p:sp>
      <p:sp>
        <p:nvSpPr>
          <p:cNvPr id="17411" name="Subtítulo 2">
            <a:extLst>
              <a:ext uri="{FF2B5EF4-FFF2-40B4-BE49-F238E27FC236}">
                <a16:creationId xmlns:a16="http://schemas.microsoft.com/office/drawing/2014/main" id="{E160E686-CF48-4091-9014-C01D199433F7}"/>
              </a:ext>
            </a:extLst>
          </p:cNvPr>
          <p:cNvSpPr>
            <a:spLocks noGrp="1"/>
          </p:cNvSpPr>
          <p:nvPr>
            <p:ph type="subTitle" idx="1"/>
          </p:nvPr>
        </p:nvSpPr>
        <p:spPr>
          <a:xfrm>
            <a:off x="558800" y="1186251"/>
            <a:ext cx="8051799" cy="2775760"/>
          </a:xfrm>
        </p:spPr>
        <p:txBody>
          <a:bodyPr>
            <a:normAutofit fontScale="85000" lnSpcReduction="20000"/>
          </a:bodyPr>
          <a:lstStyle/>
          <a:p>
            <a:pPr marL="285750" indent="-285750" algn="just">
              <a:buClr>
                <a:srgbClr val="ED145B"/>
              </a:buClr>
              <a:buFont typeface="Arial" panose="020B0604020202020204" pitchFamily="34" charset="0"/>
              <a:buChar char="•"/>
              <a:defRPr/>
            </a:pP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O padrão </a:t>
            </a:r>
            <a:r>
              <a:rPr lang="it-IT" sz="19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rPr>
              <a:t>ANSI / ISO SQL (SQL92) </a:t>
            </a: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define </a:t>
            </a:r>
            <a:r>
              <a:rPr lang="pt-BR" sz="1900" b="1" dirty="0">
                <a:solidFill>
                  <a:schemeClr val="tx1"/>
                </a:solidFill>
                <a:effectLst/>
                <a:latin typeface="Arial" panose="020B0604020202020204" pitchFamily="34" charset="0"/>
                <a:ea typeface="Calibri" panose="020F0502020204030204" pitchFamily="34" charset="0"/>
                <a:cs typeface="Arial" panose="020B0604020202020204" pitchFamily="34" charset="0"/>
              </a:rPr>
              <a:t>quatro níveis de isolamento </a:t>
            </a: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em termos dos fenômenos que uma transação em execução em um determinado nível de isolamento pode experimentar.</a:t>
            </a:r>
          </a:p>
          <a:p>
            <a:pPr marL="285750" indent="-285750" algn="just">
              <a:buClr>
                <a:srgbClr val="ED145B"/>
              </a:buClr>
              <a:buFont typeface="Arial" panose="020B0604020202020204" pitchFamily="34" charset="0"/>
              <a:buChar char="•"/>
              <a:defRPr/>
            </a:pPr>
            <a:endPar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285750" indent="-285750" algn="just">
              <a:buClr>
                <a:srgbClr val="ED145B"/>
              </a:buClr>
              <a:buFont typeface="Arial" panose="020B0604020202020204" pitchFamily="34" charset="0"/>
              <a:buChar char="•"/>
              <a:defRPr/>
            </a:pP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Cada nível de isolamento contém vários graus de impacto no processamento de transações</a:t>
            </a:r>
          </a:p>
          <a:p>
            <a:pPr marL="285750" indent="-285750" algn="just">
              <a:buClr>
                <a:srgbClr val="ED145B"/>
              </a:buClr>
              <a:buFont typeface="Arial" panose="020B0604020202020204" pitchFamily="34" charset="0"/>
              <a:buChar char="•"/>
              <a:defRPr/>
            </a:pPr>
            <a:endPar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742950" lvl="1" indent="-285750" algn="just">
              <a:buClr>
                <a:srgbClr val="ED145B"/>
              </a:buClr>
              <a:buFont typeface="Arial" panose="020B0604020202020204" pitchFamily="34" charset="0"/>
              <a:buChar char="•"/>
              <a:defRPr/>
            </a:pPr>
            <a:r>
              <a:rPr lang="en-US" altLang="pt-BR" sz="1900" i="1" dirty="0">
                <a:solidFill>
                  <a:srgbClr val="FF0000"/>
                </a:solidFill>
                <a:latin typeface="Arial" panose="020B0604020202020204" pitchFamily="34" charset="0"/>
                <a:cs typeface="Arial" panose="020B0604020202020204" pitchFamily="34" charset="0"/>
              </a:rPr>
              <a:t>Read uncommitted</a:t>
            </a:r>
            <a:r>
              <a:rPr lang="en-US" altLang="pt-BR" sz="1900" dirty="0">
                <a:solidFill>
                  <a:srgbClr val="FF0000"/>
                </a:solidFill>
                <a:latin typeface="Arial" panose="020B0604020202020204" pitchFamily="34" charset="0"/>
                <a:cs typeface="Arial" panose="020B0604020202020204" pitchFamily="34" charset="0"/>
              </a:rPr>
              <a:t> (</a:t>
            </a:r>
            <a:r>
              <a:rPr lang="en-US" altLang="pt-BR" sz="1900" dirty="0" err="1">
                <a:solidFill>
                  <a:srgbClr val="FF0000"/>
                </a:solidFill>
                <a:latin typeface="Arial" panose="020B0604020202020204" pitchFamily="34" charset="0"/>
                <a:cs typeface="Arial" panose="020B0604020202020204" pitchFamily="34" charset="0"/>
              </a:rPr>
              <a:t>Leitura</a:t>
            </a:r>
            <a:r>
              <a:rPr lang="en-US" altLang="pt-BR" sz="1900" dirty="0">
                <a:solidFill>
                  <a:srgbClr val="FF0000"/>
                </a:solidFill>
                <a:latin typeface="Arial" panose="020B0604020202020204" pitchFamily="34" charset="0"/>
                <a:cs typeface="Arial" panose="020B0604020202020204" pitchFamily="34" charset="0"/>
              </a:rPr>
              <a:t> </a:t>
            </a:r>
            <a:r>
              <a:rPr lang="en-US" altLang="pt-BR" sz="1900" dirty="0" err="1">
                <a:solidFill>
                  <a:srgbClr val="FF0000"/>
                </a:solidFill>
                <a:latin typeface="Arial" panose="020B0604020202020204" pitchFamily="34" charset="0"/>
                <a:cs typeface="Arial" panose="020B0604020202020204" pitchFamily="34" charset="0"/>
              </a:rPr>
              <a:t>não</a:t>
            </a:r>
            <a:r>
              <a:rPr lang="en-US" altLang="pt-BR" sz="1900" dirty="0">
                <a:solidFill>
                  <a:srgbClr val="FF0000"/>
                </a:solidFill>
                <a:latin typeface="Arial" panose="020B0604020202020204" pitchFamily="34" charset="0"/>
                <a:cs typeface="Arial" panose="020B0604020202020204" pitchFamily="34" charset="0"/>
              </a:rPr>
              <a:t> </a:t>
            </a:r>
            <a:r>
              <a:rPr lang="en-US" altLang="pt-BR" sz="1900" dirty="0" err="1">
                <a:solidFill>
                  <a:srgbClr val="FF0000"/>
                </a:solidFill>
                <a:latin typeface="Arial" panose="020B0604020202020204" pitchFamily="34" charset="0"/>
                <a:cs typeface="Arial" panose="020B0604020202020204" pitchFamily="34" charset="0"/>
              </a:rPr>
              <a:t>confirmada</a:t>
            </a:r>
            <a:r>
              <a:rPr lang="en-US" altLang="pt-BR" sz="1900" dirty="0">
                <a:solidFill>
                  <a:srgbClr val="FF0000"/>
                </a:solidFill>
                <a:latin typeface="Arial" panose="020B0604020202020204" pitchFamily="34" charset="0"/>
                <a:cs typeface="Arial" panose="020B0604020202020204" pitchFamily="34" charset="0"/>
              </a:rPr>
              <a:t>)</a:t>
            </a:r>
          </a:p>
          <a:p>
            <a:pPr marL="742950" lvl="1" indent="-285750" algn="just">
              <a:buClr>
                <a:srgbClr val="ED145B"/>
              </a:buClr>
              <a:buFont typeface="Arial" panose="020B0604020202020204" pitchFamily="34" charset="0"/>
              <a:buChar char="•"/>
              <a:defRPr/>
            </a:pPr>
            <a:r>
              <a:rPr lang="en-US" altLang="pt-BR" sz="1900" i="1" dirty="0">
                <a:solidFill>
                  <a:srgbClr val="00B0F0"/>
                </a:solidFill>
                <a:latin typeface="Arial" panose="020B0604020202020204" pitchFamily="34" charset="0"/>
                <a:cs typeface="Arial" panose="020B0604020202020204" pitchFamily="34" charset="0"/>
              </a:rPr>
              <a:t>Read committed </a:t>
            </a:r>
            <a:r>
              <a:rPr lang="en-US" altLang="pt-BR" sz="1900" dirty="0">
                <a:solidFill>
                  <a:srgbClr val="00B0F0"/>
                </a:solidFill>
                <a:latin typeface="Arial" panose="020B0604020202020204" pitchFamily="34" charset="0"/>
                <a:cs typeface="Arial" panose="020B0604020202020204" pitchFamily="34" charset="0"/>
              </a:rPr>
              <a:t>(</a:t>
            </a:r>
            <a:r>
              <a:rPr lang="en-US" altLang="pt-BR" sz="1900" dirty="0" err="1">
                <a:solidFill>
                  <a:srgbClr val="00B0F0"/>
                </a:solidFill>
                <a:latin typeface="Arial" panose="020B0604020202020204" pitchFamily="34" charset="0"/>
                <a:cs typeface="Arial" panose="020B0604020202020204" pitchFamily="34" charset="0"/>
              </a:rPr>
              <a:t>Leitura</a:t>
            </a:r>
            <a:r>
              <a:rPr lang="en-US" altLang="pt-BR" sz="1900" dirty="0">
                <a:solidFill>
                  <a:srgbClr val="00B0F0"/>
                </a:solidFill>
                <a:latin typeface="Arial" panose="020B0604020202020204" pitchFamily="34" charset="0"/>
                <a:cs typeface="Arial" panose="020B0604020202020204" pitchFamily="34" charset="0"/>
              </a:rPr>
              <a:t> </a:t>
            </a:r>
            <a:r>
              <a:rPr lang="en-US" altLang="pt-BR" sz="1900" dirty="0" err="1">
                <a:solidFill>
                  <a:srgbClr val="00B0F0"/>
                </a:solidFill>
                <a:latin typeface="Arial" panose="020B0604020202020204" pitchFamily="34" charset="0"/>
                <a:cs typeface="Arial" panose="020B0604020202020204" pitchFamily="34" charset="0"/>
              </a:rPr>
              <a:t>confirmada</a:t>
            </a:r>
            <a:r>
              <a:rPr lang="en-US" altLang="pt-BR" sz="1900" dirty="0">
                <a:solidFill>
                  <a:srgbClr val="00B0F0"/>
                </a:solidFill>
                <a:latin typeface="Arial" panose="020B0604020202020204" pitchFamily="34" charset="0"/>
                <a:cs typeface="Arial" panose="020B0604020202020204" pitchFamily="34" charset="0"/>
              </a:rPr>
              <a:t>)</a:t>
            </a:r>
          </a:p>
          <a:p>
            <a:pPr marL="742950" lvl="1" indent="-285750" algn="just">
              <a:buClr>
                <a:srgbClr val="ED145B"/>
              </a:buClr>
              <a:buFont typeface="Arial" panose="020B0604020202020204" pitchFamily="34" charset="0"/>
              <a:buChar char="•"/>
              <a:defRPr/>
            </a:pPr>
            <a:r>
              <a:rPr lang="en-US" altLang="pt-BR" sz="1900" i="1" dirty="0">
                <a:solidFill>
                  <a:schemeClr val="accent1">
                    <a:lumMod val="75000"/>
                  </a:schemeClr>
                </a:solidFill>
                <a:latin typeface="Arial" panose="020B0604020202020204" pitchFamily="34" charset="0"/>
                <a:cs typeface="Arial" panose="020B0604020202020204" pitchFamily="34" charset="0"/>
              </a:rPr>
              <a:t>Repeatable read </a:t>
            </a:r>
            <a:r>
              <a:rPr lang="en-US" altLang="pt-BR" sz="1900" dirty="0">
                <a:solidFill>
                  <a:schemeClr val="accent1">
                    <a:lumMod val="75000"/>
                  </a:schemeClr>
                </a:solidFill>
                <a:latin typeface="Arial" panose="020B0604020202020204" pitchFamily="34" charset="0"/>
                <a:cs typeface="Arial" panose="020B0604020202020204" pitchFamily="34" charset="0"/>
              </a:rPr>
              <a:t>(</a:t>
            </a:r>
            <a:r>
              <a:rPr lang="en-US" altLang="pt-BR" sz="1900" dirty="0" err="1">
                <a:solidFill>
                  <a:schemeClr val="accent1">
                    <a:lumMod val="75000"/>
                  </a:schemeClr>
                </a:solidFill>
                <a:latin typeface="Arial" panose="020B0604020202020204" pitchFamily="34" charset="0"/>
                <a:cs typeface="Arial" panose="020B0604020202020204" pitchFamily="34" charset="0"/>
              </a:rPr>
              <a:t>Leitura</a:t>
            </a:r>
            <a:r>
              <a:rPr lang="en-US" altLang="pt-BR" sz="1900" dirty="0">
                <a:solidFill>
                  <a:schemeClr val="accent1">
                    <a:lumMod val="75000"/>
                  </a:schemeClr>
                </a:solidFill>
                <a:latin typeface="Arial" panose="020B0604020202020204" pitchFamily="34" charset="0"/>
                <a:cs typeface="Arial" panose="020B0604020202020204" pitchFamily="34" charset="0"/>
              </a:rPr>
              <a:t> </a:t>
            </a:r>
            <a:r>
              <a:rPr lang="en-US" altLang="pt-BR" sz="1900" dirty="0" err="1">
                <a:solidFill>
                  <a:schemeClr val="accent1">
                    <a:lumMod val="75000"/>
                  </a:schemeClr>
                </a:solidFill>
                <a:latin typeface="Arial" panose="020B0604020202020204" pitchFamily="34" charset="0"/>
                <a:cs typeface="Arial" panose="020B0604020202020204" pitchFamily="34" charset="0"/>
              </a:rPr>
              <a:t>Repetível</a:t>
            </a:r>
            <a:r>
              <a:rPr lang="en-US" altLang="pt-BR" sz="1900" dirty="0">
                <a:solidFill>
                  <a:schemeClr val="accent1">
                    <a:lumMod val="75000"/>
                  </a:schemeClr>
                </a:solidFill>
                <a:latin typeface="Arial" panose="020B0604020202020204" pitchFamily="34" charset="0"/>
                <a:cs typeface="Arial" panose="020B0604020202020204" pitchFamily="34" charset="0"/>
              </a:rPr>
              <a:t>)</a:t>
            </a:r>
          </a:p>
          <a:p>
            <a:pPr marL="742950" lvl="1" indent="-285750" algn="just">
              <a:buClr>
                <a:srgbClr val="ED145B"/>
              </a:buClr>
              <a:buFont typeface="Arial" panose="020B0604020202020204" pitchFamily="34" charset="0"/>
              <a:buChar char="•"/>
              <a:defRPr/>
            </a:pPr>
            <a:r>
              <a:rPr lang="en-US" altLang="pt-BR" sz="1900" i="1" dirty="0">
                <a:solidFill>
                  <a:schemeClr val="accent1">
                    <a:lumMod val="75000"/>
                  </a:schemeClr>
                </a:solidFill>
                <a:latin typeface="Arial" panose="020B0604020202020204" pitchFamily="34" charset="0"/>
                <a:cs typeface="Arial" panose="020B0604020202020204" pitchFamily="34" charset="0"/>
              </a:rPr>
              <a:t>Serializable</a:t>
            </a:r>
            <a:r>
              <a:rPr lang="en-US" altLang="pt-BR" sz="1900" dirty="0">
                <a:solidFill>
                  <a:schemeClr val="accent1">
                    <a:lumMod val="75000"/>
                  </a:schemeClr>
                </a:solidFill>
                <a:latin typeface="Arial" panose="020B0604020202020204" pitchFamily="34" charset="0"/>
                <a:cs typeface="Arial" panose="020B0604020202020204" pitchFamily="34" charset="0"/>
              </a:rPr>
              <a:t> (</a:t>
            </a:r>
            <a:r>
              <a:rPr lang="en-US" altLang="pt-BR" sz="1900" dirty="0" err="1">
                <a:solidFill>
                  <a:schemeClr val="accent1">
                    <a:lumMod val="75000"/>
                  </a:schemeClr>
                </a:solidFill>
                <a:latin typeface="Arial" panose="020B0604020202020204" pitchFamily="34" charset="0"/>
                <a:cs typeface="Arial" panose="020B0604020202020204" pitchFamily="34" charset="0"/>
              </a:rPr>
              <a:t>Serializada</a:t>
            </a:r>
            <a:r>
              <a:rPr lang="en-US" altLang="pt-BR" sz="1900" dirty="0">
                <a:solidFill>
                  <a:schemeClr val="accent1">
                    <a:lumMod val="75000"/>
                  </a:schemeClr>
                </a:solidFill>
                <a:latin typeface="Arial" panose="020B0604020202020204" pitchFamily="34" charset="0"/>
                <a:cs typeface="Arial" panose="020B0604020202020204" pitchFamily="34" charset="0"/>
              </a:rPr>
              <a:t>)</a:t>
            </a:r>
          </a:p>
          <a:p>
            <a:pPr marL="285750" indent="-285750" algn="just">
              <a:buFont typeface="Arial" panose="020B0604020202020204" pitchFamily="34" charset="0"/>
              <a:buChar char="•"/>
              <a:defRPr/>
            </a:pPr>
            <a:endParaRPr lang="pt-BR" altLang="pt-BR" sz="1877"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9075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ítulo 1">
            <a:extLst>
              <a:ext uri="{FF2B5EF4-FFF2-40B4-BE49-F238E27FC236}">
                <a16:creationId xmlns:a16="http://schemas.microsoft.com/office/drawing/2014/main" id="{A7661111-56F2-4CF4-A73C-F4DCB49F791A}"/>
              </a:ext>
            </a:extLst>
          </p:cNvPr>
          <p:cNvSpPr>
            <a:spLocks noGrp="1"/>
          </p:cNvSpPr>
          <p:nvPr>
            <p:ph type="ctrTitle"/>
          </p:nvPr>
        </p:nvSpPr>
        <p:spPr>
          <a:xfrm>
            <a:off x="1842348" y="95746"/>
            <a:ext cx="5459303" cy="790116"/>
          </a:xfrm>
        </p:spPr>
        <p:txBody>
          <a:bodyPr>
            <a:normAutofit/>
          </a:bodyPr>
          <a:lstStyle/>
          <a:p>
            <a:pPr eaLnBrk="1" hangingPunct="1"/>
            <a:r>
              <a:rPr lang="pt-BR" altLang="pt-BR" dirty="0">
                <a:solidFill>
                  <a:srgbClr val="ED145B"/>
                </a:solidFill>
              </a:rPr>
              <a:t>Níveis de Isolamento - Oracle</a:t>
            </a:r>
          </a:p>
        </p:txBody>
      </p:sp>
      <p:sp>
        <p:nvSpPr>
          <p:cNvPr id="17411" name="Subtítulo 2">
            <a:extLst>
              <a:ext uri="{FF2B5EF4-FFF2-40B4-BE49-F238E27FC236}">
                <a16:creationId xmlns:a16="http://schemas.microsoft.com/office/drawing/2014/main" id="{E160E686-CF48-4091-9014-C01D199433F7}"/>
              </a:ext>
            </a:extLst>
          </p:cNvPr>
          <p:cNvSpPr>
            <a:spLocks noGrp="1"/>
          </p:cNvSpPr>
          <p:nvPr>
            <p:ph type="subTitle" idx="1"/>
          </p:nvPr>
        </p:nvSpPr>
        <p:spPr>
          <a:xfrm>
            <a:off x="520699" y="1424906"/>
            <a:ext cx="8102599" cy="2401550"/>
          </a:xfrm>
        </p:spPr>
        <p:txBody>
          <a:bodyPr>
            <a:normAutofit/>
          </a:bodyPr>
          <a:lstStyle/>
          <a:p>
            <a:pPr marL="285750" indent="-285750" algn="just">
              <a:buClr>
                <a:srgbClr val="ED145B"/>
              </a:buClr>
              <a:buFont typeface="Arial" panose="020B0604020202020204" pitchFamily="34" charset="0"/>
              <a:buChar char="•"/>
              <a:defRPr/>
            </a:pP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Read</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Committed</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Isolation</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Level</a:t>
            </a:r>
            <a:endPar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285750" indent="-285750" algn="just">
              <a:buClr>
                <a:srgbClr val="ED145B"/>
              </a:buClr>
              <a:buFont typeface="Arial" panose="020B0604020202020204" pitchFamily="34" charset="0"/>
              <a:buChar char="•"/>
              <a:defRPr/>
            </a:pPr>
            <a:endPar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742950" lvl="1" indent="-285750" algn="just">
              <a:buClr>
                <a:srgbClr val="ED145B"/>
              </a:buClr>
              <a:buFont typeface="Arial" panose="020B0604020202020204" pitchFamily="34" charset="0"/>
              <a:buChar char="•"/>
              <a:defRPr/>
            </a:pP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No nível de isolamento de leitura confirmada, </a:t>
            </a:r>
            <a:r>
              <a:rPr lang="pt-BR" sz="1800" u="sng" dirty="0">
                <a:solidFill>
                  <a:schemeClr val="tx1"/>
                </a:solidFill>
                <a:effectLst/>
                <a:latin typeface="Arial" panose="020B0604020202020204" pitchFamily="34" charset="0"/>
                <a:ea typeface="Calibri" panose="020F0502020204030204" pitchFamily="34" charset="0"/>
                <a:cs typeface="Arial" panose="020B0604020202020204" pitchFamily="34" charset="0"/>
              </a:rPr>
              <a:t>que é o padrão</a:t>
            </a: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 cada consulta executada por uma transação vê apenas os dados confirmados antes do início da consulta - não da transação. </a:t>
            </a:r>
          </a:p>
          <a:p>
            <a:pPr marL="742950" lvl="1" indent="-285750" algn="just">
              <a:buClr>
                <a:srgbClr val="ED145B"/>
              </a:buClr>
              <a:buFont typeface="Arial" panose="020B0604020202020204" pitchFamily="34" charset="0"/>
              <a:buChar char="•"/>
              <a:defRPr/>
            </a:pP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Esse nível de isolamento é apropriado para ambientes de banco de dados nos quais poucas transações podem entrar em conflito.</a:t>
            </a:r>
          </a:p>
          <a:p>
            <a:pPr marL="285750" indent="-285750" algn="just">
              <a:buFont typeface="Arial" panose="020B0604020202020204" pitchFamily="34" charset="0"/>
              <a:buChar char="•"/>
              <a:defRPr/>
            </a:pPr>
            <a:endParaRPr lang="pt-BR" altLang="pt-BR" sz="1877"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7519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98422-5717-7540-896D-32B9CB15F7E7}"/>
            </a:ext>
          </a:extLst>
        </p:cNvPr>
        <p:cNvGrpSpPr/>
        <p:nvPr/>
      </p:nvGrpSpPr>
      <p:grpSpPr>
        <a:xfrm>
          <a:off x="0" y="0"/>
          <a:ext cx="0" cy="0"/>
          <a:chOff x="0" y="0"/>
          <a:chExt cx="0" cy="0"/>
        </a:xfrm>
      </p:grpSpPr>
      <p:sp>
        <p:nvSpPr>
          <p:cNvPr id="17410" name="Título 1">
            <a:extLst>
              <a:ext uri="{FF2B5EF4-FFF2-40B4-BE49-F238E27FC236}">
                <a16:creationId xmlns:a16="http://schemas.microsoft.com/office/drawing/2014/main" id="{8AD3F297-1DE0-0B54-6C7A-9266878C4B0F}"/>
              </a:ext>
            </a:extLst>
          </p:cNvPr>
          <p:cNvSpPr>
            <a:spLocks noGrp="1"/>
          </p:cNvSpPr>
          <p:nvPr>
            <p:ph type="ctrTitle"/>
          </p:nvPr>
        </p:nvSpPr>
        <p:spPr>
          <a:xfrm>
            <a:off x="1842348" y="95746"/>
            <a:ext cx="5459303" cy="790116"/>
          </a:xfrm>
        </p:spPr>
        <p:txBody>
          <a:bodyPr>
            <a:normAutofit/>
          </a:bodyPr>
          <a:lstStyle/>
          <a:p>
            <a:pPr eaLnBrk="1" hangingPunct="1"/>
            <a:r>
              <a:rPr lang="pt-BR" altLang="pt-BR" dirty="0">
                <a:solidFill>
                  <a:srgbClr val="ED145B"/>
                </a:solidFill>
              </a:rPr>
              <a:t>Níveis de Isolamento - Oracle</a:t>
            </a:r>
          </a:p>
        </p:txBody>
      </p:sp>
      <p:sp>
        <p:nvSpPr>
          <p:cNvPr id="17411" name="Subtítulo 2">
            <a:extLst>
              <a:ext uri="{FF2B5EF4-FFF2-40B4-BE49-F238E27FC236}">
                <a16:creationId xmlns:a16="http://schemas.microsoft.com/office/drawing/2014/main" id="{98AD946C-339F-7C92-DE54-106DDF4AA411}"/>
              </a:ext>
            </a:extLst>
          </p:cNvPr>
          <p:cNvSpPr>
            <a:spLocks noGrp="1"/>
          </p:cNvSpPr>
          <p:nvPr>
            <p:ph type="subTitle" idx="1"/>
          </p:nvPr>
        </p:nvSpPr>
        <p:spPr>
          <a:xfrm>
            <a:off x="562248" y="826259"/>
            <a:ext cx="4640818" cy="532683"/>
          </a:xfrm>
        </p:spPr>
        <p:txBody>
          <a:bodyPr>
            <a:normAutofit/>
          </a:bodyPr>
          <a:lstStyle/>
          <a:p>
            <a:pPr marL="285750" indent="-285750" algn="just">
              <a:buClr>
                <a:srgbClr val="ED145B"/>
              </a:buClr>
              <a:buFont typeface="Arial" panose="020B0604020202020204" pitchFamily="34" charset="0"/>
              <a:buChar char="•"/>
              <a:defRPr/>
            </a:pP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Read</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Committed</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Isolation</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Level</a:t>
            </a:r>
            <a:endPar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just">
              <a:defRPr/>
            </a:pPr>
            <a:endParaRPr lang="pt-BR" altLang="pt-BR" sz="1877" dirty="0">
              <a:solidFill>
                <a:schemeClr val="tx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190652BF-F861-172A-D7FE-0656CFF35561}"/>
              </a:ext>
            </a:extLst>
          </p:cNvPr>
          <p:cNvSpPr/>
          <p:nvPr/>
        </p:nvSpPr>
        <p:spPr>
          <a:xfrm>
            <a:off x="689019" y="1384216"/>
            <a:ext cx="3683357" cy="349068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t-BR" sz="1100" dirty="0"/>
          </a:p>
        </p:txBody>
      </p:sp>
      <p:sp>
        <p:nvSpPr>
          <p:cNvPr id="3" name="Rectangle 2">
            <a:extLst>
              <a:ext uri="{FF2B5EF4-FFF2-40B4-BE49-F238E27FC236}">
                <a16:creationId xmlns:a16="http://schemas.microsoft.com/office/drawing/2014/main" id="{AD0EDD73-8852-4890-9A2A-900BAAFFBF65}"/>
              </a:ext>
            </a:extLst>
          </p:cNvPr>
          <p:cNvSpPr/>
          <p:nvPr/>
        </p:nvSpPr>
        <p:spPr>
          <a:xfrm>
            <a:off x="4859628" y="1394949"/>
            <a:ext cx="3866699" cy="349068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t-BR"/>
          </a:p>
        </p:txBody>
      </p:sp>
      <p:sp>
        <p:nvSpPr>
          <p:cNvPr id="4" name="TextBox 3">
            <a:extLst>
              <a:ext uri="{FF2B5EF4-FFF2-40B4-BE49-F238E27FC236}">
                <a16:creationId xmlns:a16="http://schemas.microsoft.com/office/drawing/2014/main" id="{8646432C-5E14-7AFD-C192-09C26F6D7E0A}"/>
              </a:ext>
            </a:extLst>
          </p:cNvPr>
          <p:cNvSpPr txBox="1"/>
          <p:nvPr/>
        </p:nvSpPr>
        <p:spPr>
          <a:xfrm>
            <a:off x="670370" y="1371604"/>
            <a:ext cx="1490473" cy="369332"/>
          </a:xfrm>
          <a:prstGeom prst="rect">
            <a:avLst/>
          </a:prstGeom>
          <a:noFill/>
        </p:spPr>
        <p:txBody>
          <a:bodyPr wrap="none" rtlCol="0">
            <a:spAutoFit/>
          </a:bodyPr>
          <a:lstStyle/>
          <a:p>
            <a:r>
              <a:rPr lang="pt-BR" dirty="0"/>
              <a:t>Transação Tx1</a:t>
            </a:r>
          </a:p>
        </p:txBody>
      </p:sp>
      <p:sp>
        <p:nvSpPr>
          <p:cNvPr id="5" name="TextBox 4">
            <a:extLst>
              <a:ext uri="{FF2B5EF4-FFF2-40B4-BE49-F238E27FC236}">
                <a16:creationId xmlns:a16="http://schemas.microsoft.com/office/drawing/2014/main" id="{CB1B1BE9-8FD5-785A-925F-6DE87A1F3CDE}"/>
              </a:ext>
            </a:extLst>
          </p:cNvPr>
          <p:cNvSpPr txBox="1"/>
          <p:nvPr/>
        </p:nvSpPr>
        <p:spPr>
          <a:xfrm>
            <a:off x="4859628" y="1382337"/>
            <a:ext cx="1490473" cy="369332"/>
          </a:xfrm>
          <a:prstGeom prst="rect">
            <a:avLst/>
          </a:prstGeom>
          <a:noFill/>
        </p:spPr>
        <p:txBody>
          <a:bodyPr wrap="none" rtlCol="0">
            <a:spAutoFit/>
          </a:bodyPr>
          <a:lstStyle/>
          <a:p>
            <a:r>
              <a:rPr lang="pt-BR" dirty="0"/>
              <a:t>Transação Tx2</a:t>
            </a:r>
          </a:p>
        </p:txBody>
      </p:sp>
      <p:sp>
        <p:nvSpPr>
          <p:cNvPr id="7" name="TextBox 6">
            <a:extLst>
              <a:ext uri="{FF2B5EF4-FFF2-40B4-BE49-F238E27FC236}">
                <a16:creationId xmlns:a16="http://schemas.microsoft.com/office/drawing/2014/main" id="{592E4CD9-9BDE-370F-1A97-609784A4C415}"/>
              </a:ext>
            </a:extLst>
          </p:cNvPr>
          <p:cNvSpPr txBox="1"/>
          <p:nvPr/>
        </p:nvSpPr>
        <p:spPr>
          <a:xfrm>
            <a:off x="755561" y="1951290"/>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8" name="TextBox 7">
            <a:extLst>
              <a:ext uri="{FF2B5EF4-FFF2-40B4-BE49-F238E27FC236}">
                <a16:creationId xmlns:a16="http://schemas.microsoft.com/office/drawing/2014/main" id="{79E73545-38DE-260A-364C-862BFE503463}"/>
              </a:ext>
            </a:extLst>
          </p:cNvPr>
          <p:cNvSpPr txBox="1"/>
          <p:nvPr/>
        </p:nvSpPr>
        <p:spPr>
          <a:xfrm>
            <a:off x="4915439" y="1951290"/>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9" name="TextBox 8">
            <a:extLst>
              <a:ext uri="{FF2B5EF4-FFF2-40B4-BE49-F238E27FC236}">
                <a16:creationId xmlns:a16="http://schemas.microsoft.com/office/drawing/2014/main" id="{AD9043CA-B654-11B8-0BC8-AA82A327E28B}"/>
              </a:ext>
            </a:extLst>
          </p:cNvPr>
          <p:cNvSpPr txBox="1"/>
          <p:nvPr/>
        </p:nvSpPr>
        <p:spPr>
          <a:xfrm>
            <a:off x="755561" y="2373274"/>
            <a:ext cx="3528812" cy="246221"/>
          </a:xfrm>
          <a:prstGeom prst="rect">
            <a:avLst/>
          </a:prstGeom>
          <a:noFill/>
        </p:spPr>
        <p:txBody>
          <a:bodyPr wrap="square">
            <a:spAutoFit/>
          </a:bodyPr>
          <a:lstStyle/>
          <a:p>
            <a:r>
              <a:rPr lang="en-US" sz="1000" dirty="0"/>
              <a:t>update employees set salary=5000 where </a:t>
            </a:r>
            <a:r>
              <a:rPr lang="en-US" sz="1000" dirty="0" err="1"/>
              <a:t>employee_id</a:t>
            </a:r>
            <a:r>
              <a:rPr lang="en-US" sz="1000" dirty="0"/>
              <a:t> = 116;</a:t>
            </a:r>
            <a:endParaRPr lang="pt-BR" sz="1000" dirty="0"/>
          </a:p>
        </p:txBody>
      </p:sp>
      <p:sp>
        <p:nvSpPr>
          <p:cNvPr id="10" name="TextBox 9">
            <a:extLst>
              <a:ext uri="{FF2B5EF4-FFF2-40B4-BE49-F238E27FC236}">
                <a16:creationId xmlns:a16="http://schemas.microsoft.com/office/drawing/2014/main" id="{A787BDB5-4514-0970-85DC-2E523C57B9F1}"/>
              </a:ext>
            </a:extLst>
          </p:cNvPr>
          <p:cNvSpPr txBox="1"/>
          <p:nvPr/>
        </p:nvSpPr>
        <p:spPr>
          <a:xfrm>
            <a:off x="755561" y="2795258"/>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1" name="TextBox 10">
            <a:extLst>
              <a:ext uri="{FF2B5EF4-FFF2-40B4-BE49-F238E27FC236}">
                <a16:creationId xmlns:a16="http://schemas.microsoft.com/office/drawing/2014/main" id="{0BB0F50C-CE43-05E5-A725-C09A885E03B5}"/>
              </a:ext>
            </a:extLst>
          </p:cNvPr>
          <p:cNvSpPr txBox="1"/>
          <p:nvPr/>
        </p:nvSpPr>
        <p:spPr>
          <a:xfrm>
            <a:off x="4915439" y="2782826"/>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2" name="TextBox 11">
            <a:extLst>
              <a:ext uri="{FF2B5EF4-FFF2-40B4-BE49-F238E27FC236}">
                <a16:creationId xmlns:a16="http://schemas.microsoft.com/office/drawing/2014/main" id="{CD626C97-ADA2-8638-4DE3-44DC03345E51}"/>
              </a:ext>
            </a:extLst>
          </p:cNvPr>
          <p:cNvSpPr txBox="1"/>
          <p:nvPr/>
        </p:nvSpPr>
        <p:spPr>
          <a:xfrm>
            <a:off x="755561" y="3223008"/>
            <a:ext cx="3528812" cy="253916"/>
          </a:xfrm>
          <a:prstGeom prst="rect">
            <a:avLst/>
          </a:prstGeom>
          <a:noFill/>
        </p:spPr>
        <p:txBody>
          <a:bodyPr wrap="square">
            <a:spAutoFit/>
          </a:bodyPr>
          <a:lstStyle/>
          <a:p>
            <a:r>
              <a:rPr lang="en-US" sz="1000" dirty="0"/>
              <a:t>Commit;</a:t>
            </a:r>
            <a:endParaRPr lang="pt-BR" sz="1000" dirty="0"/>
          </a:p>
        </p:txBody>
      </p:sp>
      <p:sp>
        <p:nvSpPr>
          <p:cNvPr id="13" name="TextBox 12">
            <a:extLst>
              <a:ext uri="{FF2B5EF4-FFF2-40B4-BE49-F238E27FC236}">
                <a16:creationId xmlns:a16="http://schemas.microsoft.com/office/drawing/2014/main" id="{2D552F09-A121-F70A-5715-4886C7A0D0BB}"/>
              </a:ext>
            </a:extLst>
          </p:cNvPr>
          <p:cNvSpPr txBox="1"/>
          <p:nvPr/>
        </p:nvSpPr>
        <p:spPr>
          <a:xfrm>
            <a:off x="4915439" y="2331625"/>
            <a:ext cx="3528812" cy="246221"/>
          </a:xfrm>
          <a:prstGeom prst="rect">
            <a:avLst/>
          </a:prstGeom>
          <a:noFill/>
        </p:spPr>
        <p:txBody>
          <a:bodyPr wrap="square">
            <a:spAutoFit/>
          </a:bodyPr>
          <a:lstStyle/>
          <a:p>
            <a:r>
              <a:rPr lang="en-US" sz="1000" dirty="0"/>
              <a:t>update employees set salary=10000 where </a:t>
            </a:r>
            <a:r>
              <a:rPr lang="en-US" sz="1000" dirty="0" err="1"/>
              <a:t>employee_id</a:t>
            </a:r>
            <a:r>
              <a:rPr lang="en-US" sz="1000" dirty="0"/>
              <a:t> = 200;</a:t>
            </a:r>
            <a:endParaRPr lang="pt-BR" sz="1000" dirty="0"/>
          </a:p>
        </p:txBody>
      </p:sp>
      <p:sp>
        <p:nvSpPr>
          <p:cNvPr id="14" name="TextBox 13">
            <a:extLst>
              <a:ext uri="{FF2B5EF4-FFF2-40B4-BE49-F238E27FC236}">
                <a16:creationId xmlns:a16="http://schemas.microsoft.com/office/drawing/2014/main" id="{BFC8CD71-9EA8-EB5D-3AA3-BDDE18F94A75}"/>
              </a:ext>
            </a:extLst>
          </p:cNvPr>
          <p:cNvSpPr txBox="1"/>
          <p:nvPr/>
        </p:nvSpPr>
        <p:spPr>
          <a:xfrm>
            <a:off x="4915439" y="3207983"/>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=200;</a:t>
            </a:r>
            <a:endParaRPr lang="pt-BR" sz="1000" dirty="0"/>
          </a:p>
        </p:txBody>
      </p:sp>
      <p:sp>
        <p:nvSpPr>
          <p:cNvPr id="15" name="TextBox 14">
            <a:extLst>
              <a:ext uri="{FF2B5EF4-FFF2-40B4-BE49-F238E27FC236}">
                <a16:creationId xmlns:a16="http://schemas.microsoft.com/office/drawing/2014/main" id="{9C1A33AF-A064-2B85-8D1A-92B42F60C908}"/>
              </a:ext>
            </a:extLst>
          </p:cNvPr>
          <p:cNvSpPr txBox="1"/>
          <p:nvPr/>
        </p:nvSpPr>
        <p:spPr>
          <a:xfrm>
            <a:off x="755561" y="3596465"/>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6" name="TextBox 15">
            <a:extLst>
              <a:ext uri="{FF2B5EF4-FFF2-40B4-BE49-F238E27FC236}">
                <a16:creationId xmlns:a16="http://schemas.microsoft.com/office/drawing/2014/main" id="{D6F80DB4-CE1E-66D0-7313-B7EA51351A17}"/>
              </a:ext>
            </a:extLst>
          </p:cNvPr>
          <p:cNvSpPr txBox="1"/>
          <p:nvPr/>
        </p:nvSpPr>
        <p:spPr>
          <a:xfrm>
            <a:off x="4939051" y="3596465"/>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7" name="TextBox 16">
            <a:extLst>
              <a:ext uri="{FF2B5EF4-FFF2-40B4-BE49-F238E27FC236}">
                <a16:creationId xmlns:a16="http://schemas.microsoft.com/office/drawing/2014/main" id="{4F8D8A3A-03A5-CAD1-38CF-4A09E5929F8D}"/>
              </a:ext>
            </a:extLst>
          </p:cNvPr>
          <p:cNvSpPr txBox="1"/>
          <p:nvPr/>
        </p:nvSpPr>
        <p:spPr>
          <a:xfrm>
            <a:off x="766291" y="4285667"/>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=200;</a:t>
            </a:r>
            <a:endParaRPr lang="pt-BR" sz="1000" dirty="0"/>
          </a:p>
        </p:txBody>
      </p:sp>
      <p:sp>
        <p:nvSpPr>
          <p:cNvPr id="18" name="TextBox 17">
            <a:extLst>
              <a:ext uri="{FF2B5EF4-FFF2-40B4-BE49-F238E27FC236}">
                <a16:creationId xmlns:a16="http://schemas.microsoft.com/office/drawing/2014/main" id="{A2006BED-51CD-62AE-44FF-792360BC1268}"/>
              </a:ext>
            </a:extLst>
          </p:cNvPr>
          <p:cNvSpPr txBox="1"/>
          <p:nvPr/>
        </p:nvSpPr>
        <p:spPr>
          <a:xfrm>
            <a:off x="4939051" y="3986089"/>
            <a:ext cx="3528812" cy="253916"/>
          </a:xfrm>
          <a:prstGeom prst="rect">
            <a:avLst/>
          </a:prstGeom>
          <a:noFill/>
        </p:spPr>
        <p:txBody>
          <a:bodyPr wrap="square">
            <a:spAutoFit/>
          </a:bodyPr>
          <a:lstStyle/>
          <a:p>
            <a:r>
              <a:rPr lang="en-US" sz="1000" dirty="0"/>
              <a:t>commit;</a:t>
            </a:r>
            <a:endParaRPr lang="pt-BR" sz="1000" dirty="0"/>
          </a:p>
        </p:txBody>
      </p:sp>
      <p:cxnSp>
        <p:nvCxnSpPr>
          <p:cNvPr id="20" name="Straight Arrow Connector 19">
            <a:extLst>
              <a:ext uri="{FF2B5EF4-FFF2-40B4-BE49-F238E27FC236}">
                <a16:creationId xmlns:a16="http://schemas.microsoft.com/office/drawing/2014/main" id="{679CA91E-89BB-4CEE-EC87-99B37E043F38}"/>
              </a:ext>
            </a:extLst>
          </p:cNvPr>
          <p:cNvCxnSpPr/>
          <p:nvPr/>
        </p:nvCxnSpPr>
        <p:spPr>
          <a:xfrm>
            <a:off x="302654" y="1979160"/>
            <a:ext cx="0" cy="2642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8E68EB93-A3A1-4154-1B3A-246192021B52}"/>
              </a:ext>
            </a:extLst>
          </p:cNvPr>
          <p:cNvSpPr txBox="1"/>
          <p:nvPr/>
        </p:nvSpPr>
        <p:spPr>
          <a:xfrm>
            <a:off x="74748" y="1593258"/>
            <a:ext cx="519694" cy="307777"/>
          </a:xfrm>
          <a:prstGeom prst="rect">
            <a:avLst/>
          </a:prstGeom>
          <a:noFill/>
        </p:spPr>
        <p:txBody>
          <a:bodyPr wrap="none" rtlCol="0">
            <a:spAutoFit/>
          </a:bodyPr>
          <a:lstStyle/>
          <a:p>
            <a:r>
              <a:rPr lang="pt-BR" sz="1400" i="1" dirty="0"/>
              <a:t>time</a:t>
            </a:r>
          </a:p>
        </p:txBody>
      </p:sp>
      <p:sp>
        <p:nvSpPr>
          <p:cNvPr id="22" name="TextBox 21">
            <a:extLst>
              <a:ext uri="{FF2B5EF4-FFF2-40B4-BE49-F238E27FC236}">
                <a16:creationId xmlns:a16="http://schemas.microsoft.com/office/drawing/2014/main" id="{3F937FC8-BD47-7AF2-AFE9-BFA8A42223A2}"/>
              </a:ext>
            </a:extLst>
          </p:cNvPr>
          <p:cNvSpPr txBox="1"/>
          <p:nvPr/>
        </p:nvSpPr>
        <p:spPr>
          <a:xfrm>
            <a:off x="320441" y="1979501"/>
            <a:ext cx="303288" cy="261610"/>
          </a:xfrm>
          <a:prstGeom prst="rect">
            <a:avLst/>
          </a:prstGeom>
          <a:noFill/>
        </p:spPr>
        <p:txBody>
          <a:bodyPr wrap="none" rtlCol="0">
            <a:spAutoFit/>
          </a:bodyPr>
          <a:lstStyle/>
          <a:p>
            <a:r>
              <a:rPr lang="pt-BR" sz="1100" i="1" dirty="0"/>
              <a:t>t1</a:t>
            </a:r>
          </a:p>
        </p:txBody>
      </p:sp>
      <p:sp>
        <p:nvSpPr>
          <p:cNvPr id="23" name="TextBox 22">
            <a:extLst>
              <a:ext uri="{FF2B5EF4-FFF2-40B4-BE49-F238E27FC236}">
                <a16:creationId xmlns:a16="http://schemas.microsoft.com/office/drawing/2014/main" id="{68460C2F-341D-8A48-2C39-4541769778FD}"/>
              </a:ext>
            </a:extLst>
          </p:cNvPr>
          <p:cNvSpPr txBox="1"/>
          <p:nvPr/>
        </p:nvSpPr>
        <p:spPr>
          <a:xfrm>
            <a:off x="329048" y="2349802"/>
            <a:ext cx="303288" cy="261610"/>
          </a:xfrm>
          <a:prstGeom prst="rect">
            <a:avLst/>
          </a:prstGeom>
          <a:noFill/>
        </p:spPr>
        <p:txBody>
          <a:bodyPr wrap="none" rtlCol="0">
            <a:spAutoFit/>
          </a:bodyPr>
          <a:lstStyle/>
          <a:p>
            <a:r>
              <a:rPr lang="pt-BR" sz="1100" i="1" dirty="0"/>
              <a:t>t2</a:t>
            </a:r>
          </a:p>
        </p:txBody>
      </p:sp>
      <p:sp>
        <p:nvSpPr>
          <p:cNvPr id="24" name="TextBox 23">
            <a:extLst>
              <a:ext uri="{FF2B5EF4-FFF2-40B4-BE49-F238E27FC236}">
                <a16:creationId xmlns:a16="http://schemas.microsoft.com/office/drawing/2014/main" id="{5E38FB13-411F-A850-7AA0-08DFA4AD1639}"/>
              </a:ext>
            </a:extLst>
          </p:cNvPr>
          <p:cNvSpPr txBox="1"/>
          <p:nvPr/>
        </p:nvSpPr>
        <p:spPr>
          <a:xfrm>
            <a:off x="329048" y="2787564"/>
            <a:ext cx="303288" cy="261610"/>
          </a:xfrm>
          <a:prstGeom prst="rect">
            <a:avLst/>
          </a:prstGeom>
          <a:noFill/>
        </p:spPr>
        <p:txBody>
          <a:bodyPr wrap="none" rtlCol="0">
            <a:spAutoFit/>
          </a:bodyPr>
          <a:lstStyle/>
          <a:p>
            <a:r>
              <a:rPr lang="pt-BR" sz="1100" i="1" dirty="0"/>
              <a:t>t3</a:t>
            </a:r>
          </a:p>
        </p:txBody>
      </p:sp>
      <p:sp>
        <p:nvSpPr>
          <p:cNvPr id="25" name="TextBox 24">
            <a:extLst>
              <a:ext uri="{FF2B5EF4-FFF2-40B4-BE49-F238E27FC236}">
                <a16:creationId xmlns:a16="http://schemas.microsoft.com/office/drawing/2014/main" id="{712A960E-FCAA-A2A5-A496-2D2EB5E53FC8}"/>
              </a:ext>
            </a:extLst>
          </p:cNvPr>
          <p:cNvSpPr txBox="1"/>
          <p:nvPr/>
        </p:nvSpPr>
        <p:spPr>
          <a:xfrm>
            <a:off x="344193" y="3202436"/>
            <a:ext cx="303288" cy="261610"/>
          </a:xfrm>
          <a:prstGeom prst="rect">
            <a:avLst/>
          </a:prstGeom>
          <a:noFill/>
        </p:spPr>
        <p:txBody>
          <a:bodyPr wrap="none" rtlCol="0">
            <a:spAutoFit/>
          </a:bodyPr>
          <a:lstStyle/>
          <a:p>
            <a:r>
              <a:rPr lang="pt-BR" sz="1100" i="1" dirty="0"/>
              <a:t>t4</a:t>
            </a:r>
          </a:p>
        </p:txBody>
      </p:sp>
      <p:sp>
        <p:nvSpPr>
          <p:cNvPr id="26" name="TextBox 25">
            <a:extLst>
              <a:ext uri="{FF2B5EF4-FFF2-40B4-BE49-F238E27FC236}">
                <a16:creationId xmlns:a16="http://schemas.microsoft.com/office/drawing/2014/main" id="{84667DCD-7167-2506-2AAD-ED5BBB387D5D}"/>
              </a:ext>
            </a:extLst>
          </p:cNvPr>
          <p:cNvSpPr txBox="1"/>
          <p:nvPr/>
        </p:nvSpPr>
        <p:spPr>
          <a:xfrm>
            <a:off x="329048" y="3575293"/>
            <a:ext cx="303288" cy="261610"/>
          </a:xfrm>
          <a:prstGeom prst="rect">
            <a:avLst/>
          </a:prstGeom>
          <a:noFill/>
        </p:spPr>
        <p:txBody>
          <a:bodyPr wrap="none" rtlCol="0">
            <a:spAutoFit/>
          </a:bodyPr>
          <a:lstStyle/>
          <a:p>
            <a:r>
              <a:rPr lang="pt-BR" sz="1100" i="1" dirty="0"/>
              <a:t>t5</a:t>
            </a:r>
          </a:p>
        </p:txBody>
      </p:sp>
      <p:sp>
        <p:nvSpPr>
          <p:cNvPr id="27" name="TextBox 26">
            <a:extLst>
              <a:ext uri="{FF2B5EF4-FFF2-40B4-BE49-F238E27FC236}">
                <a16:creationId xmlns:a16="http://schemas.microsoft.com/office/drawing/2014/main" id="{DAFCFBEE-FE82-6668-11F0-057529852347}"/>
              </a:ext>
            </a:extLst>
          </p:cNvPr>
          <p:cNvSpPr txBox="1"/>
          <p:nvPr/>
        </p:nvSpPr>
        <p:spPr>
          <a:xfrm>
            <a:off x="334591" y="3969338"/>
            <a:ext cx="303288" cy="261610"/>
          </a:xfrm>
          <a:prstGeom prst="rect">
            <a:avLst/>
          </a:prstGeom>
          <a:noFill/>
        </p:spPr>
        <p:txBody>
          <a:bodyPr wrap="none" rtlCol="0">
            <a:spAutoFit/>
          </a:bodyPr>
          <a:lstStyle/>
          <a:p>
            <a:r>
              <a:rPr lang="pt-BR" sz="1100" i="1" dirty="0"/>
              <a:t>t6</a:t>
            </a:r>
          </a:p>
        </p:txBody>
      </p:sp>
      <p:sp>
        <p:nvSpPr>
          <p:cNvPr id="28" name="TextBox 27">
            <a:extLst>
              <a:ext uri="{FF2B5EF4-FFF2-40B4-BE49-F238E27FC236}">
                <a16:creationId xmlns:a16="http://schemas.microsoft.com/office/drawing/2014/main" id="{87729BBD-41F2-73A2-9880-21E48C1B8695}"/>
              </a:ext>
            </a:extLst>
          </p:cNvPr>
          <p:cNvSpPr txBox="1"/>
          <p:nvPr/>
        </p:nvSpPr>
        <p:spPr>
          <a:xfrm>
            <a:off x="334591" y="4277973"/>
            <a:ext cx="303288" cy="430887"/>
          </a:xfrm>
          <a:prstGeom prst="rect">
            <a:avLst/>
          </a:prstGeom>
          <a:noFill/>
        </p:spPr>
        <p:txBody>
          <a:bodyPr wrap="none" rtlCol="0">
            <a:spAutoFit/>
          </a:bodyPr>
          <a:lstStyle/>
          <a:p>
            <a:r>
              <a:rPr lang="pt-BR" sz="1100" i="1" dirty="0"/>
              <a:t>t7</a:t>
            </a:r>
          </a:p>
          <a:p>
            <a:endParaRPr lang="pt-BR" sz="1100" i="1" dirty="0"/>
          </a:p>
        </p:txBody>
      </p:sp>
      <p:sp>
        <p:nvSpPr>
          <p:cNvPr id="33" name="TextBox 32">
            <a:extLst>
              <a:ext uri="{FF2B5EF4-FFF2-40B4-BE49-F238E27FC236}">
                <a16:creationId xmlns:a16="http://schemas.microsoft.com/office/drawing/2014/main" id="{7A94146A-6062-9254-87FB-6ABE7126035D}"/>
              </a:ext>
            </a:extLst>
          </p:cNvPr>
          <p:cNvSpPr txBox="1"/>
          <p:nvPr/>
        </p:nvSpPr>
        <p:spPr>
          <a:xfrm>
            <a:off x="755561" y="2104089"/>
            <a:ext cx="389850" cy="215444"/>
          </a:xfrm>
          <a:prstGeom prst="rect">
            <a:avLst/>
          </a:prstGeom>
          <a:noFill/>
        </p:spPr>
        <p:txBody>
          <a:bodyPr wrap="none" rtlCol="0">
            <a:spAutoFit/>
          </a:bodyPr>
          <a:lstStyle/>
          <a:p>
            <a:r>
              <a:rPr lang="pt-BR" sz="800" i="1" dirty="0"/>
              <a:t>2900</a:t>
            </a:r>
          </a:p>
        </p:txBody>
      </p:sp>
      <p:sp>
        <p:nvSpPr>
          <p:cNvPr id="34" name="TextBox 33">
            <a:extLst>
              <a:ext uri="{FF2B5EF4-FFF2-40B4-BE49-F238E27FC236}">
                <a16:creationId xmlns:a16="http://schemas.microsoft.com/office/drawing/2014/main" id="{142CF38E-A161-6DCA-F1D5-8C45E89125E1}"/>
              </a:ext>
            </a:extLst>
          </p:cNvPr>
          <p:cNvSpPr txBox="1"/>
          <p:nvPr/>
        </p:nvSpPr>
        <p:spPr>
          <a:xfrm>
            <a:off x="4915439" y="2094707"/>
            <a:ext cx="389850" cy="215444"/>
          </a:xfrm>
          <a:prstGeom prst="rect">
            <a:avLst/>
          </a:prstGeom>
          <a:noFill/>
        </p:spPr>
        <p:txBody>
          <a:bodyPr wrap="none" rtlCol="0">
            <a:spAutoFit/>
          </a:bodyPr>
          <a:lstStyle/>
          <a:p>
            <a:r>
              <a:rPr lang="pt-BR" sz="800" i="1" dirty="0"/>
              <a:t>2900</a:t>
            </a:r>
          </a:p>
        </p:txBody>
      </p:sp>
      <p:sp>
        <p:nvSpPr>
          <p:cNvPr id="35" name="TextBox 34">
            <a:extLst>
              <a:ext uri="{FF2B5EF4-FFF2-40B4-BE49-F238E27FC236}">
                <a16:creationId xmlns:a16="http://schemas.microsoft.com/office/drawing/2014/main" id="{AD072003-6874-07F5-F44A-92568FDB0D08}"/>
              </a:ext>
            </a:extLst>
          </p:cNvPr>
          <p:cNvSpPr txBox="1"/>
          <p:nvPr/>
        </p:nvSpPr>
        <p:spPr>
          <a:xfrm>
            <a:off x="759045" y="2966726"/>
            <a:ext cx="389850" cy="215444"/>
          </a:xfrm>
          <a:prstGeom prst="rect">
            <a:avLst/>
          </a:prstGeom>
          <a:noFill/>
        </p:spPr>
        <p:txBody>
          <a:bodyPr wrap="none" rtlCol="0">
            <a:spAutoFit/>
          </a:bodyPr>
          <a:lstStyle/>
          <a:p>
            <a:r>
              <a:rPr lang="pt-BR" sz="800" i="1" dirty="0"/>
              <a:t>5000</a:t>
            </a:r>
          </a:p>
        </p:txBody>
      </p:sp>
      <p:sp>
        <p:nvSpPr>
          <p:cNvPr id="36" name="TextBox 35">
            <a:extLst>
              <a:ext uri="{FF2B5EF4-FFF2-40B4-BE49-F238E27FC236}">
                <a16:creationId xmlns:a16="http://schemas.microsoft.com/office/drawing/2014/main" id="{05D98429-8276-43BA-0E0C-A0EA3E487EA6}"/>
              </a:ext>
            </a:extLst>
          </p:cNvPr>
          <p:cNvSpPr txBox="1"/>
          <p:nvPr/>
        </p:nvSpPr>
        <p:spPr>
          <a:xfrm>
            <a:off x="4935284" y="2944393"/>
            <a:ext cx="389850" cy="215444"/>
          </a:xfrm>
          <a:prstGeom prst="rect">
            <a:avLst/>
          </a:prstGeom>
          <a:noFill/>
        </p:spPr>
        <p:txBody>
          <a:bodyPr wrap="none" rtlCol="0">
            <a:spAutoFit/>
          </a:bodyPr>
          <a:lstStyle/>
          <a:p>
            <a:r>
              <a:rPr lang="pt-BR" sz="800" i="1" dirty="0">
                <a:solidFill>
                  <a:srgbClr val="FF0000"/>
                </a:solidFill>
              </a:rPr>
              <a:t>2900</a:t>
            </a:r>
          </a:p>
        </p:txBody>
      </p:sp>
      <p:sp>
        <p:nvSpPr>
          <p:cNvPr id="37" name="TextBox 36">
            <a:extLst>
              <a:ext uri="{FF2B5EF4-FFF2-40B4-BE49-F238E27FC236}">
                <a16:creationId xmlns:a16="http://schemas.microsoft.com/office/drawing/2014/main" id="{19F79CED-1C36-E6A4-76A2-615D3BEBD916}"/>
              </a:ext>
            </a:extLst>
          </p:cNvPr>
          <p:cNvSpPr txBox="1"/>
          <p:nvPr/>
        </p:nvSpPr>
        <p:spPr>
          <a:xfrm>
            <a:off x="766291" y="3785171"/>
            <a:ext cx="389850" cy="215444"/>
          </a:xfrm>
          <a:prstGeom prst="rect">
            <a:avLst/>
          </a:prstGeom>
          <a:noFill/>
        </p:spPr>
        <p:txBody>
          <a:bodyPr wrap="none" rtlCol="0">
            <a:spAutoFit/>
          </a:bodyPr>
          <a:lstStyle/>
          <a:p>
            <a:r>
              <a:rPr lang="pt-BR" sz="800" i="1" dirty="0"/>
              <a:t>5000</a:t>
            </a:r>
          </a:p>
        </p:txBody>
      </p:sp>
      <p:sp>
        <p:nvSpPr>
          <p:cNvPr id="38" name="TextBox 37">
            <a:extLst>
              <a:ext uri="{FF2B5EF4-FFF2-40B4-BE49-F238E27FC236}">
                <a16:creationId xmlns:a16="http://schemas.microsoft.com/office/drawing/2014/main" id="{A2451F12-53A8-2D53-D08C-328FFC62B2EC}"/>
              </a:ext>
            </a:extLst>
          </p:cNvPr>
          <p:cNvSpPr txBox="1"/>
          <p:nvPr/>
        </p:nvSpPr>
        <p:spPr>
          <a:xfrm>
            <a:off x="4915439" y="3350619"/>
            <a:ext cx="441146" cy="215444"/>
          </a:xfrm>
          <a:prstGeom prst="rect">
            <a:avLst/>
          </a:prstGeom>
          <a:noFill/>
        </p:spPr>
        <p:txBody>
          <a:bodyPr wrap="none" rtlCol="0">
            <a:spAutoFit/>
          </a:bodyPr>
          <a:lstStyle/>
          <a:p>
            <a:r>
              <a:rPr lang="pt-BR" sz="800" i="1" dirty="0"/>
              <a:t>10000</a:t>
            </a:r>
          </a:p>
        </p:txBody>
      </p:sp>
      <p:sp>
        <p:nvSpPr>
          <p:cNvPr id="39" name="TextBox 38">
            <a:extLst>
              <a:ext uri="{FF2B5EF4-FFF2-40B4-BE49-F238E27FC236}">
                <a16:creationId xmlns:a16="http://schemas.microsoft.com/office/drawing/2014/main" id="{6A77D763-F3A8-641D-CDCE-7E04777ABCEE}"/>
              </a:ext>
            </a:extLst>
          </p:cNvPr>
          <p:cNvSpPr txBox="1"/>
          <p:nvPr/>
        </p:nvSpPr>
        <p:spPr>
          <a:xfrm>
            <a:off x="4935284" y="3750005"/>
            <a:ext cx="389850" cy="215444"/>
          </a:xfrm>
          <a:prstGeom prst="rect">
            <a:avLst/>
          </a:prstGeom>
          <a:noFill/>
        </p:spPr>
        <p:txBody>
          <a:bodyPr wrap="none" rtlCol="0">
            <a:spAutoFit/>
          </a:bodyPr>
          <a:lstStyle/>
          <a:p>
            <a:r>
              <a:rPr lang="pt-BR" sz="800" i="1" dirty="0"/>
              <a:t>5000</a:t>
            </a:r>
          </a:p>
        </p:txBody>
      </p:sp>
      <p:sp>
        <p:nvSpPr>
          <p:cNvPr id="40" name="TextBox 39">
            <a:extLst>
              <a:ext uri="{FF2B5EF4-FFF2-40B4-BE49-F238E27FC236}">
                <a16:creationId xmlns:a16="http://schemas.microsoft.com/office/drawing/2014/main" id="{C82445CC-1C42-D6CA-F8DD-C4609CBEE917}"/>
              </a:ext>
            </a:extLst>
          </p:cNvPr>
          <p:cNvSpPr txBox="1"/>
          <p:nvPr/>
        </p:nvSpPr>
        <p:spPr>
          <a:xfrm>
            <a:off x="4915439" y="4285667"/>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=200;</a:t>
            </a:r>
            <a:endParaRPr lang="pt-BR" sz="1000" dirty="0"/>
          </a:p>
        </p:txBody>
      </p:sp>
      <p:sp>
        <p:nvSpPr>
          <p:cNvPr id="41" name="TextBox 40">
            <a:extLst>
              <a:ext uri="{FF2B5EF4-FFF2-40B4-BE49-F238E27FC236}">
                <a16:creationId xmlns:a16="http://schemas.microsoft.com/office/drawing/2014/main" id="{2DB28979-AD1A-1A9A-072D-3EE52F691432}"/>
              </a:ext>
            </a:extLst>
          </p:cNvPr>
          <p:cNvSpPr txBox="1"/>
          <p:nvPr/>
        </p:nvSpPr>
        <p:spPr>
          <a:xfrm>
            <a:off x="4932857" y="4470904"/>
            <a:ext cx="441146" cy="215444"/>
          </a:xfrm>
          <a:prstGeom prst="rect">
            <a:avLst/>
          </a:prstGeom>
          <a:noFill/>
        </p:spPr>
        <p:txBody>
          <a:bodyPr wrap="none" rtlCol="0">
            <a:spAutoFit/>
          </a:bodyPr>
          <a:lstStyle/>
          <a:p>
            <a:r>
              <a:rPr lang="pt-BR" sz="800" i="1" dirty="0"/>
              <a:t>10000</a:t>
            </a:r>
          </a:p>
        </p:txBody>
      </p:sp>
      <p:sp>
        <p:nvSpPr>
          <p:cNvPr id="42" name="TextBox 41">
            <a:extLst>
              <a:ext uri="{FF2B5EF4-FFF2-40B4-BE49-F238E27FC236}">
                <a16:creationId xmlns:a16="http://schemas.microsoft.com/office/drawing/2014/main" id="{D60D289E-CD89-9C57-11F3-0BDDD6F194A6}"/>
              </a:ext>
            </a:extLst>
          </p:cNvPr>
          <p:cNvSpPr txBox="1"/>
          <p:nvPr/>
        </p:nvSpPr>
        <p:spPr>
          <a:xfrm>
            <a:off x="771739" y="4479246"/>
            <a:ext cx="441146" cy="215444"/>
          </a:xfrm>
          <a:prstGeom prst="rect">
            <a:avLst/>
          </a:prstGeom>
          <a:noFill/>
        </p:spPr>
        <p:txBody>
          <a:bodyPr wrap="none" rtlCol="0">
            <a:spAutoFit/>
          </a:bodyPr>
          <a:lstStyle/>
          <a:p>
            <a:r>
              <a:rPr lang="pt-BR" sz="800" i="1" dirty="0"/>
              <a:t>10000</a:t>
            </a:r>
          </a:p>
        </p:txBody>
      </p:sp>
    </p:spTree>
    <p:extLst>
      <p:ext uri="{BB962C8B-B14F-4D97-AF65-F5344CB8AC3E}">
        <p14:creationId xmlns:p14="http://schemas.microsoft.com/office/powerpoint/2010/main" val="1347750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ubtítulo 2">
            <a:extLst>
              <a:ext uri="{FF2B5EF4-FFF2-40B4-BE49-F238E27FC236}">
                <a16:creationId xmlns:a16="http://schemas.microsoft.com/office/drawing/2014/main" id="{E160E686-CF48-4091-9014-C01D199433F7}"/>
              </a:ext>
            </a:extLst>
          </p:cNvPr>
          <p:cNvSpPr>
            <a:spLocks noGrp="1"/>
          </p:cNvSpPr>
          <p:nvPr>
            <p:ph type="subTitle" idx="1"/>
          </p:nvPr>
        </p:nvSpPr>
        <p:spPr>
          <a:xfrm>
            <a:off x="533400" y="1431962"/>
            <a:ext cx="8089899" cy="1997038"/>
          </a:xfrm>
        </p:spPr>
        <p:txBody>
          <a:bodyPr>
            <a:normAutofit/>
          </a:bodyPr>
          <a:lstStyle/>
          <a:p>
            <a:pPr marL="285750" indent="-285750" algn="just">
              <a:buClr>
                <a:srgbClr val="ED145B"/>
              </a:buClr>
              <a:buFont typeface="Arial" panose="020B0604020202020204" pitchFamily="34" charset="0"/>
              <a:buChar char="•"/>
              <a:defRPr/>
            </a:pP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Serializable</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Isolation</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Level</a:t>
            </a:r>
            <a:endPar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742950" lvl="1" indent="-285750" algn="just">
              <a:buClr>
                <a:srgbClr val="ED145B"/>
              </a:buClr>
              <a:buFont typeface="Arial" panose="020B0604020202020204" pitchFamily="34" charset="0"/>
              <a:buChar char="•"/>
              <a:defRPr/>
            </a:pP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No nível de isolamento </a:t>
            </a:r>
            <a:r>
              <a:rPr lang="pt-BR" sz="180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serializável</a:t>
            </a: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 uma transação vê apenas as alterações confirmadas quando a transação - não a consulta - começou e as alterações feitas pela própria transação. </a:t>
            </a:r>
          </a:p>
          <a:p>
            <a:pPr marL="742950" lvl="1" indent="-285750" algn="just">
              <a:buClr>
                <a:srgbClr val="ED145B"/>
              </a:buClr>
              <a:buFont typeface="Arial" panose="020B0604020202020204" pitchFamily="34" charset="0"/>
              <a:buChar char="•"/>
              <a:defRPr/>
            </a:pP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Uma transação </a:t>
            </a:r>
            <a:r>
              <a:rPr lang="pt-BR" sz="180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serializável</a:t>
            </a:r>
            <a:r>
              <a:rPr lang="pt-BR" sz="1800" dirty="0">
                <a:solidFill>
                  <a:schemeClr val="tx1"/>
                </a:solidFill>
                <a:effectLst/>
                <a:latin typeface="Arial" panose="020B0604020202020204" pitchFamily="34" charset="0"/>
                <a:ea typeface="Calibri" panose="020F0502020204030204" pitchFamily="34" charset="0"/>
                <a:cs typeface="Arial" panose="020B0604020202020204" pitchFamily="34" charset="0"/>
              </a:rPr>
              <a:t> opera em um ambiente que faz com que </a:t>
            </a:r>
            <a:r>
              <a:rPr lang="pt-BR" sz="1800" b="1" dirty="0">
                <a:solidFill>
                  <a:schemeClr val="tx1"/>
                </a:solidFill>
                <a:effectLst/>
                <a:latin typeface="Arial" panose="020B0604020202020204" pitchFamily="34" charset="0"/>
                <a:ea typeface="Calibri" panose="020F0502020204030204" pitchFamily="34" charset="0"/>
                <a:cs typeface="Arial" panose="020B0604020202020204" pitchFamily="34" charset="0"/>
              </a:rPr>
              <a:t>pareça que nenhum outro usuário estava modificando dados.</a:t>
            </a:r>
            <a:endParaRPr lang="pt-BR" altLang="pt-BR" sz="1877" dirty="0">
              <a:solidFill>
                <a:schemeClr val="tx1"/>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93CBA194-68C8-4D8E-ACF1-AE230456289E}"/>
              </a:ext>
            </a:extLst>
          </p:cNvPr>
          <p:cNvSpPr>
            <a:spLocks noGrp="1"/>
          </p:cNvSpPr>
          <p:nvPr>
            <p:ph type="ctrTitle"/>
          </p:nvPr>
        </p:nvSpPr>
        <p:spPr>
          <a:xfrm>
            <a:off x="1842348" y="95746"/>
            <a:ext cx="5459303" cy="790116"/>
          </a:xfrm>
        </p:spPr>
        <p:txBody>
          <a:bodyPr>
            <a:normAutofit/>
          </a:bodyPr>
          <a:lstStyle/>
          <a:p>
            <a:pPr eaLnBrk="1" hangingPunct="1"/>
            <a:r>
              <a:rPr lang="pt-BR" altLang="pt-BR" dirty="0">
                <a:solidFill>
                  <a:srgbClr val="ED145B"/>
                </a:solidFill>
              </a:rPr>
              <a:t>Níveis de Isolamento - Oracle</a:t>
            </a:r>
          </a:p>
        </p:txBody>
      </p:sp>
    </p:spTree>
    <p:extLst>
      <p:ext uri="{BB962C8B-B14F-4D97-AF65-F5344CB8AC3E}">
        <p14:creationId xmlns:p14="http://schemas.microsoft.com/office/powerpoint/2010/main" val="32863723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F7816-C891-ACA9-E654-54E91799D5D4}"/>
            </a:ext>
          </a:extLst>
        </p:cNvPr>
        <p:cNvGrpSpPr/>
        <p:nvPr/>
      </p:nvGrpSpPr>
      <p:grpSpPr>
        <a:xfrm>
          <a:off x="0" y="0"/>
          <a:ext cx="0" cy="0"/>
          <a:chOff x="0" y="0"/>
          <a:chExt cx="0" cy="0"/>
        </a:xfrm>
      </p:grpSpPr>
      <p:sp>
        <p:nvSpPr>
          <p:cNvPr id="17411" name="Subtítulo 2">
            <a:extLst>
              <a:ext uri="{FF2B5EF4-FFF2-40B4-BE49-F238E27FC236}">
                <a16:creationId xmlns:a16="http://schemas.microsoft.com/office/drawing/2014/main" id="{E1BB0F16-6516-D65D-493A-7ADFE05FFD7A}"/>
              </a:ext>
            </a:extLst>
          </p:cNvPr>
          <p:cNvSpPr>
            <a:spLocks noGrp="1"/>
          </p:cNvSpPr>
          <p:nvPr>
            <p:ph type="subTitle" idx="1"/>
          </p:nvPr>
        </p:nvSpPr>
        <p:spPr>
          <a:xfrm>
            <a:off x="581846" y="802177"/>
            <a:ext cx="3683358" cy="435475"/>
          </a:xfrm>
        </p:spPr>
        <p:txBody>
          <a:bodyPr>
            <a:normAutofit/>
          </a:bodyPr>
          <a:lstStyle/>
          <a:p>
            <a:pPr marL="285750" indent="-285750" algn="just">
              <a:buClr>
                <a:srgbClr val="ED145B"/>
              </a:buClr>
              <a:buFont typeface="Arial" panose="020B0604020202020204" pitchFamily="34" charset="0"/>
              <a:buChar char="•"/>
              <a:defRPr/>
            </a:pP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Serializable</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Isolation</a:t>
            </a:r>
            <a:r>
              <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0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Level</a:t>
            </a:r>
            <a:endParaRPr lang="pt-BR" sz="2000" i="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6" name="Título 1">
            <a:extLst>
              <a:ext uri="{FF2B5EF4-FFF2-40B4-BE49-F238E27FC236}">
                <a16:creationId xmlns:a16="http://schemas.microsoft.com/office/drawing/2014/main" id="{C94EB4C0-4302-C010-248E-4FDFDD829BE3}"/>
              </a:ext>
            </a:extLst>
          </p:cNvPr>
          <p:cNvSpPr>
            <a:spLocks noGrp="1"/>
          </p:cNvSpPr>
          <p:nvPr>
            <p:ph type="ctrTitle"/>
          </p:nvPr>
        </p:nvSpPr>
        <p:spPr>
          <a:xfrm>
            <a:off x="1842348" y="95746"/>
            <a:ext cx="5459303" cy="790116"/>
          </a:xfrm>
        </p:spPr>
        <p:txBody>
          <a:bodyPr>
            <a:normAutofit/>
          </a:bodyPr>
          <a:lstStyle/>
          <a:p>
            <a:pPr eaLnBrk="1" hangingPunct="1"/>
            <a:r>
              <a:rPr lang="pt-BR" altLang="pt-BR" dirty="0">
                <a:solidFill>
                  <a:srgbClr val="ED145B"/>
                </a:solidFill>
              </a:rPr>
              <a:t>Níveis de Isolamento - Oracle</a:t>
            </a:r>
          </a:p>
        </p:txBody>
      </p:sp>
      <p:sp>
        <p:nvSpPr>
          <p:cNvPr id="4" name="Rectangle 3">
            <a:extLst>
              <a:ext uri="{FF2B5EF4-FFF2-40B4-BE49-F238E27FC236}">
                <a16:creationId xmlns:a16="http://schemas.microsoft.com/office/drawing/2014/main" id="{F2BCD199-1647-F09B-F964-62F0202D2540}"/>
              </a:ext>
            </a:extLst>
          </p:cNvPr>
          <p:cNvSpPr/>
          <p:nvPr/>
        </p:nvSpPr>
        <p:spPr>
          <a:xfrm>
            <a:off x="689019" y="1384216"/>
            <a:ext cx="3683357" cy="349068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t-BR" sz="1100" dirty="0"/>
          </a:p>
        </p:txBody>
      </p:sp>
      <p:sp>
        <p:nvSpPr>
          <p:cNvPr id="5" name="Rectangle 4">
            <a:extLst>
              <a:ext uri="{FF2B5EF4-FFF2-40B4-BE49-F238E27FC236}">
                <a16:creationId xmlns:a16="http://schemas.microsoft.com/office/drawing/2014/main" id="{0E2B35F5-B3ED-CBA7-5E29-8E74752E8664}"/>
              </a:ext>
            </a:extLst>
          </p:cNvPr>
          <p:cNvSpPr/>
          <p:nvPr/>
        </p:nvSpPr>
        <p:spPr>
          <a:xfrm>
            <a:off x="4859628" y="1394949"/>
            <a:ext cx="3866699" cy="349068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t-BR"/>
          </a:p>
        </p:txBody>
      </p:sp>
      <p:sp>
        <p:nvSpPr>
          <p:cNvPr id="7" name="TextBox 6">
            <a:extLst>
              <a:ext uri="{FF2B5EF4-FFF2-40B4-BE49-F238E27FC236}">
                <a16:creationId xmlns:a16="http://schemas.microsoft.com/office/drawing/2014/main" id="{314B1AFE-9790-B62D-6DC0-E2B8528FA07A}"/>
              </a:ext>
            </a:extLst>
          </p:cNvPr>
          <p:cNvSpPr txBox="1"/>
          <p:nvPr/>
        </p:nvSpPr>
        <p:spPr>
          <a:xfrm>
            <a:off x="670370" y="1371604"/>
            <a:ext cx="1490473" cy="369332"/>
          </a:xfrm>
          <a:prstGeom prst="rect">
            <a:avLst/>
          </a:prstGeom>
          <a:noFill/>
        </p:spPr>
        <p:txBody>
          <a:bodyPr wrap="none" rtlCol="0">
            <a:spAutoFit/>
          </a:bodyPr>
          <a:lstStyle/>
          <a:p>
            <a:r>
              <a:rPr lang="pt-BR" dirty="0"/>
              <a:t>Transação Tx1</a:t>
            </a:r>
          </a:p>
        </p:txBody>
      </p:sp>
      <p:sp>
        <p:nvSpPr>
          <p:cNvPr id="8" name="TextBox 7">
            <a:extLst>
              <a:ext uri="{FF2B5EF4-FFF2-40B4-BE49-F238E27FC236}">
                <a16:creationId xmlns:a16="http://schemas.microsoft.com/office/drawing/2014/main" id="{556DFD88-831B-A97B-245F-5760A39086F2}"/>
              </a:ext>
            </a:extLst>
          </p:cNvPr>
          <p:cNvSpPr txBox="1"/>
          <p:nvPr/>
        </p:nvSpPr>
        <p:spPr>
          <a:xfrm>
            <a:off x="4859628" y="1382337"/>
            <a:ext cx="1490473" cy="369332"/>
          </a:xfrm>
          <a:prstGeom prst="rect">
            <a:avLst/>
          </a:prstGeom>
          <a:noFill/>
        </p:spPr>
        <p:txBody>
          <a:bodyPr wrap="none" rtlCol="0">
            <a:spAutoFit/>
          </a:bodyPr>
          <a:lstStyle/>
          <a:p>
            <a:r>
              <a:rPr lang="pt-BR" dirty="0"/>
              <a:t>Transação Tx2</a:t>
            </a:r>
          </a:p>
        </p:txBody>
      </p:sp>
      <p:sp>
        <p:nvSpPr>
          <p:cNvPr id="9" name="TextBox 8">
            <a:extLst>
              <a:ext uri="{FF2B5EF4-FFF2-40B4-BE49-F238E27FC236}">
                <a16:creationId xmlns:a16="http://schemas.microsoft.com/office/drawing/2014/main" id="{23DCAE08-B950-2C87-DD89-6A8C8334DD4F}"/>
              </a:ext>
            </a:extLst>
          </p:cNvPr>
          <p:cNvSpPr txBox="1"/>
          <p:nvPr/>
        </p:nvSpPr>
        <p:spPr>
          <a:xfrm>
            <a:off x="755561" y="1951290"/>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0" name="TextBox 9">
            <a:extLst>
              <a:ext uri="{FF2B5EF4-FFF2-40B4-BE49-F238E27FC236}">
                <a16:creationId xmlns:a16="http://schemas.microsoft.com/office/drawing/2014/main" id="{BA5B094F-9B26-5E71-C321-C23F875BAE6F}"/>
              </a:ext>
            </a:extLst>
          </p:cNvPr>
          <p:cNvSpPr txBox="1"/>
          <p:nvPr/>
        </p:nvSpPr>
        <p:spPr>
          <a:xfrm>
            <a:off x="4915439" y="1951290"/>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1" name="TextBox 10">
            <a:extLst>
              <a:ext uri="{FF2B5EF4-FFF2-40B4-BE49-F238E27FC236}">
                <a16:creationId xmlns:a16="http://schemas.microsoft.com/office/drawing/2014/main" id="{28817252-DDF9-6A3C-0FE0-2A3B5B30C42E}"/>
              </a:ext>
            </a:extLst>
          </p:cNvPr>
          <p:cNvSpPr txBox="1"/>
          <p:nvPr/>
        </p:nvSpPr>
        <p:spPr>
          <a:xfrm>
            <a:off x="766672" y="2367147"/>
            <a:ext cx="3528812" cy="246221"/>
          </a:xfrm>
          <a:prstGeom prst="rect">
            <a:avLst/>
          </a:prstGeom>
          <a:noFill/>
        </p:spPr>
        <p:txBody>
          <a:bodyPr wrap="square">
            <a:spAutoFit/>
          </a:bodyPr>
          <a:lstStyle/>
          <a:p>
            <a:r>
              <a:rPr lang="en-US" sz="1000" dirty="0"/>
              <a:t>update employees set salary=5000 where </a:t>
            </a:r>
            <a:r>
              <a:rPr lang="en-US" sz="1000" dirty="0" err="1"/>
              <a:t>employee_id</a:t>
            </a:r>
            <a:r>
              <a:rPr lang="en-US" sz="1000" dirty="0"/>
              <a:t> = 116;</a:t>
            </a:r>
            <a:endParaRPr lang="pt-BR" sz="1000" dirty="0"/>
          </a:p>
        </p:txBody>
      </p:sp>
      <p:sp>
        <p:nvSpPr>
          <p:cNvPr id="12" name="TextBox 11">
            <a:extLst>
              <a:ext uri="{FF2B5EF4-FFF2-40B4-BE49-F238E27FC236}">
                <a16:creationId xmlns:a16="http://schemas.microsoft.com/office/drawing/2014/main" id="{064142AD-841F-EBA9-3472-3AE1B4D6D889}"/>
              </a:ext>
            </a:extLst>
          </p:cNvPr>
          <p:cNvSpPr txBox="1"/>
          <p:nvPr/>
        </p:nvSpPr>
        <p:spPr>
          <a:xfrm>
            <a:off x="755561" y="2795258"/>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3" name="TextBox 12">
            <a:extLst>
              <a:ext uri="{FF2B5EF4-FFF2-40B4-BE49-F238E27FC236}">
                <a16:creationId xmlns:a16="http://schemas.microsoft.com/office/drawing/2014/main" id="{39B23D19-0E22-2FD4-8A0C-9B3C67602CC6}"/>
              </a:ext>
            </a:extLst>
          </p:cNvPr>
          <p:cNvSpPr txBox="1"/>
          <p:nvPr/>
        </p:nvSpPr>
        <p:spPr>
          <a:xfrm>
            <a:off x="4915439" y="2782826"/>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4" name="TextBox 13">
            <a:extLst>
              <a:ext uri="{FF2B5EF4-FFF2-40B4-BE49-F238E27FC236}">
                <a16:creationId xmlns:a16="http://schemas.microsoft.com/office/drawing/2014/main" id="{DD04888D-1DFE-99B7-3C31-D200FA11001C}"/>
              </a:ext>
            </a:extLst>
          </p:cNvPr>
          <p:cNvSpPr txBox="1"/>
          <p:nvPr/>
        </p:nvSpPr>
        <p:spPr>
          <a:xfrm>
            <a:off x="755561" y="3223008"/>
            <a:ext cx="3528812" cy="253916"/>
          </a:xfrm>
          <a:prstGeom prst="rect">
            <a:avLst/>
          </a:prstGeom>
          <a:noFill/>
        </p:spPr>
        <p:txBody>
          <a:bodyPr wrap="square">
            <a:spAutoFit/>
          </a:bodyPr>
          <a:lstStyle/>
          <a:p>
            <a:r>
              <a:rPr lang="en-US" sz="1000" dirty="0"/>
              <a:t>Commit;</a:t>
            </a:r>
            <a:endParaRPr lang="pt-BR" sz="1000" dirty="0"/>
          </a:p>
        </p:txBody>
      </p:sp>
      <p:sp>
        <p:nvSpPr>
          <p:cNvPr id="16" name="TextBox 15">
            <a:extLst>
              <a:ext uri="{FF2B5EF4-FFF2-40B4-BE49-F238E27FC236}">
                <a16:creationId xmlns:a16="http://schemas.microsoft.com/office/drawing/2014/main" id="{916D0234-0EB1-8DCB-7692-FF6636A7880A}"/>
              </a:ext>
            </a:extLst>
          </p:cNvPr>
          <p:cNvSpPr txBox="1"/>
          <p:nvPr/>
        </p:nvSpPr>
        <p:spPr>
          <a:xfrm>
            <a:off x="4915439" y="3207983"/>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=200;</a:t>
            </a:r>
            <a:endParaRPr lang="pt-BR" sz="1000" dirty="0"/>
          </a:p>
        </p:txBody>
      </p:sp>
      <p:sp>
        <p:nvSpPr>
          <p:cNvPr id="17" name="TextBox 16">
            <a:extLst>
              <a:ext uri="{FF2B5EF4-FFF2-40B4-BE49-F238E27FC236}">
                <a16:creationId xmlns:a16="http://schemas.microsoft.com/office/drawing/2014/main" id="{4C27B553-1ABA-3967-FAEA-3D1BBBABE052}"/>
              </a:ext>
            </a:extLst>
          </p:cNvPr>
          <p:cNvSpPr txBox="1"/>
          <p:nvPr/>
        </p:nvSpPr>
        <p:spPr>
          <a:xfrm>
            <a:off x="755561" y="3596465"/>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8" name="TextBox 17">
            <a:extLst>
              <a:ext uri="{FF2B5EF4-FFF2-40B4-BE49-F238E27FC236}">
                <a16:creationId xmlns:a16="http://schemas.microsoft.com/office/drawing/2014/main" id="{ACA9DC3E-2643-011A-35C4-5DBD83463EC5}"/>
              </a:ext>
            </a:extLst>
          </p:cNvPr>
          <p:cNvSpPr txBox="1"/>
          <p:nvPr/>
        </p:nvSpPr>
        <p:spPr>
          <a:xfrm>
            <a:off x="4939051" y="3596465"/>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cxnSp>
        <p:nvCxnSpPr>
          <p:cNvPr id="21" name="Straight Arrow Connector 20">
            <a:extLst>
              <a:ext uri="{FF2B5EF4-FFF2-40B4-BE49-F238E27FC236}">
                <a16:creationId xmlns:a16="http://schemas.microsoft.com/office/drawing/2014/main" id="{AF1D348E-A83D-2C11-6656-0F2F28F9E94D}"/>
              </a:ext>
            </a:extLst>
          </p:cNvPr>
          <p:cNvCxnSpPr/>
          <p:nvPr/>
        </p:nvCxnSpPr>
        <p:spPr>
          <a:xfrm>
            <a:off x="302654" y="1979160"/>
            <a:ext cx="0" cy="2642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D0F95FD-BC16-B0DB-F0E5-D21F6A6879DE}"/>
              </a:ext>
            </a:extLst>
          </p:cNvPr>
          <p:cNvSpPr txBox="1"/>
          <p:nvPr/>
        </p:nvSpPr>
        <p:spPr>
          <a:xfrm>
            <a:off x="74748" y="1593258"/>
            <a:ext cx="519694" cy="307777"/>
          </a:xfrm>
          <a:prstGeom prst="rect">
            <a:avLst/>
          </a:prstGeom>
          <a:noFill/>
        </p:spPr>
        <p:txBody>
          <a:bodyPr wrap="none" rtlCol="0">
            <a:spAutoFit/>
          </a:bodyPr>
          <a:lstStyle/>
          <a:p>
            <a:r>
              <a:rPr lang="pt-BR" sz="1400" i="1" dirty="0"/>
              <a:t>time</a:t>
            </a:r>
          </a:p>
        </p:txBody>
      </p:sp>
      <p:sp>
        <p:nvSpPr>
          <p:cNvPr id="23" name="TextBox 22">
            <a:extLst>
              <a:ext uri="{FF2B5EF4-FFF2-40B4-BE49-F238E27FC236}">
                <a16:creationId xmlns:a16="http://schemas.microsoft.com/office/drawing/2014/main" id="{47108B35-2F5D-9FD3-6B23-87C56BC5899A}"/>
              </a:ext>
            </a:extLst>
          </p:cNvPr>
          <p:cNvSpPr txBox="1"/>
          <p:nvPr/>
        </p:nvSpPr>
        <p:spPr>
          <a:xfrm>
            <a:off x="320441" y="1979501"/>
            <a:ext cx="303288" cy="261610"/>
          </a:xfrm>
          <a:prstGeom prst="rect">
            <a:avLst/>
          </a:prstGeom>
          <a:noFill/>
        </p:spPr>
        <p:txBody>
          <a:bodyPr wrap="none" rtlCol="0">
            <a:spAutoFit/>
          </a:bodyPr>
          <a:lstStyle/>
          <a:p>
            <a:r>
              <a:rPr lang="pt-BR" sz="1100" i="1" dirty="0"/>
              <a:t>t1</a:t>
            </a:r>
          </a:p>
        </p:txBody>
      </p:sp>
      <p:sp>
        <p:nvSpPr>
          <p:cNvPr id="24" name="TextBox 23">
            <a:extLst>
              <a:ext uri="{FF2B5EF4-FFF2-40B4-BE49-F238E27FC236}">
                <a16:creationId xmlns:a16="http://schemas.microsoft.com/office/drawing/2014/main" id="{C1AE58B4-AA1D-5C77-0CB1-4BF0B751A00E}"/>
              </a:ext>
            </a:extLst>
          </p:cNvPr>
          <p:cNvSpPr txBox="1"/>
          <p:nvPr/>
        </p:nvSpPr>
        <p:spPr>
          <a:xfrm>
            <a:off x="329048" y="2349802"/>
            <a:ext cx="303288" cy="261610"/>
          </a:xfrm>
          <a:prstGeom prst="rect">
            <a:avLst/>
          </a:prstGeom>
          <a:noFill/>
        </p:spPr>
        <p:txBody>
          <a:bodyPr wrap="none" rtlCol="0">
            <a:spAutoFit/>
          </a:bodyPr>
          <a:lstStyle/>
          <a:p>
            <a:r>
              <a:rPr lang="pt-BR" sz="1100" i="1" dirty="0"/>
              <a:t>t2</a:t>
            </a:r>
          </a:p>
        </p:txBody>
      </p:sp>
      <p:sp>
        <p:nvSpPr>
          <p:cNvPr id="25" name="TextBox 24">
            <a:extLst>
              <a:ext uri="{FF2B5EF4-FFF2-40B4-BE49-F238E27FC236}">
                <a16:creationId xmlns:a16="http://schemas.microsoft.com/office/drawing/2014/main" id="{58148A06-BF7F-303C-BE41-294D8BBC9888}"/>
              </a:ext>
            </a:extLst>
          </p:cNvPr>
          <p:cNvSpPr txBox="1"/>
          <p:nvPr/>
        </p:nvSpPr>
        <p:spPr>
          <a:xfrm>
            <a:off x="329048" y="2787564"/>
            <a:ext cx="303288" cy="261610"/>
          </a:xfrm>
          <a:prstGeom prst="rect">
            <a:avLst/>
          </a:prstGeom>
          <a:noFill/>
        </p:spPr>
        <p:txBody>
          <a:bodyPr wrap="none" rtlCol="0">
            <a:spAutoFit/>
          </a:bodyPr>
          <a:lstStyle/>
          <a:p>
            <a:r>
              <a:rPr lang="pt-BR" sz="1100" i="1" dirty="0"/>
              <a:t>t3</a:t>
            </a:r>
          </a:p>
        </p:txBody>
      </p:sp>
      <p:sp>
        <p:nvSpPr>
          <p:cNvPr id="26" name="TextBox 25">
            <a:extLst>
              <a:ext uri="{FF2B5EF4-FFF2-40B4-BE49-F238E27FC236}">
                <a16:creationId xmlns:a16="http://schemas.microsoft.com/office/drawing/2014/main" id="{56F605FD-233D-13C6-B054-06404A816D80}"/>
              </a:ext>
            </a:extLst>
          </p:cNvPr>
          <p:cNvSpPr txBox="1"/>
          <p:nvPr/>
        </p:nvSpPr>
        <p:spPr>
          <a:xfrm>
            <a:off x="344193" y="3202436"/>
            <a:ext cx="303288" cy="261610"/>
          </a:xfrm>
          <a:prstGeom prst="rect">
            <a:avLst/>
          </a:prstGeom>
          <a:noFill/>
        </p:spPr>
        <p:txBody>
          <a:bodyPr wrap="none" rtlCol="0">
            <a:spAutoFit/>
          </a:bodyPr>
          <a:lstStyle/>
          <a:p>
            <a:r>
              <a:rPr lang="pt-BR" sz="1100" i="1" dirty="0"/>
              <a:t>t4</a:t>
            </a:r>
          </a:p>
        </p:txBody>
      </p:sp>
      <p:sp>
        <p:nvSpPr>
          <p:cNvPr id="27" name="TextBox 26">
            <a:extLst>
              <a:ext uri="{FF2B5EF4-FFF2-40B4-BE49-F238E27FC236}">
                <a16:creationId xmlns:a16="http://schemas.microsoft.com/office/drawing/2014/main" id="{D3EA6DED-A543-A61F-526E-7381F8DBCF86}"/>
              </a:ext>
            </a:extLst>
          </p:cNvPr>
          <p:cNvSpPr txBox="1"/>
          <p:nvPr/>
        </p:nvSpPr>
        <p:spPr>
          <a:xfrm>
            <a:off x="329048" y="3575293"/>
            <a:ext cx="303288" cy="261610"/>
          </a:xfrm>
          <a:prstGeom prst="rect">
            <a:avLst/>
          </a:prstGeom>
          <a:noFill/>
        </p:spPr>
        <p:txBody>
          <a:bodyPr wrap="none" rtlCol="0">
            <a:spAutoFit/>
          </a:bodyPr>
          <a:lstStyle/>
          <a:p>
            <a:r>
              <a:rPr lang="pt-BR" sz="1100" i="1" dirty="0"/>
              <a:t>t5</a:t>
            </a:r>
          </a:p>
        </p:txBody>
      </p:sp>
      <p:sp>
        <p:nvSpPr>
          <p:cNvPr id="28" name="TextBox 27">
            <a:extLst>
              <a:ext uri="{FF2B5EF4-FFF2-40B4-BE49-F238E27FC236}">
                <a16:creationId xmlns:a16="http://schemas.microsoft.com/office/drawing/2014/main" id="{DD1D105B-8C4C-D0D9-02FD-710F4C3A6894}"/>
              </a:ext>
            </a:extLst>
          </p:cNvPr>
          <p:cNvSpPr txBox="1"/>
          <p:nvPr/>
        </p:nvSpPr>
        <p:spPr>
          <a:xfrm>
            <a:off x="334591" y="3969338"/>
            <a:ext cx="303288" cy="261610"/>
          </a:xfrm>
          <a:prstGeom prst="rect">
            <a:avLst/>
          </a:prstGeom>
          <a:noFill/>
        </p:spPr>
        <p:txBody>
          <a:bodyPr wrap="none" rtlCol="0">
            <a:spAutoFit/>
          </a:bodyPr>
          <a:lstStyle/>
          <a:p>
            <a:r>
              <a:rPr lang="pt-BR" sz="1100" i="1" dirty="0"/>
              <a:t>t6</a:t>
            </a:r>
          </a:p>
        </p:txBody>
      </p:sp>
      <p:sp>
        <p:nvSpPr>
          <p:cNvPr id="29" name="TextBox 28">
            <a:extLst>
              <a:ext uri="{FF2B5EF4-FFF2-40B4-BE49-F238E27FC236}">
                <a16:creationId xmlns:a16="http://schemas.microsoft.com/office/drawing/2014/main" id="{315969BF-3370-0426-51C9-1EC86AF2F17E}"/>
              </a:ext>
            </a:extLst>
          </p:cNvPr>
          <p:cNvSpPr txBox="1"/>
          <p:nvPr/>
        </p:nvSpPr>
        <p:spPr>
          <a:xfrm>
            <a:off x="334591" y="4277973"/>
            <a:ext cx="303288" cy="430887"/>
          </a:xfrm>
          <a:prstGeom prst="rect">
            <a:avLst/>
          </a:prstGeom>
          <a:noFill/>
        </p:spPr>
        <p:txBody>
          <a:bodyPr wrap="none" rtlCol="0">
            <a:spAutoFit/>
          </a:bodyPr>
          <a:lstStyle/>
          <a:p>
            <a:r>
              <a:rPr lang="pt-BR" sz="1100" i="1" dirty="0"/>
              <a:t>t7</a:t>
            </a:r>
          </a:p>
          <a:p>
            <a:endParaRPr lang="pt-BR" sz="1100" i="1" dirty="0"/>
          </a:p>
        </p:txBody>
      </p:sp>
      <p:sp>
        <p:nvSpPr>
          <p:cNvPr id="30" name="TextBox 29">
            <a:extLst>
              <a:ext uri="{FF2B5EF4-FFF2-40B4-BE49-F238E27FC236}">
                <a16:creationId xmlns:a16="http://schemas.microsoft.com/office/drawing/2014/main" id="{EAC64DCD-6F59-8B2B-C838-55D69AEEB452}"/>
              </a:ext>
            </a:extLst>
          </p:cNvPr>
          <p:cNvSpPr txBox="1"/>
          <p:nvPr/>
        </p:nvSpPr>
        <p:spPr>
          <a:xfrm>
            <a:off x="755561" y="2104089"/>
            <a:ext cx="389850" cy="215444"/>
          </a:xfrm>
          <a:prstGeom prst="rect">
            <a:avLst/>
          </a:prstGeom>
          <a:noFill/>
        </p:spPr>
        <p:txBody>
          <a:bodyPr wrap="none" rtlCol="0">
            <a:spAutoFit/>
          </a:bodyPr>
          <a:lstStyle/>
          <a:p>
            <a:r>
              <a:rPr lang="pt-BR" sz="800" i="1" dirty="0"/>
              <a:t>2900</a:t>
            </a:r>
          </a:p>
        </p:txBody>
      </p:sp>
      <p:sp>
        <p:nvSpPr>
          <p:cNvPr id="31" name="TextBox 30">
            <a:extLst>
              <a:ext uri="{FF2B5EF4-FFF2-40B4-BE49-F238E27FC236}">
                <a16:creationId xmlns:a16="http://schemas.microsoft.com/office/drawing/2014/main" id="{F3134740-7C74-B4B3-06D3-11C74D51E295}"/>
              </a:ext>
            </a:extLst>
          </p:cNvPr>
          <p:cNvSpPr txBox="1"/>
          <p:nvPr/>
        </p:nvSpPr>
        <p:spPr>
          <a:xfrm>
            <a:off x="4915439" y="2094707"/>
            <a:ext cx="389850" cy="215444"/>
          </a:xfrm>
          <a:prstGeom prst="rect">
            <a:avLst/>
          </a:prstGeom>
          <a:noFill/>
        </p:spPr>
        <p:txBody>
          <a:bodyPr wrap="none" rtlCol="0">
            <a:spAutoFit/>
          </a:bodyPr>
          <a:lstStyle/>
          <a:p>
            <a:r>
              <a:rPr lang="pt-BR" sz="800" i="1" dirty="0"/>
              <a:t>2900</a:t>
            </a:r>
          </a:p>
        </p:txBody>
      </p:sp>
      <p:sp>
        <p:nvSpPr>
          <p:cNvPr id="32" name="TextBox 31">
            <a:extLst>
              <a:ext uri="{FF2B5EF4-FFF2-40B4-BE49-F238E27FC236}">
                <a16:creationId xmlns:a16="http://schemas.microsoft.com/office/drawing/2014/main" id="{7FE3F438-7688-E468-3351-8F0766356109}"/>
              </a:ext>
            </a:extLst>
          </p:cNvPr>
          <p:cNvSpPr txBox="1"/>
          <p:nvPr/>
        </p:nvSpPr>
        <p:spPr>
          <a:xfrm>
            <a:off x="759045" y="2966726"/>
            <a:ext cx="389850" cy="215444"/>
          </a:xfrm>
          <a:prstGeom prst="rect">
            <a:avLst/>
          </a:prstGeom>
          <a:noFill/>
        </p:spPr>
        <p:txBody>
          <a:bodyPr wrap="none" rtlCol="0">
            <a:spAutoFit/>
          </a:bodyPr>
          <a:lstStyle/>
          <a:p>
            <a:r>
              <a:rPr lang="pt-BR" sz="800" i="1" dirty="0"/>
              <a:t>5000</a:t>
            </a:r>
          </a:p>
        </p:txBody>
      </p:sp>
      <p:sp>
        <p:nvSpPr>
          <p:cNvPr id="33" name="TextBox 32">
            <a:extLst>
              <a:ext uri="{FF2B5EF4-FFF2-40B4-BE49-F238E27FC236}">
                <a16:creationId xmlns:a16="http://schemas.microsoft.com/office/drawing/2014/main" id="{E1A13FFF-C8DD-D53F-E02A-0358440E5BDC}"/>
              </a:ext>
            </a:extLst>
          </p:cNvPr>
          <p:cNvSpPr txBox="1"/>
          <p:nvPr/>
        </p:nvSpPr>
        <p:spPr>
          <a:xfrm>
            <a:off x="4935284" y="2944393"/>
            <a:ext cx="389850" cy="215444"/>
          </a:xfrm>
          <a:prstGeom prst="rect">
            <a:avLst/>
          </a:prstGeom>
          <a:noFill/>
        </p:spPr>
        <p:txBody>
          <a:bodyPr wrap="none" rtlCol="0">
            <a:spAutoFit/>
          </a:bodyPr>
          <a:lstStyle/>
          <a:p>
            <a:r>
              <a:rPr lang="pt-BR" sz="800" i="1" dirty="0">
                <a:solidFill>
                  <a:srgbClr val="FF0000"/>
                </a:solidFill>
              </a:rPr>
              <a:t>2900</a:t>
            </a:r>
          </a:p>
        </p:txBody>
      </p:sp>
      <p:sp>
        <p:nvSpPr>
          <p:cNvPr id="34" name="TextBox 33">
            <a:extLst>
              <a:ext uri="{FF2B5EF4-FFF2-40B4-BE49-F238E27FC236}">
                <a16:creationId xmlns:a16="http://schemas.microsoft.com/office/drawing/2014/main" id="{D6B70F08-5858-2E44-3481-7F283C8FFF8D}"/>
              </a:ext>
            </a:extLst>
          </p:cNvPr>
          <p:cNvSpPr txBox="1"/>
          <p:nvPr/>
        </p:nvSpPr>
        <p:spPr>
          <a:xfrm>
            <a:off x="766291" y="3785171"/>
            <a:ext cx="389850" cy="215444"/>
          </a:xfrm>
          <a:prstGeom prst="rect">
            <a:avLst/>
          </a:prstGeom>
          <a:noFill/>
        </p:spPr>
        <p:txBody>
          <a:bodyPr wrap="none" rtlCol="0">
            <a:spAutoFit/>
          </a:bodyPr>
          <a:lstStyle/>
          <a:p>
            <a:r>
              <a:rPr lang="pt-BR" sz="800" i="1" dirty="0"/>
              <a:t>5000</a:t>
            </a:r>
          </a:p>
        </p:txBody>
      </p:sp>
      <p:sp>
        <p:nvSpPr>
          <p:cNvPr id="35" name="TextBox 34">
            <a:extLst>
              <a:ext uri="{FF2B5EF4-FFF2-40B4-BE49-F238E27FC236}">
                <a16:creationId xmlns:a16="http://schemas.microsoft.com/office/drawing/2014/main" id="{9D708E0C-F01D-410B-990C-4E0468BD4A4D}"/>
              </a:ext>
            </a:extLst>
          </p:cNvPr>
          <p:cNvSpPr txBox="1"/>
          <p:nvPr/>
        </p:nvSpPr>
        <p:spPr>
          <a:xfrm>
            <a:off x="4915439" y="3350619"/>
            <a:ext cx="441146" cy="215444"/>
          </a:xfrm>
          <a:prstGeom prst="rect">
            <a:avLst/>
          </a:prstGeom>
          <a:noFill/>
        </p:spPr>
        <p:txBody>
          <a:bodyPr wrap="none" rtlCol="0">
            <a:spAutoFit/>
          </a:bodyPr>
          <a:lstStyle/>
          <a:p>
            <a:r>
              <a:rPr lang="pt-BR" sz="800" i="1" dirty="0"/>
              <a:t>10000</a:t>
            </a:r>
          </a:p>
        </p:txBody>
      </p:sp>
      <p:sp>
        <p:nvSpPr>
          <p:cNvPr id="36" name="TextBox 35">
            <a:extLst>
              <a:ext uri="{FF2B5EF4-FFF2-40B4-BE49-F238E27FC236}">
                <a16:creationId xmlns:a16="http://schemas.microsoft.com/office/drawing/2014/main" id="{1666BA8A-9239-0E0F-F80D-60B4C415A322}"/>
              </a:ext>
            </a:extLst>
          </p:cNvPr>
          <p:cNvSpPr txBox="1"/>
          <p:nvPr/>
        </p:nvSpPr>
        <p:spPr>
          <a:xfrm>
            <a:off x="4935284" y="3750005"/>
            <a:ext cx="389850" cy="215444"/>
          </a:xfrm>
          <a:prstGeom prst="rect">
            <a:avLst/>
          </a:prstGeom>
          <a:noFill/>
        </p:spPr>
        <p:txBody>
          <a:bodyPr wrap="none" rtlCol="0">
            <a:spAutoFit/>
          </a:bodyPr>
          <a:lstStyle/>
          <a:p>
            <a:r>
              <a:rPr lang="pt-BR" sz="800" i="1" dirty="0">
                <a:solidFill>
                  <a:srgbClr val="FF0000"/>
                </a:solidFill>
              </a:rPr>
              <a:t>2900</a:t>
            </a:r>
          </a:p>
        </p:txBody>
      </p:sp>
      <p:sp>
        <p:nvSpPr>
          <p:cNvPr id="41" name="TextBox 40">
            <a:extLst>
              <a:ext uri="{FF2B5EF4-FFF2-40B4-BE49-F238E27FC236}">
                <a16:creationId xmlns:a16="http://schemas.microsoft.com/office/drawing/2014/main" id="{5B469482-003E-E1AB-EC7E-744C6F7B6B6F}"/>
              </a:ext>
            </a:extLst>
          </p:cNvPr>
          <p:cNvSpPr txBox="1"/>
          <p:nvPr/>
        </p:nvSpPr>
        <p:spPr>
          <a:xfrm>
            <a:off x="4903327" y="1749744"/>
            <a:ext cx="3473000" cy="261610"/>
          </a:xfrm>
          <a:prstGeom prst="rect">
            <a:avLst/>
          </a:prstGeom>
          <a:noFill/>
        </p:spPr>
        <p:txBody>
          <a:bodyPr wrap="square">
            <a:spAutoFit/>
          </a:bodyPr>
          <a:lstStyle/>
          <a:p>
            <a:r>
              <a:rPr lang="pt-BR" sz="1050" dirty="0">
                <a:solidFill>
                  <a:srgbClr val="FF0000"/>
                </a:solidFill>
              </a:rPr>
              <a:t>SET TRANSACTION ISOLATION LEVEL SERIALIZABLE;</a:t>
            </a:r>
          </a:p>
        </p:txBody>
      </p:sp>
      <p:sp>
        <p:nvSpPr>
          <p:cNvPr id="42" name="TextBox 41">
            <a:extLst>
              <a:ext uri="{FF2B5EF4-FFF2-40B4-BE49-F238E27FC236}">
                <a16:creationId xmlns:a16="http://schemas.microsoft.com/office/drawing/2014/main" id="{121F496A-708D-FAB6-87E2-D5E633C155AB}"/>
              </a:ext>
            </a:extLst>
          </p:cNvPr>
          <p:cNvSpPr txBox="1"/>
          <p:nvPr/>
        </p:nvSpPr>
        <p:spPr>
          <a:xfrm>
            <a:off x="4939051" y="4015366"/>
            <a:ext cx="3528812" cy="246221"/>
          </a:xfrm>
          <a:prstGeom prst="rect">
            <a:avLst/>
          </a:prstGeom>
          <a:noFill/>
        </p:spPr>
        <p:txBody>
          <a:bodyPr wrap="square">
            <a:spAutoFit/>
          </a:bodyPr>
          <a:lstStyle/>
          <a:p>
            <a:r>
              <a:rPr lang="en-US" sz="1000" dirty="0"/>
              <a:t>update employees set salary=7000 where </a:t>
            </a:r>
            <a:r>
              <a:rPr lang="en-US" sz="1000" dirty="0" err="1"/>
              <a:t>employee_id</a:t>
            </a:r>
            <a:r>
              <a:rPr lang="en-US" sz="1000" dirty="0"/>
              <a:t> = 116;</a:t>
            </a:r>
            <a:endParaRPr lang="pt-BR" sz="1000" dirty="0"/>
          </a:p>
        </p:txBody>
      </p:sp>
      <p:sp>
        <p:nvSpPr>
          <p:cNvPr id="44" name="TextBox 43">
            <a:extLst>
              <a:ext uri="{FF2B5EF4-FFF2-40B4-BE49-F238E27FC236}">
                <a16:creationId xmlns:a16="http://schemas.microsoft.com/office/drawing/2014/main" id="{A3C08430-3E23-1144-91D6-37FCF4830B31}"/>
              </a:ext>
            </a:extLst>
          </p:cNvPr>
          <p:cNvSpPr txBox="1"/>
          <p:nvPr/>
        </p:nvSpPr>
        <p:spPr>
          <a:xfrm>
            <a:off x="4939051" y="4262843"/>
            <a:ext cx="3528812" cy="507831"/>
          </a:xfrm>
          <a:prstGeom prst="rect">
            <a:avLst/>
          </a:prstGeom>
          <a:noFill/>
        </p:spPr>
        <p:txBody>
          <a:bodyPr wrap="square">
            <a:spAutoFit/>
          </a:bodyPr>
          <a:lstStyle/>
          <a:p>
            <a:r>
              <a:rPr lang="pt-BR" sz="900" i="1" dirty="0">
                <a:solidFill>
                  <a:srgbClr val="FF0000"/>
                </a:solidFill>
              </a:rPr>
              <a:t>update </a:t>
            </a:r>
            <a:r>
              <a:rPr lang="pt-BR" sz="900" i="1" dirty="0" err="1">
                <a:solidFill>
                  <a:srgbClr val="FF0000"/>
                </a:solidFill>
              </a:rPr>
              <a:t>employees</a:t>
            </a:r>
            <a:r>
              <a:rPr lang="pt-BR" sz="900" i="1" dirty="0">
                <a:solidFill>
                  <a:srgbClr val="FF0000"/>
                </a:solidFill>
              </a:rPr>
              <a:t> set </a:t>
            </a:r>
            <a:r>
              <a:rPr lang="pt-BR" sz="900" i="1" dirty="0" err="1">
                <a:solidFill>
                  <a:srgbClr val="FF0000"/>
                </a:solidFill>
              </a:rPr>
              <a:t>salary</a:t>
            </a:r>
            <a:r>
              <a:rPr lang="pt-BR" sz="900" i="1" dirty="0">
                <a:solidFill>
                  <a:srgbClr val="FF0000"/>
                </a:solidFill>
              </a:rPr>
              <a:t>=7000 </a:t>
            </a:r>
            <a:r>
              <a:rPr lang="pt-BR" sz="900" i="1" dirty="0" err="1">
                <a:solidFill>
                  <a:srgbClr val="FF0000"/>
                </a:solidFill>
              </a:rPr>
              <a:t>where</a:t>
            </a:r>
            <a:r>
              <a:rPr lang="pt-BR" sz="900" i="1" dirty="0">
                <a:solidFill>
                  <a:srgbClr val="FF0000"/>
                </a:solidFill>
              </a:rPr>
              <a:t> </a:t>
            </a:r>
            <a:r>
              <a:rPr lang="pt-BR" sz="900" i="1" dirty="0" err="1">
                <a:solidFill>
                  <a:srgbClr val="FF0000"/>
                </a:solidFill>
              </a:rPr>
              <a:t>employee_id</a:t>
            </a:r>
            <a:r>
              <a:rPr lang="pt-BR" sz="900" i="1" dirty="0">
                <a:solidFill>
                  <a:srgbClr val="FF0000"/>
                </a:solidFill>
              </a:rPr>
              <a:t> = 116</a:t>
            </a:r>
          </a:p>
          <a:p>
            <a:r>
              <a:rPr lang="pt-BR" sz="900" i="1" dirty="0" err="1">
                <a:solidFill>
                  <a:srgbClr val="FF0000"/>
                </a:solidFill>
              </a:rPr>
              <a:t>Error</a:t>
            </a:r>
            <a:r>
              <a:rPr lang="pt-BR" sz="900" i="1" dirty="0">
                <a:solidFill>
                  <a:srgbClr val="FF0000"/>
                </a:solidFill>
              </a:rPr>
              <a:t> </a:t>
            </a:r>
            <a:r>
              <a:rPr lang="pt-BR" sz="900" i="1" dirty="0" err="1">
                <a:solidFill>
                  <a:srgbClr val="FF0000"/>
                </a:solidFill>
              </a:rPr>
              <a:t>report</a:t>
            </a:r>
            <a:r>
              <a:rPr lang="pt-BR" sz="900" i="1" dirty="0">
                <a:solidFill>
                  <a:srgbClr val="FF0000"/>
                </a:solidFill>
              </a:rPr>
              <a:t> -</a:t>
            </a:r>
          </a:p>
          <a:p>
            <a:r>
              <a:rPr lang="pt-BR" sz="900" i="1" dirty="0">
                <a:solidFill>
                  <a:srgbClr val="FF0000"/>
                </a:solidFill>
              </a:rPr>
              <a:t>ORA-08177: </a:t>
            </a:r>
            <a:r>
              <a:rPr lang="pt-BR" sz="900" i="1" dirty="0" err="1">
                <a:solidFill>
                  <a:srgbClr val="FF0000"/>
                </a:solidFill>
              </a:rPr>
              <a:t>can't</a:t>
            </a:r>
            <a:r>
              <a:rPr lang="pt-BR" sz="900" i="1" dirty="0">
                <a:solidFill>
                  <a:srgbClr val="FF0000"/>
                </a:solidFill>
              </a:rPr>
              <a:t> serialize </a:t>
            </a:r>
            <a:r>
              <a:rPr lang="pt-BR" sz="900" i="1" dirty="0" err="1">
                <a:solidFill>
                  <a:srgbClr val="FF0000"/>
                </a:solidFill>
              </a:rPr>
              <a:t>access</a:t>
            </a:r>
            <a:r>
              <a:rPr lang="pt-BR" sz="900" i="1" dirty="0">
                <a:solidFill>
                  <a:srgbClr val="FF0000"/>
                </a:solidFill>
              </a:rPr>
              <a:t> for </a:t>
            </a:r>
            <a:r>
              <a:rPr lang="pt-BR" sz="900" i="1" dirty="0" err="1">
                <a:solidFill>
                  <a:srgbClr val="FF0000"/>
                </a:solidFill>
              </a:rPr>
              <a:t>this</a:t>
            </a:r>
            <a:r>
              <a:rPr lang="pt-BR" sz="900" i="1" dirty="0">
                <a:solidFill>
                  <a:srgbClr val="FF0000"/>
                </a:solidFill>
              </a:rPr>
              <a:t> </a:t>
            </a:r>
            <a:r>
              <a:rPr lang="pt-BR" sz="900" i="1" dirty="0" err="1">
                <a:solidFill>
                  <a:srgbClr val="FF0000"/>
                </a:solidFill>
              </a:rPr>
              <a:t>transaction</a:t>
            </a:r>
            <a:endParaRPr lang="pt-BR" sz="900" i="1" dirty="0">
              <a:solidFill>
                <a:srgbClr val="FF0000"/>
              </a:solidFill>
            </a:endParaRPr>
          </a:p>
        </p:txBody>
      </p:sp>
    </p:spTree>
    <p:extLst>
      <p:ext uri="{BB962C8B-B14F-4D97-AF65-F5344CB8AC3E}">
        <p14:creationId xmlns:p14="http://schemas.microsoft.com/office/powerpoint/2010/main" val="2314944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ubtítulo 2">
            <a:extLst>
              <a:ext uri="{FF2B5EF4-FFF2-40B4-BE49-F238E27FC236}">
                <a16:creationId xmlns:a16="http://schemas.microsoft.com/office/drawing/2014/main" id="{E160E686-CF48-4091-9014-C01D199433F7}"/>
              </a:ext>
            </a:extLst>
          </p:cNvPr>
          <p:cNvSpPr>
            <a:spLocks noGrp="1"/>
          </p:cNvSpPr>
          <p:nvPr>
            <p:ph type="subTitle" idx="1"/>
          </p:nvPr>
        </p:nvSpPr>
        <p:spPr>
          <a:xfrm>
            <a:off x="533400" y="1447800"/>
            <a:ext cx="8013699" cy="2477750"/>
          </a:xfrm>
        </p:spPr>
        <p:txBody>
          <a:bodyPr>
            <a:normAutofit/>
          </a:bodyPr>
          <a:lstStyle/>
          <a:p>
            <a:pPr marL="285750" indent="-285750" algn="just">
              <a:buClr>
                <a:srgbClr val="ED145B"/>
              </a:buClr>
              <a:buFont typeface="Arial" panose="020B0604020202020204" pitchFamily="34" charset="0"/>
              <a:buChar char="•"/>
              <a:defRPr/>
            </a:pPr>
            <a:r>
              <a:rPr lang="pt-BR" sz="22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Read-Only</a:t>
            </a:r>
            <a:r>
              <a:rPr lang="pt-BR" sz="22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2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Isolation</a:t>
            </a:r>
            <a:r>
              <a:rPr lang="pt-BR" sz="22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2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Level</a:t>
            </a:r>
            <a:endParaRPr lang="pt-BR" sz="2200" i="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742950" lvl="1" indent="-285750" algn="just">
              <a:buClr>
                <a:srgbClr val="ED145B"/>
              </a:buClr>
              <a:buFont typeface="Arial" panose="020B0604020202020204" pitchFamily="34" charset="0"/>
              <a:buChar char="•"/>
              <a:defRPr/>
            </a:pP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O nível de isolamento somente leitura é semelhante ao nível de isolamento </a:t>
            </a:r>
            <a:r>
              <a:rPr lang="pt-BR" sz="1900"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serializável</a:t>
            </a:r>
            <a:r>
              <a:rPr lang="pt-BR" sz="1900" dirty="0">
                <a:solidFill>
                  <a:schemeClr val="tx1"/>
                </a:solidFill>
                <a:effectLst/>
                <a:latin typeface="Arial" panose="020B0604020202020204" pitchFamily="34" charset="0"/>
                <a:ea typeface="Calibri" panose="020F0502020204030204" pitchFamily="34" charset="0"/>
                <a:cs typeface="Arial" panose="020B0604020202020204" pitchFamily="34" charset="0"/>
              </a:rPr>
              <a:t>, mas as transações somente leitura não permitem que os dados sejam modificados na transação, a menos que o usuário seja SYS (gerencial metadados) </a:t>
            </a:r>
          </a:p>
          <a:p>
            <a:pPr algn="just">
              <a:defRPr/>
            </a:pPr>
            <a:endParaRPr lang="pt-BR" altLang="pt-BR" sz="1877" dirty="0">
              <a:solidFill>
                <a:schemeClr val="tx1"/>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A0B62776-E69F-4410-856C-96B3A8982D1A}"/>
              </a:ext>
            </a:extLst>
          </p:cNvPr>
          <p:cNvSpPr txBox="1">
            <a:spLocks/>
          </p:cNvSpPr>
          <p:nvPr/>
        </p:nvSpPr>
        <p:spPr>
          <a:xfrm>
            <a:off x="1842348" y="95746"/>
            <a:ext cx="5459303" cy="79011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mj-lt"/>
                <a:ea typeface="+mj-ea"/>
                <a:cs typeface="+mj-cs"/>
              </a:defRPr>
            </a:lvl1pPr>
          </a:lstStyle>
          <a:p>
            <a:r>
              <a:rPr lang="pt-BR" altLang="pt-BR" dirty="0">
                <a:solidFill>
                  <a:srgbClr val="ED145B"/>
                </a:solidFill>
              </a:rPr>
              <a:t>Níveis de Isolamento - Oracle</a:t>
            </a:r>
          </a:p>
        </p:txBody>
      </p:sp>
    </p:spTree>
    <p:extLst>
      <p:ext uri="{BB962C8B-B14F-4D97-AF65-F5344CB8AC3E}">
        <p14:creationId xmlns:p14="http://schemas.microsoft.com/office/powerpoint/2010/main" val="14258541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152B-1C88-5359-3DC7-E9AA997A5B53}"/>
            </a:ext>
          </a:extLst>
        </p:cNvPr>
        <p:cNvGrpSpPr/>
        <p:nvPr/>
      </p:nvGrpSpPr>
      <p:grpSpPr>
        <a:xfrm>
          <a:off x="0" y="0"/>
          <a:ext cx="0" cy="0"/>
          <a:chOff x="0" y="0"/>
          <a:chExt cx="0" cy="0"/>
        </a:xfrm>
      </p:grpSpPr>
      <p:sp>
        <p:nvSpPr>
          <p:cNvPr id="17411" name="Subtítulo 2">
            <a:extLst>
              <a:ext uri="{FF2B5EF4-FFF2-40B4-BE49-F238E27FC236}">
                <a16:creationId xmlns:a16="http://schemas.microsoft.com/office/drawing/2014/main" id="{DAF5A2F9-A4B5-4477-8FCF-92D8F62F6222}"/>
              </a:ext>
            </a:extLst>
          </p:cNvPr>
          <p:cNvSpPr>
            <a:spLocks noGrp="1"/>
          </p:cNvSpPr>
          <p:nvPr>
            <p:ph type="subTitle" idx="1"/>
          </p:nvPr>
        </p:nvSpPr>
        <p:spPr>
          <a:xfrm>
            <a:off x="565150" y="1061434"/>
            <a:ext cx="8013699" cy="490470"/>
          </a:xfrm>
        </p:spPr>
        <p:txBody>
          <a:bodyPr>
            <a:normAutofit/>
          </a:bodyPr>
          <a:lstStyle/>
          <a:p>
            <a:pPr marL="285750" indent="-285750" algn="just">
              <a:buClr>
                <a:srgbClr val="ED145B"/>
              </a:buClr>
              <a:buFont typeface="Arial" panose="020B0604020202020204" pitchFamily="34" charset="0"/>
              <a:buChar char="•"/>
              <a:defRPr/>
            </a:pPr>
            <a:r>
              <a:rPr lang="pt-BR" sz="22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Read-Only</a:t>
            </a:r>
            <a:r>
              <a:rPr lang="pt-BR" sz="22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2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Isolation</a:t>
            </a:r>
            <a:r>
              <a:rPr lang="pt-BR" sz="2200" i="1"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pt-BR" sz="2200" i="1"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Level</a:t>
            </a:r>
            <a:endParaRPr lang="pt-BR" sz="2200" i="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285750" indent="-285750" algn="just">
              <a:buFont typeface="Arial" panose="020B0604020202020204" pitchFamily="34" charset="0"/>
              <a:buChar char="•"/>
              <a:defRPr/>
            </a:pPr>
            <a:endParaRPr lang="pt-BR" altLang="pt-BR" sz="1877" dirty="0">
              <a:solidFill>
                <a:schemeClr val="tx1"/>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BC347285-7F74-9DF3-F97A-81F3D64CFE8E}"/>
              </a:ext>
            </a:extLst>
          </p:cNvPr>
          <p:cNvSpPr txBox="1">
            <a:spLocks/>
          </p:cNvSpPr>
          <p:nvPr/>
        </p:nvSpPr>
        <p:spPr>
          <a:xfrm>
            <a:off x="1842348" y="95746"/>
            <a:ext cx="5459303" cy="79011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mj-lt"/>
                <a:ea typeface="+mj-ea"/>
                <a:cs typeface="+mj-cs"/>
              </a:defRPr>
            </a:lvl1pPr>
          </a:lstStyle>
          <a:p>
            <a:r>
              <a:rPr lang="pt-BR" altLang="pt-BR" dirty="0">
                <a:solidFill>
                  <a:srgbClr val="ED145B"/>
                </a:solidFill>
              </a:rPr>
              <a:t>Níveis de Isolamento - Oracle</a:t>
            </a:r>
          </a:p>
        </p:txBody>
      </p:sp>
      <p:sp>
        <p:nvSpPr>
          <p:cNvPr id="2" name="Rectangle 1">
            <a:extLst>
              <a:ext uri="{FF2B5EF4-FFF2-40B4-BE49-F238E27FC236}">
                <a16:creationId xmlns:a16="http://schemas.microsoft.com/office/drawing/2014/main" id="{521E345C-B8C0-6EFE-D175-7A47A70558F7}"/>
              </a:ext>
            </a:extLst>
          </p:cNvPr>
          <p:cNvSpPr/>
          <p:nvPr/>
        </p:nvSpPr>
        <p:spPr>
          <a:xfrm>
            <a:off x="689019" y="1751527"/>
            <a:ext cx="7534525" cy="28848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t-BR"/>
          </a:p>
        </p:txBody>
      </p:sp>
      <p:sp>
        <p:nvSpPr>
          <p:cNvPr id="15" name="TextBox 14">
            <a:extLst>
              <a:ext uri="{FF2B5EF4-FFF2-40B4-BE49-F238E27FC236}">
                <a16:creationId xmlns:a16="http://schemas.microsoft.com/office/drawing/2014/main" id="{A5AA9C55-72C7-3637-A37F-2A1F19CD1DC0}"/>
              </a:ext>
            </a:extLst>
          </p:cNvPr>
          <p:cNvSpPr txBox="1"/>
          <p:nvPr/>
        </p:nvSpPr>
        <p:spPr>
          <a:xfrm>
            <a:off x="827229" y="1951168"/>
            <a:ext cx="5107923" cy="276999"/>
          </a:xfrm>
          <a:prstGeom prst="rect">
            <a:avLst/>
          </a:prstGeom>
          <a:noFill/>
        </p:spPr>
        <p:txBody>
          <a:bodyPr wrap="square">
            <a:spAutoFit/>
          </a:bodyPr>
          <a:lstStyle/>
          <a:p>
            <a:r>
              <a:rPr lang="pt-BR" sz="1200" dirty="0">
                <a:solidFill>
                  <a:srgbClr val="FF0000"/>
                </a:solidFill>
              </a:rPr>
              <a:t>SET TRANSACTION READ ONLY;</a:t>
            </a:r>
          </a:p>
        </p:txBody>
      </p:sp>
      <p:sp>
        <p:nvSpPr>
          <p:cNvPr id="16" name="TextBox 15">
            <a:extLst>
              <a:ext uri="{FF2B5EF4-FFF2-40B4-BE49-F238E27FC236}">
                <a16:creationId xmlns:a16="http://schemas.microsoft.com/office/drawing/2014/main" id="{2E0A7FF1-A42A-7AAC-BF4D-D73E0D151A2D}"/>
              </a:ext>
            </a:extLst>
          </p:cNvPr>
          <p:cNvSpPr txBox="1"/>
          <p:nvPr/>
        </p:nvSpPr>
        <p:spPr>
          <a:xfrm>
            <a:off x="816118" y="2388506"/>
            <a:ext cx="3528812" cy="253916"/>
          </a:xfrm>
          <a:prstGeom prst="rect">
            <a:avLst/>
          </a:prstGeom>
          <a:noFill/>
        </p:spPr>
        <p:txBody>
          <a:bodyPr wrap="square">
            <a:spAutoFit/>
          </a:bodyPr>
          <a:lstStyle/>
          <a:p>
            <a:r>
              <a:rPr lang="en-US" sz="1000" dirty="0"/>
              <a:t>select salary from employees where </a:t>
            </a:r>
            <a:r>
              <a:rPr lang="en-US" sz="1000" dirty="0" err="1"/>
              <a:t>employee_id</a:t>
            </a:r>
            <a:r>
              <a:rPr lang="en-US" sz="1000" dirty="0"/>
              <a:t>=116;</a:t>
            </a:r>
            <a:endParaRPr lang="pt-BR" sz="1000" dirty="0"/>
          </a:p>
        </p:txBody>
      </p:sp>
      <p:sp>
        <p:nvSpPr>
          <p:cNvPr id="17" name="TextBox 16">
            <a:extLst>
              <a:ext uri="{FF2B5EF4-FFF2-40B4-BE49-F238E27FC236}">
                <a16:creationId xmlns:a16="http://schemas.microsoft.com/office/drawing/2014/main" id="{74810D14-2F83-56A8-1FB5-3E51EBDF357E}"/>
              </a:ext>
            </a:extLst>
          </p:cNvPr>
          <p:cNvSpPr txBox="1"/>
          <p:nvPr/>
        </p:nvSpPr>
        <p:spPr>
          <a:xfrm>
            <a:off x="827229" y="2804363"/>
            <a:ext cx="3528812" cy="246221"/>
          </a:xfrm>
          <a:prstGeom prst="rect">
            <a:avLst/>
          </a:prstGeom>
          <a:noFill/>
        </p:spPr>
        <p:txBody>
          <a:bodyPr wrap="square">
            <a:spAutoFit/>
          </a:bodyPr>
          <a:lstStyle/>
          <a:p>
            <a:r>
              <a:rPr lang="en-US" sz="1000" dirty="0"/>
              <a:t>update employees set salary=5000 where </a:t>
            </a:r>
            <a:r>
              <a:rPr lang="en-US" sz="1000" dirty="0" err="1"/>
              <a:t>employee_id</a:t>
            </a:r>
            <a:r>
              <a:rPr lang="en-US" sz="1000" dirty="0"/>
              <a:t> = 116;</a:t>
            </a:r>
            <a:endParaRPr lang="pt-BR" sz="1000" dirty="0"/>
          </a:p>
        </p:txBody>
      </p:sp>
      <p:sp>
        <p:nvSpPr>
          <p:cNvPr id="19" name="TextBox 18">
            <a:extLst>
              <a:ext uri="{FF2B5EF4-FFF2-40B4-BE49-F238E27FC236}">
                <a16:creationId xmlns:a16="http://schemas.microsoft.com/office/drawing/2014/main" id="{912AEF4F-071E-2E8F-7A78-371AFC9D7925}"/>
              </a:ext>
            </a:extLst>
          </p:cNvPr>
          <p:cNvSpPr txBox="1"/>
          <p:nvPr/>
        </p:nvSpPr>
        <p:spPr>
          <a:xfrm>
            <a:off x="816118" y="2541305"/>
            <a:ext cx="389850" cy="215444"/>
          </a:xfrm>
          <a:prstGeom prst="rect">
            <a:avLst/>
          </a:prstGeom>
          <a:noFill/>
        </p:spPr>
        <p:txBody>
          <a:bodyPr wrap="none" rtlCol="0">
            <a:spAutoFit/>
          </a:bodyPr>
          <a:lstStyle/>
          <a:p>
            <a:r>
              <a:rPr lang="pt-BR" sz="800" i="1" dirty="0"/>
              <a:t>2900</a:t>
            </a:r>
          </a:p>
        </p:txBody>
      </p:sp>
      <p:sp>
        <p:nvSpPr>
          <p:cNvPr id="22" name="TextBox 21">
            <a:extLst>
              <a:ext uri="{FF2B5EF4-FFF2-40B4-BE49-F238E27FC236}">
                <a16:creationId xmlns:a16="http://schemas.microsoft.com/office/drawing/2014/main" id="{6DB398FD-B301-9D54-D53F-404FA82F93E1}"/>
              </a:ext>
            </a:extLst>
          </p:cNvPr>
          <p:cNvSpPr txBox="1"/>
          <p:nvPr/>
        </p:nvSpPr>
        <p:spPr>
          <a:xfrm>
            <a:off x="827229" y="3098198"/>
            <a:ext cx="7190424" cy="261610"/>
          </a:xfrm>
          <a:prstGeom prst="rect">
            <a:avLst/>
          </a:prstGeom>
          <a:noFill/>
        </p:spPr>
        <p:txBody>
          <a:bodyPr wrap="square">
            <a:spAutoFit/>
          </a:bodyPr>
          <a:lstStyle/>
          <a:p>
            <a:r>
              <a:rPr lang="pt-BR" sz="1050" i="1" dirty="0">
                <a:solidFill>
                  <a:srgbClr val="FF0000"/>
                </a:solidFill>
              </a:rPr>
              <a:t>ORA-01456: </a:t>
            </a:r>
            <a:r>
              <a:rPr lang="pt-BR" sz="1050" i="1" dirty="0" err="1">
                <a:solidFill>
                  <a:srgbClr val="FF0000"/>
                </a:solidFill>
              </a:rPr>
              <a:t>may</a:t>
            </a:r>
            <a:r>
              <a:rPr lang="pt-BR" sz="1050" i="1" dirty="0">
                <a:solidFill>
                  <a:srgbClr val="FF0000"/>
                </a:solidFill>
              </a:rPr>
              <a:t> </a:t>
            </a:r>
            <a:r>
              <a:rPr lang="pt-BR" sz="1050" i="1" dirty="0" err="1">
                <a:solidFill>
                  <a:srgbClr val="FF0000"/>
                </a:solidFill>
              </a:rPr>
              <a:t>not</a:t>
            </a:r>
            <a:r>
              <a:rPr lang="pt-BR" sz="1050" i="1" dirty="0">
                <a:solidFill>
                  <a:srgbClr val="FF0000"/>
                </a:solidFill>
              </a:rPr>
              <a:t> </a:t>
            </a:r>
            <a:r>
              <a:rPr lang="pt-BR" sz="1050" i="1" dirty="0" err="1">
                <a:solidFill>
                  <a:srgbClr val="FF0000"/>
                </a:solidFill>
              </a:rPr>
              <a:t>perform</a:t>
            </a:r>
            <a:r>
              <a:rPr lang="pt-BR" sz="1050" i="1" dirty="0">
                <a:solidFill>
                  <a:srgbClr val="FF0000"/>
                </a:solidFill>
              </a:rPr>
              <a:t> </a:t>
            </a:r>
            <a:r>
              <a:rPr lang="pt-BR" sz="1050" i="1" dirty="0" err="1">
                <a:solidFill>
                  <a:srgbClr val="FF0000"/>
                </a:solidFill>
              </a:rPr>
              <a:t>insert</a:t>
            </a:r>
            <a:r>
              <a:rPr lang="pt-BR" sz="1050" i="1" dirty="0">
                <a:solidFill>
                  <a:srgbClr val="FF0000"/>
                </a:solidFill>
              </a:rPr>
              <a:t>/delete/update </a:t>
            </a:r>
            <a:r>
              <a:rPr lang="pt-BR" sz="1050" i="1" dirty="0" err="1">
                <a:solidFill>
                  <a:srgbClr val="FF0000"/>
                </a:solidFill>
              </a:rPr>
              <a:t>operation</a:t>
            </a:r>
            <a:r>
              <a:rPr lang="pt-BR" sz="1050" i="1" dirty="0">
                <a:solidFill>
                  <a:srgbClr val="FF0000"/>
                </a:solidFill>
              </a:rPr>
              <a:t> </a:t>
            </a:r>
            <a:r>
              <a:rPr lang="pt-BR" sz="1050" i="1" dirty="0" err="1">
                <a:solidFill>
                  <a:srgbClr val="FF0000"/>
                </a:solidFill>
              </a:rPr>
              <a:t>inside</a:t>
            </a:r>
            <a:r>
              <a:rPr lang="pt-BR" sz="1050" i="1" dirty="0">
                <a:solidFill>
                  <a:srgbClr val="FF0000"/>
                </a:solidFill>
              </a:rPr>
              <a:t> a READ ONLY </a:t>
            </a:r>
            <a:r>
              <a:rPr lang="pt-BR" sz="1050" i="1" dirty="0" err="1">
                <a:solidFill>
                  <a:srgbClr val="FF0000"/>
                </a:solidFill>
              </a:rPr>
              <a:t>transaction</a:t>
            </a:r>
            <a:endParaRPr lang="pt-BR" sz="1050" i="1" dirty="0">
              <a:solidFill>
                <a:srgbClr val="FF0000"/>
              </a:solidFill>
            </a:endParaRPr>
          </a:p>
        </p:txBody>
      </p:sp>
    </p:spTree>
    <p:extLst>
      <p:ext uri="{BB962C8B-B14F-4D97-AF65-F5344CB8AC3E}">
        <p14:creationId xmlns:p14="http://schemas.microsoft.com/office/powerpoint/2010/main" val="1672918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1D6D-37CE-29A2-D0D5-40AE84A88840}"/>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EC7A4F61-AA02-FBB0-135A-DB0CA9969E54}"/>
              </a:ext>
            </a:extLst>
          </p:cNvPr>
          <p:cNvSpPr txBox="1">
            <a:spLocks/>
          </p:cNvSpPr>
          <p:nvPr/>
        </p:nvSpPr>
        <p:spPr>
          <a:xfrm>
            <a:off x="1842348" y="95746"/>
            <a:ext cx="5459303" cy="79011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mj-lt"/>
                <a:ea typeface="+mj-ea"/>
                <a:cs typeface="+mj-cs"/>
              </a:defRPr>
            </a:lvl1pPr>
          </a:lstStyle>
          <a:p>
            <a:r>
              <a:rPr lang="pt-BR" altLang="pt-BR" dirty="0">
                <a:solidFill>
                  <a:srgbClr val="ED145B"/>
                </a:solidFill>
              </a:rPr>
              <a:t>Deadlock</a:t>
            </a:r>
          </a:p>
        </p:txBody>
      </p:sp>
      <p:sp>
        <p:nvSpPr>
          <p:cNvPr id="2" name="Rectangle 1">
            <a:extLst>
              <a:ext uri="{FF2B5EF4-FFF2-40B4-BE49-F238E27FC236}">
                <a16:creationId xmlns:a16="http://schemas.microsoft.com/office/drawing/2014/main" id="{ED0C5BC4-2BE7-24A7-A2D6-44E9770F5036}"/>
              </a:ext>
            </a:extLst>
          </p:cNvPr>
          <p:cNvSpPr/>
          <p:nvPr/>
        </p:nvSpPr>
        <p:spPr>
          <a:xfrm>
            <a:off x="689019" y="2659520"/>
            <a:ext cx="3683357" cy="197040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t-BR" dirty="0"/>
          </a:p>
        </p:txBody>
      </p:sp>
      <p:sp>
        <p:nvSpPr>
          <p:cNvPr id="3" name="Rectangle 2">
            <a:extLst>
              <a:ext uri="{FF2B5EF4-FFF2-40B4-BE49-F238E27FC236}">
                <a16:creationId xmlns:a16="http://schemas.microsoft.com/office/drawing/2014/main" id="{DE140787-C40F-8C1F-E08D-AA05286B6A1B}"/>
              </a:ext>
            </a:extLst>
          </p:cNvPr>
          <p:cNvSpPr/>
          <p:nvPr/>
        </p:nvSpPr>
        <p:spPr>
          <a:xfrm>
            <a:off x="4859628" y="2670253"/>
            <a:ext cx="3866699" cy="197040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t-BR"/>
          </a:p>
        </p:txBody>
      </p:sp>
      <p:sp>
        <p:nvSpPr>
          <p:cNvPr id="7" name="TextBox 6">
            <a:extLst>
              <a:ext uri="{FF2B5EF4-FFF2-40B4-BE49-F238E27FC236}">
                <a16:creationId xmlns:a16="http://schemas.microsoft.com/office/drawing/2014/main" id="{51BA2870-D047-2137-AF54-14D8491B356F}"/>
              </a:ext>
            </a:extLst>
          </p:cNvPr>
          <p:cNvSpPr txBox="1"/>
          <p:nvPr/>
        </p:nvSpPr>
        <p:spPr>
          <a:xfrm>
            <a:off x="579549" y="916549"/>
            <a:ext cx="7978462" cy="1477328"/>
          </a:xfrm>
          <a:prstGeom prst="rect">
            <a:avLst/>
          </a:prstGeom>
          <a:noFill/>
        </p:spPr>
        <p:txBody>
          <a:bodyPr wrap="square" rtlCol="0">
            <a:spAutoFit/>
          </a:bodyPr>
          <a:lstStyle/>
          <a:p>
            <a:r>
              <a:rPr lang="pt-BR" dirty="0"/>
              <a:t>Os </a:t>
            </a:r>
            <a:r>
              <a:rPr lang="pt-BR" dirty="0" err="1"/>
              <a:t>SGBDs</a:t>
            </a:r>
            <a:r>
              <a:rPr lang="pt-BR" dirty="0"/>
              <a:t> relacionais mantém protocolos de detecção de deadlocks, que em suma, representam duas transações que se bloqueiam entre si. </a:t>
            </a:r>
          </a:p>
          <a:p>
            <a:endParaRPr lang="pt-BR" dirty="0"/>
          </a:p>
          <a:p>
            <a:r>
              <a:rPr lang="pt-BR" dirty="0"/>
              <a:t>Um dos modelos mais implementados é que ao detectar um deadlock, o SGBD escolhe uma das transações para “desistir” do comando que gerou o deadlock.</a:t>
            </a:r>
          </a:p>
        </p:txBody>
      </p:sp>
      <p:sp>
        <p:nvSpPr>
          <p:cNvPr id="43" name="TextBox 42">
            <a:extLst>
              <a:ext uri="{FF2B5EF4-FFF2-40B4-BE49-F238E27FC236}">
                <a16:creationId xmlns:a16="http://schemas.microsoft.com/office/drawing/2014/main" id="{BE5F6E1A-B3F4-DA45-90EF-B0129F70EAAE}"/>
              </a:ext>
            </a:extLst>
          </p:cNvPr>
          <p:cNvSpPr txBox="1"/>
          <p:nvPr/>
        </p:nvSpPr>
        <p:spPr>
          <a:xfrm>
            <a:off x="689019" y="2821391"/>
            <a:ext cx="3528812" cy="246221"/>
          </a:xfrm>
          <a:prstGeom prst="rect">
            <a:avLst/>
          </a:prstGeom>
          <a:noFill/>
        </p:spPr>
        <p:txBody>
          <a:bodyPr wrap="square">
            <a:spAutoFit/>
          </a:bodyPr>
          <a:lstStyle/>
          <a:p>
            <a:r>
              <a:rPr lang="en-US" sz="1000" dirty="0"/>
              <a:t>update employees set salary=5000 where </a:t>
            </a:r>
            <a:r>
              <a:rPr lang="en-US" sz="1000" dirty="0" err="1"/>
              <a:t>employee_id</a:t>
            </a:r>
            <a:r>
              <a:rPr lang="en-US" sz="1000" dirty="0"/>
              <a:t> = 116;</a:t>
            </a:r>
            <a:endParaRPr lang="pt-BR" sz="1000" dirty="0"/>
          </a:p>
        </p:txBody>
      </p:sp>
      <p:sp>
        <p:nvSpPr>
          <p:cNvPr id="44" name="TextBox 43">
            <a:extLst>
              <a:ext uri="{FF2B5EF4-FFF2-40B4-BE49-F238E27FC236}">
                <a16:creationId xmlns:a16="http://schemas.microsoft.com/office/drawing/2014/main" id="{3ECDA5F8-839A-D99F-3AD7-0DCBBB3690FF}"/>
              </a:ext>
            </a:extLst>
          </p:cNvPr>
          <p:cNvSpPr txBox="1"/>
          <p:nvPr/>
        </p:nvSpPr>
        <p:spPr>
          <a:xfrm>
            <a:off x="5028571" y="2859057"/>
            <a:ext cx="3528812" cy="246221"/>
          </a:xfrm>
          <a:prstGeom prst="rect">
            <a:avLst/>
          </a:prstGeom>
          <a:noFill/>
        </p:spPr>
        <p:txBody>
          <a:bodyPr wrap="square">
            <a:spAutoFit/>
          </a:bodyPr>
          <a:lstStyle/>
          <a:p>
            <a:r>
              <a:rPr lang="en-US" sz="1000" dirty="0"/>
              <a:t>update employees set salary=10000 where </a:t>
            </a:r>
            <a:r>
              <a:rPr lang="en-US" sz="1000" dirty="0" err="1"/>
              <a:t>employee_id</a:t>
            </a:r>
            <a:r>
              <a:rPr lang="en-US" sz="1000" dirty="0"/>
              <a:t> = 200;</a:t>
            </a:r>
            <a:endParaRPr lang="pt-BR" sz="1000" dirty="0"/>
          </a:p>
        </p:txBody>
      </p:sp>
      <p:sp>
        <p:nvSpPr>
          <p:cNvPr id="45" name="TextBox 44">
            <a:extLst>
              <a:ext uri="{FF2B5EF4-FFF2-40B4-BE49-F238E27FC236}">
                <a16:creationId xmlns:a16="http://schemas.microsoft.com/office/drawing/2014/main" id="{D3467EBD-A16E-AAD1-0ACF-8044ECCCDAAE}"/>
              </a:ext>
            </a:extLst>
          </p:cNvPr>
          <p:cNvSpPr txBox="1"/>
          <p:nvPr/>
        </p:nvSpPr>
        <p:spPr>
          <a:xfrm>
            <a:off x="689019" y="3293029"/>
            <a:ext cx="3528812" cy="246221"/>
          </a:xfrm>
          <a:prstGeom prst="rect">
            <a:avLst/>
          </a:prstGeom>
          <a:noFill/>
        </p:spPr>
        <p:txBody>
          <a:bodyPr wrap="square">
            <a:spAutoFit/>
          </a:bodyPr>
          <a:lstStyle/>
          <a:p>
            <a:r>
              <a:rPr lang="en-US" sz="1000" dirty="0"/>
              <a:t>update employees set salary=2000 where </a:t>
            </a:r>
            <a:r>
              <a:rPr lang="en-US" sz="1000" dirty="0" err="1"/>
              <a:t>employee_id</a:t>
            </a:r>
            <a:r>
              <a:rPr lang="en-US" sz="1000" dirty="0"/>
              <a:t> = 200;</a:t>
            </a:r>
            <a:endParaRPr lang="pt-BR" sz="1000" dirty="0"/>
          </a:p>
        </p:txBody>
      </p:sp>
      <p:sp>
        <p:nvSpPr>
          <p:cNvPr id="46" name="TextBox 45">
            <a:extLst>
              <a:ext uri="{FF2B5EF4-FFF2-40B4-BE49-F238E27FC236}">
                <a16:creationId xmlns:a16="http://schemas.microsoft.com/office/drawing/2014/main" id="{3770599D-AF96-BE90-D0E2-3C1D318F528B}"/>
              </a:ext>
            </a:extLst>
          </p:cNvPr>
          <p:cNvSpPr txBox="1"/>
          <p:nvPr/>
        </p:nvSpPr>
        <p:spPr>
          <a:xfrm>
            <a:off x="5029199" y="3290875"/>
            <a:ext cx="3528812" cy="246221"/>
          </a:xfrm>
          <a:prstGeom prst="rect">
            <a:avLst/>
          </a:prstGeom>
          <a:noFill/>
        </p:spPr>
        <p:txBody>
          <a:bodyPr wrap="square">
            <a:spAutoFit/>
          </a:bodyPr>
          <a:lstStyle/>
          <a:p>
            <a:r>
              <a:rPr lang="en-US" sz="1000" dirty="0"/>
              <a:t>update employees set salary=5000 where </a:t>
            </a:r>
            <a:r>
              <a:rPr lang="en-US" sz="1000" dirty="0" err="1"/>
              <a:t>employee_id</a:t>
            </a:r>
            <a:r>
              <a:rPr lang="en-US" sz="1000" dirty="0"/>
              <a:t> = 116;</a:t>
            </a:r>
            <a:endParaRPr lang="pt-BR" sz="1000" dirty="0"/>
          </a:p>
        </p:txBody>
      </p:sp>
      <p:sp>
        <p:nvSpPr>
          <p:cNvPr id="47" name="TextBox 46">
            <a:extLst>
              <a:ext uri="{FF2B5EF4-FFF2-40B4-BE49-F238E27FC236}">
                <a16:creationId xmlns:a16="http://schemas.microsoft.com/office/drawing/2014/main" id="{CA67E4A4-6570-2BEF-6F62-0FFCFD187D24}"/>
              </a:ext>
            </a:extLst>
          </p:cNvPr>
          <p:cNvSpPr txBox="1"/>
          <p:nvPr/>
        </p:nvSpPr>
        <p:spPr>
          <a:xfrm>
            <a:off x="4015293" y="4192065"/>
            <a:ext cx="1201419" cy="369332"/>
          </a:xfrm>
          <a:prstGeom prst="rect">
            <a:avLst/>
          </a:prstGeom>
          <a:noFill/>
        </p:spPr>
        <p:txBody>
          <a:bodyPr wrap="none" rtlCol="0">
            <a:spAutoFit/>
          </a:bodyPr>
          <a:lstStyle/>
          <a:p>
            <a:r>
              <a:rPr lang="pt-BR" dirty="0"/>
              <a:t>DEADLOCK</a:t>
            </a:r>
          </a:p>
        </p:txBody>
      </p:sp>
      <p:sp>
        <p:nvSpPr>
          <p:cNvPr id="48" name="TextBox 47">
            <a:extLst>
              <a:ext uri="{FF2B5EF4-FFF2-40B4-BE49-F238E27FC236}">
                <a16:creationId xmlns:a16="http://schemas.microsoft.com/office/drawing/2014/main" id="{C990528C-B227-0814-218F-B59BE87EE62F}"/>
              </a:ext>
            </a:extLst>
          </p:cNvPr>
          <p:cNvSpPr txBox="1"/>
          <p:nvPr/>
        </p:nvSpPr>
        <p:spPr>
          <a:xfrm>
            <a:off x="737464" y="3813472"/>
            <a:ext cx="956737" cy="276999"/>
          </a:xfrm>
          <a:prstGeom prst="rect">
            <a:avLst/>
          </a:prstGeom>
          <a:noFill/>
        </p:spPr>
        <p:txBody>
          <a:bodyPr wrap="none" rtlCol="0">
            <a:spAutoFit/>
          </a:bodyPr>
          <a:lstStyle/>
          <a:p>
            <a:r>
              <a:rPr lang="pt-BR" sz="1200" dirty="0"/>
              <a:t>WAIT por T2</a:t>
            </a:r>
          </a:p>
        </p:txBody>
      </p:sp>
      <p:sp>
        <p:nvSpPr>
          <p:cNvPr id="49" name="TextBox 48">
            <a:extLst>
              <a:ext uri="{FF2B5EF4-FFF2-40B4-BE49-F238E27FC236}">
                <a16:creationId xmlns:a16="http://schemas.microsoft.com/office/drawing/2014/main" id="{FDF0ED09-F1E7-F3A1-2A07-1A555613C5D4}"/>
              </a:ext>
            </a:extLst>
          </p:cNvPr>
          <p:cNvSpPr txBox="1"/>
          <p:nvPr/>
        </p:nvSpPr>
        <p:spPr>
          <a:xfrm>
            <a:off x="4926169" y="3787922"/>
            <a:ext cx="956737" cy="276999"/>
          </a:xfrm>
          <a:prstGeom prst="rect">
            <a:avLst/>
          </a:prstGeom>
          <a:noFill/>
        </p:spPr>
        <p:txBody>
          <a:bodyPr wrap="none" rtlCol="0">
            <a:spAutoFit/>
          </a:bodyPr>
          <a:lstStyle/>
          <a:p>
            <a:r>
              <a:rPr lang="pt-BR" sz="1200" dirty="0"/>
              <a:t>WAIT por T1</a:t>
            </a:r>
          </a:p>
        </p:txBody>
      </p:sp>
      <p:sp>
        <p:nvSpPr>
          <p:cNvPr id="50" name="Rectangle 49">
            <a:extLst>
              <a:ext uri="{FF2B5EF4-FFF2-40B4-BE49-F238E27FC236}">
                <a16:creationId xmlns:a16="http://schemas.microsoft.com/office/drawing/2014/main" id="{60D0A501-493B-3620-8569-47E4867A9E2E}"/>
              </a:ext>
            </a:extLst>
          </p:cNvPr>
          <p:cNvSpPr/>
          <p:nvPr/>
        </p:nvSpPr>
        <p:spPr>
          <a:xfrm>
            <a:off x="525045" y="3813472"/>
            <a:ext cx="8370671" cy="276999"/>
          </a:xfrm>
          <a:prstGeom prst="rect">
            <a:avLst/>
          </a:prstGeom>
          <a:noFill/>
          <a:ln>
            <a:prstDash val="sys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a:p>
        </p:txBody>
      </p:sp>
      <p:sp>
        <p:nvSpPr>
          <p:cNvPr id="51" name="TextBox 50">
            <a:extLst>
              <a:ext uri="{FF2B5EF4-FFF2-40B4-BE49-F238E27FC236}">
                <a16:creationId xmlns:a16="http://schemas.microsoft.com/office/drawing/2014/main" id="{DB26BAD6-400C-1DFA-B102-DCFB1FAA1F48}"/>
              </a:ext>
            </a:extLst>
          </p:cNvPr>
          <p:cNvSpPr txBox="1"/>
          <p:nvPr/>
        </p:nvSpPr>
        <p:spPr>
          <a:xfrm>
            <a:off x="585989" y="2339351"/>
            <a:ext cx="413896" cy="369332"/>
          </a:xfrm>
          <a:prstGeom prst="rect">
            <a:avLst/>
          </a:prstGeom>
          <a:noFill/>
        </p:spPr>
        <p:txBody>
          <a:bodyPr wrap="none" rtlCol="0">
            <a:spAutoFit/>
          </a:bodyPr>
          <a:lstStyle/>
          <a:p>
            <a:r>
              <a:rPr lang="pt-BR" dirty="0"/>
              <a:t>T1</a:t>
            </a:r>
          </a:p>
        </p:txBody>
      </p:sp>
      <p:sp>
        <p:nvSpPr>
          <p:cNvPr id="52" name="TextBox 51">
            <a:extLst>
              <a:ext uri="{FF2B5EF4-FFF2-40B4-BE49-F238E27FC236}">
                <a16:creationId xmlns:a16="http://schemas.microsoft.com/office/drawing/2014/main" id="{1A37D661-B51C-6591-68B8-B0C2372F4C18}"/>
              </a:ext>
            </a:extLst>
          </p:cNvPr>
          <p:cNvSpPr txBox="1"/>
          <p:nvPr/>
        </p:nvSpPr>
        <p:spPr>
          <a:xfrm>
            <a:off x="4802816" y="2350976"/>
            <a:ext cx="413896" cy="369332"/>
          </a:xfrm>
          <a:prstGeom prst="rect">
            <a:avLst/>
          </a:prstGeom>
          <a:noFill/>
        </p:spPr>
        <p:txBody>
          <a:bodyPr wrap="none" rtlCol="0">
            <a:spAutoFit/>
          </a:bodyPr>
          <a:lstStyle/>
          <a:p>
            <a:r>
              <a:rPr lang="pt-BR" dirty="0"/>
              <a:t>T2</a:t>
            </a:r>
          </a:p>
        </p:txBody>
      </p:sp>
    </p:spTree>
    <p:extLst>
      <p:ext uri="{BB962C8B-B14F-4D97-AF65-F5344CB8AC3E}">
        <p14:creationId xmlns:p14="http://schemas.microsoft.com/office/powerpoint/2010/main" val="987236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3850026" y="3292629"/>
            <a:ext cx="1567248" cy="246215"/>
            <a:chOff x="7919542" y="328894"/>
            <a:chExt cx="957000" cy="150345"/>
          </a:xfrm>
        </p:grpSpPr>
        <p:pic>
          <p:nvPicPr>
            <p:cNvPr id="20"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9542" y="345210"/>
              <a:ext cx="498247" cy="134029"/>
            </a:xfrm>
            <a:prstGeom prst="rect">
              <a:avLst/>
            </a:prstGeom>
          </p:spPr>
        </p:pic>
        <p:pic>
          <p:nvPicPr>
            <p:cNvPr id="25" name="Picture 24" descr="mba.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8622" y="328894"/>
              <a:ext cx="357920" cy="145315"/>
            </a:xfrm>
            <a:prstGeom prst="rect">
              <a:avLst/>
            </a:prstGeom>
          </p:spPr>
        </p:pic>
      </p:grpSp>
      <p:sp>
        <p:nvSpPr>
          <p:cNvPr id="26" name="TextBox 25"/>
          <p:cNvSpPr txBox="1">
            <a:spLocks noChangeArrowheads="1"/>
          </p:cNvSpPr>
          <p:nvPr/>
        </p:nvSpPr>
        <p:spPr bwMode="auto">
          <a:xfrm>
            <a:off x="2228646" y="3996024"/>
            <a:ext cx="4686710" cy="4460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lnSpc>
                <a:spcPct val="110000"/>
              </a:lnSpc>
            </a:pPr>
            <a:r>
              <a:rPr lang="en-US" sz="700" dirty="0">
                <a:solidFill>
                  <a:srgbClr val="A2B6C1"/>
                </a:solidFill>
                <a:latin typeface="Roboto Light"/>
                <a:cs typeface="Roboto Light"/>
              </a:rPr>
              <a:t>Copyright </a:t>
            </a:r>
            <a:r>
              <a:rPr lang="de-DE" sz="700" dirty="0">
                <a:solidFill>
                  <a:srgbClr val="A2B6C1"/>
                </a:solidFill>
                <a:latin typeface="Roboto Light"/>
                <a:cs typeface="Roboto Light"/>
              </a:rPr>
              <a:t>© </a:t>
            </a:r>
            <a:r>
              <a:rPr lang="en-US" sz="700" dirty="0">
                <a:solidFill>
                  <a:srgbClr val="A2B6C1"/>
                </a:solidFill>
                <a:latin typeface="Roboto Light"/>
                <a:cs typeface="Roboto Light"/>
              </a:rPr>
              <a:t>2025 | Professor Luciano Melo / Professor </a:t>
            </a:r>
            <a:r>
              <a:rPr lang="en-US" sz="700" dirty="0" err="1">
                <a:solidFill>
                  <a:srgbClr val="A2B6C1"/>
                </a:solidFill>
                <a:latin typeface="Roboto Light"/>
                <a:cs typeface="Roboto Light"/>
              </a:rPr>
              <a:t>Aleandre</a:t>
            </a:r>
            <a:r>
              <a:rPr lang="en-US" sz="700" dirty="0">
                <a:solidFill>
                  <a:srgbClr val="A2B6C1"/>
                </a:solidFill>
                <a:latin typeface="Roboto Light"/>
                <a:cs typeface="Roboto Light"/>
              </a:rPr>
              <a:t> Barcelos</a:t>
            </a:r>
          </a:p>
          <a:p>
            <a:pPr algn="ctr" eaLnBrk="1" hangingPunct="1">
              <a:lnSpc>
                <a:spcPct val="110000"/>
              </a:lnSpc>
            </a:pPr>
            <a:r>
              <a:rPr lang="en-US" sz="700" dirty="0" err="1">
                <a:solidFill>
                  <a:srgbClr val="A2B6C1"/>
                </a:solidFill>
                <a:latin typeface="Roboto Light"/>
                <a:cs typeface="Roboto Light"/>
              </a:rPr>
              <a:t>Todos</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os</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direitos</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reservados</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Reprodução</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ou</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divulgação</a:t>
            </a:r>
            <a:r>
              <a:rPr lang="en-US" sz="700" dirty="0">
                <a:solidFill>
                  <a:srgbClr val="A2B6C1"/>
                </a:solidFill>
                <a:latin typeface="Roboto Light"/>
                <a:cs typeface="Roboto Light"/>
              </a:rPr>
              <a:t> total </a:t>
            </a:r>
            <a:r>
              <a:rPr lang="en-US" sz="700" dirty="0" err="1">
                <a:solidFill>
                  <a:srgbClr val="A2B6C1"/>
                </a:solidFill>
                <a:latin typeface="Roboto Light"/>
                <a:cs typeface="Roboto Light"/>
              </a:rPr>
              <a:t>ou</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parcial</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deste</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documento</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é</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expressamente</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proibido</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sem</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consentimento</a:t>
            </a:r>
            <a:r>
              <a:rPr lang="en-US" sz="700" dirty="0">
                <a:solidFill>
                  <a:srgbClr val="A2B6C1"/>
                </a:solidFill>
                <a:latin typeface="Roboto Light"/>
                <a:cs typeface="Roboto Light"/>
              </a:rPr>
              <a:t> formal, </a:t>
            </a:r>
            <a:r>
              <a:rPr lang="en-US" sz="700" dirty="0" err="1">
                <a:solidFill>
                  <a:srgbClr val="A2B6C1"/>
                </a:solidFill>
                <a:latin typeface="Roboto Light"/>
                <a:cs typeface="Roboto Light"/>
              </a:rPr>
              <a:t>por</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escrito</a:t>
            </a:r>
            <a:r>
              <a:rPr lang="en-US" sz="700" dirty="0">
                <a:solidFill>
                  <a:srgbClr val="A2B6C1"/>
                </a:solidFill>
                <a:latin typeface="Roboto Light"/>
                <a:cs typeface="Roboto Light"/>
              </a:rPr>
              <a:t>, do professor/</a:t>
            </a:r>
            <a:r>
              <a:rPr lang="en-US" sz="700" dirty="0" err="1">
                <a:solidFill>
                  <a:srgbClr val="A2B6C1"/>
                </a:solidFill>
                <a:latin typeface="Roboto Light"/>
                <a:cs typeface="Roboto Light"/>
              </a:rPr>
              <a:t>autor</a:t>
            </a:r>
            <a:r>
              <a:rPr lang="en-US" sz="700" dirty="0">
                <a:solidFill>
                  <a:srgbClr val="A2B6C1"/>
                </a:solidFill>
                <a:latin typeface="Roboto Light"/>
                <a:cs typeface="Roboto Light"/>
              </a:rPr>
              <a:t>.</a:t>
            </a:r>
          </a:p>
        </p:txBody>
      </p:sp>
      <p:sp>
        <p:nvSpPr>
          <p:cNvPr id="27" name="CaixaDeTexto 7"/>
          <p:cNvSpPr txBox="1">
            <a:spLocks noChangeArrowheads="1"/>
          </p:cNvSpPr>
          <p:nvPr/>
        </p:nvSpPr>
        <p:spPr bwMode="auto">
          <a:xfrm>
            <a:off x="4114812" y="2178037"/>
            <a:ext cx="3663684" cy="430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Arial" charset="0"/>
                <a:ea typeface="ＭＳ Ｐゴシック" charset="0"/>
                <a:cs typeface="Arial" charset="0"/>
              </a:defRPr>
            </a:lvl1pPr>
            <a:lvl2pPr>
              <a:defRPr sz="2800">
                <a:solidFill>
                  <a:schemeClr val="tx1"/>
                </a:solidFill>
                <a:latin typeface="Arial" charset="0"/>
                <a:ea typeface="Arial" charset="0"/>
                <a:cs typeface="Arial" charset="0"/>
              </a:defRPr>
            </a:lvl2pPr>
            <a:lvl3pPr>
              <a:defRPr sz="2400">
                <a:solidFill>
                  <a:schemeClr val="tx1"/>
                </a:solidFill>
                <a:latin typeface="Arial" charset="0"/>
                <a:ea typeface="Arial" charset="0"/>
                <a:cs typeface="Arial" charset="0"/>
              </a:defRPr>
            </a:lvl3pPr>
            <a:lvl4pPr>
              <a:defRPr sz="2000">
                <a:solidFill>
                  <a:schemeClr val="tx1"/>
                </a:solidFill>
                <a:latin typeface="Arial" charset="0"/>
                <a:ea typeface="Arial" charset="0"/>
                <a:cs typeface="Arial" charset="0"/>
              </a:defRPr>
            </a:lvl4pPr>
            <a:lvl5pPr>
              <a:defRPr sz="2000">
                <a:solidFill>
                  <a:schemeClr val="tx1"/>
                </a:solidFill>
                <a:latin typeface="Arial" charset="0"/>
                <a:ea typeface="Arial" charset="0"/>
                <a:cs typeface="Arial" charset="0"/>
              </a:defRPr>
            </a:lvl5pPr>
            <a:lvl6pPr eaLnBrk="0" fontAlgn="base" hangingPunct="0">
              <a:spcAft>
                <a:spcPct val="0"/>
              </a:spcAft>
              <a:buFont typeface="Arial" charset="0"/>
              <a:buChar char="»"/>
              <a:defRPr sz="2000">
                <a:solidFill>
                  <a:schemeClr val="tx1"/>
                </a:solidFill>
                <a:latin typeface="Arial" charset="0"/>
                <a:ea typeface="Arial" charset="0"/>
                <a:cs typeface="Arial" charset="0"/>
              </a:defRPr>
            </a:lvl6pPr>
            <a:lvl7pPr eaLnBrk="0" fontAlgn="base" hangingPunct="0">
              <a:spcAft>
                <a:spcPct val="0"/>
              </a:spcAft>
              <a:buFont typeface="Arial" charset="0"/>
              <a:buChar char="»"/>
              <a:defRPr sz="2000">
                <a:solidFill>
                  <a:schemeClr val="tx1"/>
                </a:solidFill>
                <a:latin typeface="Arial" charset="0"/>
                <a:ea typeface="Arial" charset="0"/>
                <a:cs typeface="Arial" charset="0"/>
              </a:defRPr>
            </a:lvl7pPr>
            <a:lvl8pPr eaLnBrk="0" fontAlgn="base" hangingPunct="0">
              <a:spcAft>
                <a:spcPct val="0"/>
              </a:spcAft>
              <a:buFont typeface="Arial" charset="0"/>
              <a:buChar char="»"/>
              <a:defRPr sz="2000">
                <a:solidFill>
                  <a:schemeClr val="tx1"/>
                </a:solidFill>
                <a:latin typeface="Arial" charset="0"/>
                <a:ea typeface="Arial" charset="0"/>
                <a:cs typeface="Arial" charset="0"/>
              </a:defRPr>
            </a:lvl8pPr>
            <a:lvl9pPr eaLnBrk="0" fontAlgn="base" hangingPunct="0">
              <a:spcAft>
                <a:spcPct val="0"/>
              </a:spcAft>
              <a:buFont typeface="Arial" charset="0"/>
              <a:buChar char="»"/>
              <a:defRPr sz="2000">
                <a:solidFill>
                  <a:schemeClr val="tx1"/>
                </a:solidFill>
                <a:latin typeface="Arial" charset="0"/>
                <a:ea typeface="Arial" charset="0"/>
                <a:cs typeface="Arial" charset="0"/>
              </a:defRPr>
            </a:lvl9pPr>
          </a:lstStyle>
          <a:p>
            <a:pPr eaLnBrk="1" hangingPunct="1"/>
            <a:r>
              <a:rPr lang="pt-BR" sz="1100" dirty="0">
                <a:solidFill>
                  <a:srgbClr val="626E73"/>
                </a:solidFill>
                <a:latin typeface="Gotham HTF Book" charset="0"/>
                <a:cs typeface="Gotham HTF Book" charset="0"/>
              </a:rPr>
              <a:t>https://www.linkedin.com/in/lucianoimelo</a:t>
            </a:r>
          </a:p>
          <a:p>
            <a:pPr eaLnBrk="1" hangingPunct="1"/>
            <a:endParaRPr lang="pt-BR" sz="1100" dirty="0">
              <a:solidFill>
                <a:srgbClr val="626E73"/>
              </a:solidFill>
              <a:latin typeface="Gotham HTF Book" charset="0"/>
              <a:cs typeface="Gotham HTF Book" charset="0"/>
            </a:endParaRPr>
          </a:p>
        </p:txBody>
      </p:sp>
      <p:pic>
        <p:nvPicPr>
          <p:cNvPr id="29" name="Imagem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6500" y="2117712"/>
            <a:ext cx="33655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3" name="TextBox 32"/>
          <p:cNvSpPr txBox="1"/>
          <p:nvPr/>
        </p:nvSpPr>
        <p:spPr>
          <a:xfrm>
            <a:off x="1" y="760789"/>
            <a:ext cx="9144000" cy="630942"/>
          </a:xfrm>
          <a:prstGeom prst="rect">
            <a:avLst/>
          </a:prstGeom>
          <a:noFill/>
        </p:spPr>
        <p:txBody>
          <a:bodyPr wrap="square" rtlCol="0">
            <a:spAutoFit/>
          </a:bodyPr>
          <a:lstStyle/>
          <a:p>
            <a:pPr algn="ctr"/>
            <a:r>
              <a:rPr lang="en-US" sz="3500" dirty="0">
                <a:solidFill>
                  <a:srgbClr val="626E73"/>
                </a:solidFill>
                <a:latin typeface="Gotham HTF Light"/>
                <a:cs typeface="Gotham HTF Light"/>
              </a:rPr>
              <a:t>OBRIGADO</a:t>
            </a:r>
          </a:p>
        </p:txBody>
      </p:sp>
    </p:spTree>
    <p:extLst>
      <p:ext uri="{BB962C8B-B14F-4D97-AF65-F5344CB8AC3E}">
        <p14:creationId xmlns:p14="http://schemas.microsoft.com/office/powerpoint/2010/main" val="63939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D4A85-04FD-2444-7DCC-97E859919BE8}"/>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F58EB115-F431-0713-802D-693F5D843DF1}"/>
              </a:ext>
            </a:extLst>
          </p:cNvPr>
          <p:cNvGrpSpPr/>
          <p:nvPr/>
        </p:nvGrpSpPr>
        <p:grpSpPr>
          <a:xfrm>
            <a:off x="3723982" y="3450144"/>
            <a:ext cx="1567248" cy="246215"/>
            <a:chOff x="7919542" y="328894"/>
            <a:chExt cx="957000" cy="150345"/>
          </a:xfrm>
        </p:grpSpPr>
        <p:pic>
          <p:nvPicPr>
            <p:cNvPr id="20" name="Imagem 1">
              <a:extLst>
                <a:ext uri="{FF2B5EF4-FFF2-40B4-BE49-F238E27FC236}">
                  <a16:creationId xmlns:a16="http://schemas.microsoft.com/office/drawing/2014/main" id="{E07C74BB-D154-BFA2-B8D4-45D629DDA1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9542" y="345210"/>
              <a:ext cx="498247" cy="134029"/>
            </a:xfrm>
            <a:prstGeom prst="rect">
              <a:avLst/>
            </a:prstGeom>
          </p:spPr>
        </p:pic>
        <p:pic>
          <p:nvPicPr>
            <p:cNvPr id="25" name="Picture 24" descr="mba.png">
              <a:extLst>
                <a:ext uri="{FF2B5EF4-FFF2-40B4-BE49-F238E27FC236}">
                  <a16:creationId xmlns:a16="http://schemas.microsoft.com/office/drawing/2014/main" id="{9AA9CE9F-2A96-1F37-0CEC-C0FBD8B188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8622" y="328894"/>
              <a:ext cx="357920" cy="145315"/>
            </a:xfrm>
            <a:prstGeom prst="rect">
              <a:avLst/>
            </a:prstGeom>
          </p:spPr>
        </p:pic>
      </p:grpSp>
      <p:sp>
        <p:nvSpPr>
          <p:cNvPr id="26" name="TextBox 25">
            <a:extLst>
              <a:ext uri="{FF2B5EF4-FFF2-40B4-BE49-F238E27FC236}">
                <a16:creationId xmlns:a16="http://schemas.microsoft.com/office/drawing/2014/main" id="{85DAC4A7-96BD-4D9F-F34A-20E2D798AB4F}"/>
              </a:ext>
            </a:extLst>
          </p:cNvPr>
          <p:cNvSpPr txBox="1">
            <a:spLocks noChangeArrowheads="1"/>
          </p:cNvSpPr>
          <p:nvPr/>
        </p:nvSpPr>
        <p:spPr bwMode="auto">
          <a:xfrm>
            <a:off x="2228646" y="3996024"/>
            <a:ext cx="4686710" cy="4460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lnSpc>
                <a:spcPct val="110000"/>
              </a:lnSpc>
            </a:pPr>
            <a:r>
              <a:rPr lang="en-US" sz="700" dirty="0">
                <a:solidFill>
                  <a:srgbClr val="A2B6C1"/>
                </a:solidFill>
                <a:latin typeface="Roboto Light"/>
                <a:cs typeface="Roboto Light"/>
              </a:rPr>
              <a:t>Copyright </a:t>
            </a:r>
            <a:r>
              <a:rPr lang="de-DE" sz="700" dirty="0">
                <a:solidFill>
                  <a:srgbClr val="A2B6C1"/>
                </a:solidFill>
                <a:latin typeface="Roboto Light"/>
                <a:cs typeface="Roboto Light"/>
              </a:rPr>
              <a:t>© </a:t>
            </a:r>
            <a:r>
              <a:rPr lang="en-US" sz="700" dirty="0">
                <a:solidFill>
                  <a:srgbClr val="A2B6C1"/>
                </a:solidFill>
                <a:latin typeface="Roboto Light"/>
                <a:cs typeface="Roboto Light"/>
              </a:rPr>
              <a:t>2025 | Professor Luciano Melo / Professor </a:t>
            </a:r>
            <a:r>
              <a:rPr lang="en-US" sz="700" dirty="0" err="1">
                <a:solidFill>
                  <a:srgbClr val="A2B6C1"/>
                </a:solidFill>
                <a:latin typeface="Roboto Light"/>
                <a:cs typeface="Roboto Light"/>
              </a:rPr>
              <a:t>Aleandre</a:t>
            </a:r>
            <a:r>
              <a:rPr lang="en-US" sz="700" dirty="0">
                <a:solidFill>
                  <a:srgbClr val="A2B6C1"/>
                </a:solidFill>
                <a:latin typeface="Roboto Light"/>
                <a:cs typeface="Roboto Light"/>
              </a:rPr>
              <a:t> Barcelos</a:t>
            </a:r>
          </a:p>
          <a:p>
            <a:pPr algn="ctr" eaLnBrk="1" hangingPunct="1">
              <a:lnSpc>
                <a:spcPct val="110000"/>
              </a:lnSpc>
            </a:pPr>
            <a:r>
              <a:rPr lang="en-US" sz="700" dirty="0" err="1">
                <a:solidFill>
                  <a:srgbClr val="A2B6C1"/>
                </a:solidFill>
                <a:latin typeface="Roboto Light"/>
                <a:cs typeface="Roboto Light"/>
              </a:rPr>
              <a:t>Todos</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os</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direitos</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reservados</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Reprodução</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ou</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divulgação</a:t>
            </a:r>
            <a:r>
              <a:rPr lang="en-US" sz="700" dirty="0">
                <a:solidFill>
                  <a:srgbClr val="A2B6C1"/>
                </a:solidFill>
                <a:latin typeface="Roboto Light"/>
                <a:cs typeface="Roboto Light"/>
              </a:rPr>
              <a:t> total </a:t>
            </a:r>
            <a:r>
              <a:rPr lang="en-US" sz="700" dirty="0" err="1">
                <a:solidFill>
                  <a:srgbClr val="A2B6C1"/>
                </a:solidFill>
                <a:latin typeface="Roboto Light"/>
                <a:cs typeface="Roboto Light"/>
              </a:rPr>
              <a:t>ou</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parcial</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deste</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documento</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é</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expressamente</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proibido</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sem</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consentimento</a:t>
            </a:r>
            <a:r>
              <a:rPr lang="en-US" sz="700" dirty="0">
                <a:solidFill>
                  <a:srgbClr val="A2B6C1"/>
                </a:solidFill>
                <a:latin typeface="Roboto Light"/>
                <a:cs typeface="Roboto Light"/>
              </a:rPr>
              <a:t> formal, </a:t>
            </a:r>
            <a:r>
              <a:rPr lang="en-US" sz="700" dirty="0" err="1">
                <a:solidFill>
                  <a:srgbClr val="A2B6C1"/>
                </a:solidFill>
                <a:latin typeface="Roboto Light"/>
                <a:cs typeface="Roboto Light"/>
              </a:rPr>
              <a:t>por</a:t>
            </a:r>
            <a:r>
              <a:rPr lang="en-US" sz="700" dirty="0">
                <a:solidFill>
                  <a:srgbClr val="A2B6C1"/>
                </a:solidFill>
                <a:latin typeface="Roboto Light"/>
                <a:cs typeface="Roboto Light"/>
              </a:rPr>
              <a:t> </a:t>
            </a:r>
            <a:r>
              <a:rPr lang="en-US" sz="700" dirty="0" err="1">
                <a:solidFill>
                  <a:srgbClr val="A2B6C1"/>
                </a:solidFill>
                <a:latin typeface="Roboto Light"/>
                <a:cs typeface="Roboto Light"/>
              </a:rPr>
              <a:t>escrito</a:t>
            </a:r>
            <a:r>
              <a:rPr lang="en-US" sz="700" dirty="0">
                <a:solidFill>
                  <a:srgbClr val="A2B6C1"/>
                </a:solidFill>
                <a:latin typeface="Roboto Light"/>
                <a:cs typeface="Roboto Light"/>
              </a:rPr>
              <a:t>, do professor/</a:t>
            </a:r>
            <a:r>
              <a:rPr lang="en-US" sz="700" dirty="0" err="1">
                <a:solidFill>
                  <a:srgbClr val="A2B6C1"/>
                </a:solidFill>
                <a:latin typeface="Roboto Light"/>
                <a:cs typeface="Roboto Light"/>
              </a:rPr>
              <a:t>autor</a:t>
            </a:r>
            <a:r>
              <a:rPr lang="en-US" sz="700" dirty="0">
                <a:solidFill>
                  <a:srgbClr val="A2B6C1"/>
                </a:solidFill>
                <a:latin typeface="Roboto Light"/>
                <a:cs typeface="Roboto Light"/>
              </a:rPr>
              <a:t>.</a:t>
            </a:r>
          </a:p>
        </p:txBody>
      </p:sp>
      <p:sp>
        <p:nvSpPr>
          <p:cNvPr id="33" name="TextBox 32">
            <a:extLst>
              <a:ext uri="{FF2B5EF4-FFF2-40B4-BE49-F238E27FC236}">
                <a16:creationId xmlns:a16="http://schemas.microsoft.com/office/drawing/2014/main" id="{A330257C-29B8-F26D-2A77-0F23EA98CED2}"/>
              </a:ext>
            </a:extLst>
          </p:cNvPr>
          <p:cNvSpPr txBox="1"/>
          <p:nvPr/>
        </p:nvSpPr>
        <p:spPr>
          <a:xfrm>
            <a:off x="-64394" y="252212"/>
            <a:ext cx="9144000" cy="630942"/>
          </a:xfrm>
          <a:prstGeom prst="rect">
            <a:avLst/>
          </a:prstGeom>
          <a:noFill/>
        </p:spPr>
        <p:txBody>
          <a:bodyPr wrap="square" rtlCol="0">
            <a:spAutoFit/>
          </a:bodyPr>
          <a:lstStyle/>
          <a:p>
            <a:pPr algn="ctr"/>
            <a:r>
              <a:rPr lang="en-US" sz="3500" dirty="0" err="1">
                <a:solidFill>
                  <a:srgbClr val="626E73"/>
                </a:solidFill>
                <a:latin typeface="Gotham HTF Light"/>
                <a:cs typeface="Gotham HTF Light"/>
              </a:rPr>
              <a:t>Exercícios</a:t>
            </a:r>
            <a:endParaRPr lang="en-US" sz="3500" dirty="0">
              <a:solidFill>
                <a:srgbClr val="626E73"/>
              </a:solidFill>
              <a:latin typeface="Gotham HTF Light"/>
              <a:cs typeface="Gotham HTF Light"/>
            </a:endParaRPr>
          </a:p>
        </p:txBody>
      </p:sp>
      <p:sp>
        <p:nvSpPr>
          <p:cNvPr id="3" name="TextBox 2">
            <a:extLst>
              <a:ext uri="{FF2B5EF4-FFF2-40B4-BE49-F238E27FC236}">
                <a16:creationId xmlns:a16="http://schemas.microsoft.com/office/drawing/2014/main" id="{D2714710-F59A-D4F8-6FFF-8DE21CA70915}"/>
              </a:ext>
            </a:extLst>
          </p:cNvPr>
          <p:cNvSpPr txBox="1"/>
          <p:nvPr/>
        </p:nvSpPr>
        <p:spPr>
          <a:xfrm>
            <a:off x="1300767" y="1514971"/>
            <a:ext cx="4572000" cy="369332"/>
          </a:xfrm>
          <a:prstGeom prst="rect">
            <a:avLst/>
          </a:prstGeom>
          <a:noFill/>
        </p:spPr>
        <p:txBody>
          <a:bodyPr wrap="square">
            <a:spAutoFit/>
          </a:bodyPr>
          <a:lstStyle/>
          <a:p>
            <a:r>
              <a:rPr lang="pt-BR" dirty="0"/>
              <a:t>01-Prática-Transação.pdf</a:t>
            </a:r>
          </a:p>
        </p:txBody>
      </p:sp>
      <p:sp>
        <p:nvSpPr>
          <p:cNvPr id="5" name="TextBox 4">
            <a:extLst>
              <a:ext uri="{FF2B5EF4-FFF2-40B4-BE49-F238E27FC236}">
                <a16:creationId xmlns:a16="http://schemas.microsoft.com/office/drawing/2014/main" id="{760A44AB-0C7E-D7A3-AD38-C81C7577D972}"/>
              </a:ext>
            </a:extLst>
          </p:cNvPr>
          <p:cNvSpPr txBox="1"/>
          <p:nvPr/>
        </p:nvSpPr>
        <p:spPr>
          <a:xfrm>
            <a:off x="1300767" y="1980394"/>
            <a:ext cx="4572000" cy="369332"/>
          </a:xfrm>
          <a:prstGeom prst="rect">
            <a:avLst/>
          </a:prstGeom>
          <a:noFill/>
        </p:spPr>
        <p:txBody>
          <a:bodyPr wrap="square">
            <a:spAutoFit/>
          </a:bodyPr>
          <a:lstStyle/>
          <a:p>
            <a:r>
              <a:rPr lang="pt-BR" dirty="0"/>
              <a:t>01-Prática-Deadlock.pdf</a:t>
            </a:r>
          </a:p>
        </p:txBody>
      </p:sp>
      <p:sp>
        <p:nvSpPr>
          <p:cNvPr id="7" name="TextBox 6">
            <a:extLst>
              <a:ext uri="{FF2B5EF4-FFF2-40B4-BE49-F238E27FC236}">
                <a16:creationId xmlns:a16="http://schemas.microsoft.com/office/drawing/2014/main" id="{891F737F-E430-15A8-2454-C05B3B94A99E}"/>
              </a:ext>
            </a:extLst>
          </p:cNvPr>
          <p:cNvSpPr txBox="1"/>
          <p:nvPr/>
        </p:nvSpPr>
        <p:spPr>
          <a:xfrm>
            <a:off x="1300767" y="2403166"/>
            <a:ext cx="5724659" cy="369332"/>
          </a:xfrm>
          <a:prstGeom prst="rect">
            <a:avLst/>
          </a:prstGeom>
          <a:noFill/>
        </p:spPr>
        <p:txBody>
          <a:bodyPr wrap="square">
            <a:spAutoFit/>
          </a:bodyPr>
          <a:lstStyle/>
          <a:p>
            <a:r>
              <a:rPr lang="pt-BR" dirty="0"/>
              <a:t>01 - Pratica Adicional - </a:t>
            </a:r>
            <a:r>
              <a:rPr lang="pt-BR" dirty="0" err="1"/>
              <a:t>Transacao</a:t>
            </a:r>
            <a:r>
              <a:rPr lang="pt-BR" dirty="0"/>
              <a:t> e Consistencia.pdf</a:t>
            </a:r>
          </a:p>
        </p:txBody>
      </p:sp>
    </p:spTree>
    <p:extLst>
      <p:ext uri="{BB962C8B-B14F-4D97-AF65-F5344CB8AC3E}">
        <p14:creationId xmlns:p14="http://schemas.microsoft.com/office/powerpoint/2010/main" val="24833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0" y="2"/>
            <a:ext cx="9144000" cy="5148263"/>
          </a:xfrm>
          <a:prstGeom prst="rect">
            <a:avLst/>
          </a:prstGeom>
        </p:spPr>
      </p:pic>
      <p:pic>
        <p:nvPicPr>
          <p:cNvPr id="15" name="Picture 14"/>
          <p:cNvPicPr>
            <a:picLocks noChangeAspect="1"/>
          </p:cNvPicPr>
          <p:nvPr/>
        </p:nvPicPr>
        <p:blipFill>
          <a:blip r:embed="rId4"/>
          <a:stretch>
            <a:fillRect/>
          </a:stretch>
        </p:blipFill>
        <p:spPr>
          <a:xfrm>
            <a:off x="222252" y="209197"/>
            <a:ext cx="8699498" cy="4708684"/>
          </a:xfrm>
          <a:prstGeom prst="rect">
            <a:avLst/>
          </a:prstGeom>
        </p:spPr>
      </p:pic>
      <p:pic>
        <p:nvPicPr>
          <p:cNvPr id="16" name="Imagem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9542" y="2140690"/>
            <a:ext cx="3204916" cy="862123"/>
          </a:xfrm>
          <a:prstGeom prst="rect">
            <a:avLst/>
          </a:prstGeom>
        </p:spPr>
      </p:pic>
    </p:spTree>
    <p:extLst>
      <p:ext uri="{BB962C8B-B14F-4D97-AF65-F5344CB8AC3E}">
        <p14:creationId xmlns:p14="http://schemas.microsoft.com/office/powerpoint/2010/main" val="411884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1953</TotalTime>
  <Words>2832</Words>
  <Application>Microsoft Office PowerPoint</Application>
  <PresentationFormat>Custom</PresentationFormat>
  <Paragraphs>353</Paragraphs>
  <Slides>45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Calibri</vt:lpstr>
      <vt:lpstr>Courier New</vt:lpstr>
      <vt:lpstr>Gotham HTF</vt:lpstr>
      <vt:lpstr>Gotham HTF Book</vt:lpstr>
      <vt:lpstr>Gotham HTF Light</vt:lpstr>
      <vt:lpstr>Roboto Light</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Transação / Concorrência</vt:lpstr>
      <vt:lpstr>Transação / Concorrência</vt:lpstr>
      <vt:lpstr>Transação / Concorrência</vt:lpstr>
      <vt:lpstr>Transação / Concorrência</vt:lpstr>
      <vt:lpstr>Transação / Concorrência</vt:lpstr>
      <vt:lpstr>Transação / Concorrência</vt:lpstr>
      <vt:lpstr>Leitura Multiversão</vt:lpstr>
      <vt:lpstr>PowerPoint Presentation</vt:lpstr>
      <vt:lpstr>Fenômenos evitáveis em Transações </vt:lpstr>
      <vt:lpstr>Fenômenos evitáveis em Transações </vt:lpstr>
      <vt:lpstr>Fenômenos evitáveis em Transações </vt:lpstr>
      <vt:lpstr>Fenômenos evitáveis em Transações </vt:lpstr>
      <vt:lpstr>Níveis de Isolamento</vt:lpstr>
      <vt:lpstr>Níveis de Isolamento - Oracle</vt:lpstr>
      <vt:lpstr>Níveis de Isolamento - Oracle</vt:lpstr>
      <vt:lpstr>Níveis de Isolamento - Oracle</vt:lpstr>
      <vt:lpstr>Níveis de Isolamento - Oracle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Adriano</dc:creator>
  <cp:lastModifiedBy>Luciano Inácio de Melo</cp:lastModifiedBy>
  <cp:revision>113</cp:revision>
  <dcterms:created xsi:type="dcterms:W3CDTF">2019-02-15T12:16:11Z</dcterms:created>
  <dcterms:modified xsi:type="dcterms:W3CDTF">2025-08-04T20:39:58Z</dcterms:modified>
</cp:coreProperties>
</file>