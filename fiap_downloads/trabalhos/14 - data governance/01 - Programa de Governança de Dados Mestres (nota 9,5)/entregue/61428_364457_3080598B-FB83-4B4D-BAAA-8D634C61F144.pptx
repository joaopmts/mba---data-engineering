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494" r:id="rId2"/>
    <p:sldId id="495" r:id="rId3"/>
    <p:sldId id="458" r:id="rId4"/>
    <p:sldId id="486" r:id="rId5"/>
    <p:sldId id="496" r:id="rId6"/>
    <p:sldId id="497" r:id="rId7"/>
    <p:sldId id="498" r:id="rId8"/>
    <p:sldId id="487" r:id="rId9"/>
    <p:sldId id="499" r:id="rId10"/>
    <p:sldId id="500" r:id="rId11"/>
    <p:sldId id="501" r:id="rId12"/>
    <p:sldId id="502" r:id="rId13"/>
    <p:sldId id="503" r:id="rId14"/>
    <p:sldId id="504" r:id="rId15"/>
    <p:sldId id="505" r:id="rId16"/>
    <p:sldId id="506" r:id="rId17"/>
    <p:sldId id="507" r:id="rId18"/>
    <p:sldId id="508" r:id="rId19"/>
    <p:sldId id="488" r:id="rId20"/>
    <p:sldId id="509" r:id="rId21"/>
    <p:sldId id="510" r:id="rId22"/>
    <p:sldId id="489" r:id="rId23"/>
    <p:sldId id="511" r:id="rId24"/>
    <p:sldId id="490" r:id="rId25"/>
    <p:sldId id="491" r:id="rId26"/>
    <p:sldId id="485" r:id="rId27"/>
    <p:sldId id="512" r:id="rId28"/>
    <p:sldId id="513" r:id="rId29"/>
    <p:sldId id="514" r:id="rId30"/>
    <p:sldId id="515" r:id="rId3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 Mota" userId="8d9e35e2-e8b3-45a6-9dce-94dedd19a448" providerId="ADAL" clId="{AAD443B8-B044-4E98-86B1-A8FC115CDFE0}"/>
    <pc:docChg chg="modSld">
      <pc:chgData name="Cristian Mota" userId="8d9e35e2-e8b3-45a6-9dce-94dedd19a448" providerId="ADAL" clId="{AAD443B8-B044-4E98-86B1-A8FC115CDFE0}" dt="2025-05-22T12:53:07.648" v="21" actId="20577"/>
      <pc:docMkLst>
        <pc:docMk/>
      </pc:docMkLst>
      <pc:sldChg chg="modSp mod">
        <pc:chgData name="Cristian Mota" userId="8d9e35e2-e8b3-45a6-9dce-94dedd19a448" providerId="ADAL" clId="{AAD443B8-B044-4E98-86B1-A8FC115CDFE0}" dt="2025-05-22T12:53:07.648" v="21" actId="20577"/>
        <pc:sldMkLst>
          <pc:docMk/>
          <pc:sldMk cId="1686177233" sldId="494"/>
        </pc:sldMkLst>
        <pc:spChg chg="mod">
          <ac:chgData name="Cristian Mota" userId="8d9e35e2-e8b3-45a6-9dce-94dedd19a448" providerId="ADAL" clId="{AAD443B8-B044-4E98-86B1-A8FC115CDFE0}" dt="2025-05-22T12:53:07.648" v="21" actId="20577"/>
          <ac:spMkLst>
            <pc:docMk/>
            <pc:sldMk cId="1686177233" sldId="494"/>
            <ac:spMk id="8" creationId="{5E2E307B-4D6D-402F-ABF3-98D8736D3FEC}"/>
          </ac:spMkLst>
        </pc:spChg>
      </pc:sldChg>
    </pc:docChg>
  </pc:docChgLst>
  <pc:docChgLst>
    <pc:chgData name="Cristian Mota" userId="8d9e35e2-e8b3-45a6-9dce-94dedd19a448" providerId="ADAL" clId="{82A253C4-A27B-4321-A9D0-D5058FD7EEC0}"/>
    <pc:docChg chg="modSld">
      <pc:chgData name="Cristian Mota" userId="8d9e35e2-e8b3-45a6-9dce-94dedd19a448" providerId="ADAL" clId="{82A253C4-A27B-4321-A9D0-D5058FD7EEC0}" dt="2024-03-20T18:16:20.284" v="82" actId="14100"/>
      <pc:docMkLst>
        <pc:docMk/>
      </pc:docMkLst>
      <pc:sldChg chg="modSp mod">
        <pc:chgData name="Cristian Mota" userId="8d9e35e2-e8b3-45a6-9dce-94dedd19a448" providerId="ADAL" clId="{82A253C4-A27B-4321-A9D0-D5058FD7EEC0}" dt="2024-03-20T18:16:20.284" v="82" actId="14100"/>
        <pc:sldMkLst>
          <pc:docMk/>
          <pc:sldMk cId="1686177233" sldId="494"/>
        </pc:sldMkLst>
        <pc:spChg chg="mod">
          <ac:chgData name="Cristian Mota" userId="8d9e35e2-e8b3-45a6-9dce-94dedd19a448" providerId="ADAL" clId="{82A253C4-A27B-4321-A9D0-D5058FD7EEC0}" dt="2024-03-20T18:16:20.284" v="82" actId="14100"/>
          <ac:spMkLst>
            <pc:docMk/>
            <pc:sldMk cId="1686177233" sldId="494"/>
            <ac:spMk id="8" creationId="{5E2E307B-4D6D-402F-ABF3-98D8736D3FE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F9B459-028F-4E76-9FC2-854F2E34F0DD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9314BE-A680-4FE0-ACC5-CE6A6D96092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021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5DEE5D-F389-EF46-87F7-EBB456FCE3E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71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CF514-0F7B-4658-852D-A073968A6764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25A02-80D1-4185-8534-67A2216917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1726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CF514-0F7B-4658-852D-A073968A6764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25A02-80D1-4185-8534-67A2216917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0173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CF514-0F7B-4658-852D-A073968A6764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25A02-80D1-4185-8534-67A2216917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3677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CF514-0F7B-4658-852D-A073968A6764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25A02-80D1-4185-8534-67A2216917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62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CF514-0F7B-4658-852D-A073968A6764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25A02-80D1-4185-8534-67A2216917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1268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03201"/>
            <a:ext cx="9667876" cy="549275"/>
          </a:xfrm>
        </p:spPr>
        <p:txBody>
          <a:bodyPr/>
          <a:lstStyle/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CF514-0F7B-4658-852D-A073968A6764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25A02-80D1-4185-8534-67A2216917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4635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CF514-0F7B-4658-852D-A073968A6764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25A02-80D1-4185-8534-67A2216917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1992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CF514-0F7B-4658-852D-A073968A6764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25A02-80D1-4185-8534-67A2216917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5743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CF514-0F7B-4658-852D-A073968A6764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25A02-80D1-4185-8534-67A2216917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0572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CF514-0F7B-4658-852D-A073968A6764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25A02-80D1-4185-8534-67A2216917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6361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CF514-0F7B-4658-852D-A073968A6764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25A02-80D1-4185-8534-67A2216917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06667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0657E-CA1E-4E33-898F-A500C0DC65BA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231" b="62906"/>
          <a:stretch/>
        </p:blipFill>
        <p:spPr>
          <a:xfrm>
            <a:off x="0" y="0"/>
            <a:ext cx="4970585" cy="2543908"/>
          </a:xfrm>
          <a:prstGeom prst="rect">
            <a:avLst/>
          </a:prstGeom>
        </p:spPr>
      </p:pic>
      <p:pic>
        <p:nvPicPr>
          <p:cNvPr id="9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231" b="62906"/>
          <a:stretch/>
        </p:blipFill>
        <p:spPr>
          <a:xfrm rot="10800000">
            <a:off x="7228672" y="4314092"/>
            <a:ext cx="4970585" cy="2543908"/>
          </a:xfrm>
          <a:prstGeom prst="rect">
            <a:avLst/>
          </a:prstGeom>
        </p:spPr>
      </p:pic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</p:spPr>
        <p:txBody>
          <a:bodyPr>
            <a:normAutofit/>
          </a:bodyPr>
          <a:lstStyle>
            <a:lvl1pPr algn="ctr">
              <a:defRPr sz="4400" b="1">
                <a:solidFill>
                  <a:srgbClr val="ED135A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77025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CF514-0F7B-4658-852D-A073968A6764}" type="datetimeFigureOut">
              <a:rPr lang="pt-BR" smtClean="0"/>
              <a:t>16/02/2026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A25A02-80D1-4185-8534-67A2216917D2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Picture 4" descr="Logo_FIAP_01.png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5384" y="221280"/>
            <a:ext cx="1321655" cy="33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4061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4" indent="-228604" algn="l" defTabSz="914411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Nt0H2XrAka50LxAOVj1e3aMV1t9-nzCuXtyE6QSHizA/edit?usp=sharing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5"/>
          <p:cNvCxnSpPr/>
          <p:nvPr/>
        </p:nvCxnSpPr>
        <p:spPr>
          <a:xfrm>
            <a:off x="5940240" y="2729290"/>
            <a:ext cx="0" cy="97200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1"/>
          <p:cNvCxnSpPr/>
          <p:nvPr/>
        </p:nvCxnSpPr>
        <p:spPr>
          <a:xfrm>
            <a:off x="5792629" y="2582972"/>
            <a:ext cx="0" cy="1868064"/>
          </a:xfrm>
          <a:prstGeom prst="line">
            <a:avLst/>
          </a:prstGeom>
          <a:ln w="3175" cmpd="sng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13" descr="64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206" y="2723246"/>
            <a:ext cx="2069424" cy="97804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D25A1E2-0BD4-42C9-92CE-F25CE1488330}"/>
              </a:ext>
            </a:extLst>
          </p:cNvPr>
          <p:cNvCxnSpPr/>
          <p:nvPr/>
        </p:nvCxnSpPr>
        <p:spPr>
          <a:xfrm>
            <a:off x="5940240" y="2729290"/>
            <a:ext cx="0" cy="97200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13" descr="64.png">
            <a:extLst>
              <a:ext uri="{FF2B5EF4-FFF2-40B4-BE49-F238E27FC236}">
                <a16:creationId xmlns:a16="http://schemas.microsoft.com/office/drawing/2014/main" id="{140BFC75-2164-4EE1-91C2-FC8E04D6DD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206" y="2723246"/>
            <a:ext cx="2069424" cy="978044"/>
          </a:xfrm>
          <a:prstGeom prst="rect">
            <a:avLst/>
          </a:prstGeom>
        </p:spPr>
      </p:pic>
      <p:sp>
        <p:nvSpPr>
          <p:cNvPr id="8" name="Espaço Reservado para Texto 1">
            <a:extLst>
              <a:ext uri="{FF2B5EF4-FFF2-40B4-BE49-F238E27FC236}">
                <a16:creationId xmlns:a16="http://schemas.microsoft.com/office/drawing/2014/main" id="{5E2E307B-4D6D-402F-ABF3-98D8736D3FEC}"/>
              </a:ext>
            </a:extLst>
          </p:cNvPr>
          <p:cNvSpPr txBox="1">
            <a:spLocks/>
          </p:cNvSpPr>
          <p:nvPr/>
        </p:nvSpPr>
        <p:spPr bwMode="auto">
          <a:xfrm>
            <a:off x="6087850" y="2723246"/>
            <a:ext cx="6104149" cy="513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altLang="pt-BR" b="1" dirty="0">
                <a:solidFill>
                  <a:prstClr val="white"/>
                </a:solidFill>
                <a:latin typeface="Calibri" panose="020F0502020204030204"/>
              </a:rPr>
              <a:t>Engenharia de Dados</a:t>
            </a:r>
          </a:p>
          <a:p>
            <a:pPr marL="0" marR="0" lvl="0" indent="0" algn="l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pt-BR" sz="2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Governance</a:t>
            </a:r>
            <a:endParaRPr kumimoji="0" lang="en-US" altLang="pt-BR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6177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5"/>
          <p:cNvCxnSpPr/>
          <p:nvPr/>
        </p:nvCxnSpPr>
        <p:spPr>
          <a:xfrm>
            <a:off x="5940240" y="2729290"/>
            <a:ext cx="0" cy="97200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1"/>
          <p:cNvCxnSpPr/>
          <p:nvPr/>
        </p:nvCxnSpPr>
        <p:spPr>
          <a:xfrm>
            <a:off x="5792629" y="2582972"/>
            <a:ext cx="0" cy="1868064"/>
          </a:xfrm>
          <a:prstGeom prst="line">
            <a:avLst/>
          </a:prstGeom>
          <a:ln w="3175" cmpd="sng">
            <a:solidFill>
              <a:schemeClr val="bg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13" descr="64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206" y="2723246"/>
            <a:ext cx="2069424" cy="978044"/>
          </a:xfrm>
          <a:prstGeom prst="rect">
            <a:avLst/>
          </a:prstGeom>
        </p:spPr>
      </p:pic>
      <p:sp>
        <p:nvSpPr>
          <p:cNvPr id="11" name="Espaço Reservado para Texto 1"/>
          <p:cNvSpPr txBox="1">
            <a:spLocks/>
          </p:cNvSpPr>
          <p:nvPr/>
        </p:nvSpPr>
        <p:spPr bwMode="auto">
          <a:xfrm>
            <a:off x="6096000" y="3003491"/>
            <a:ext cx="5629273" cy="513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anchor="t" anchorCtr="0" compatLnSpc="1">
            <a:prstTxWarp prst="textNoShape">
              <a:avLst/>
            </a:prstTxWarp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altLang="pt-BR" sz="2700" b="1">
                <a:solidFill>
                  <a:prstClr val="white"/>
                </a:solidFill>
                <a:latin typeface="Calibri" panose="020F0502020204030204"/>
              </a:rPr>
              <a:t>Trabalho Final</a:t>
            </a:r>
            <a:endParaRPr kumimoji="0" lang="en-US" altLang="pt-BR" sz="2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pt-BR" sz="2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510268" y="4585608"/>
            <a:ext cx="6670178" cy="1755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Integrantes do </a:t>
            </a:r>
            <a:r>
              <a:rPr lang="pt-BR" sz="1801" dirty="0">
                <a:solidFill>
                  <a:prstClr val="white"/>
                </a:solidFill>
                <a:latin typeface="Calibri" panose="020F0502020204030204"/>
              </a:rPr>
              <a:t>g</a:t>
            </a:r>
            <a:r>
              <a:rPr kumimoji="0" lang="pt-BR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rupo:</a:t>
            </a:r>
          </a:p>
          <a:p>
            <a:pPr lvl="0" defTabSz="914411">
              <a:defRPr/>
            </a:pPr>
            <a:r>
              <a:rPr lang="pt-BR" sz="1801" dirty="0">
                <a:solidFill>
                  <a:prstClr val="white"/>
                </a:solidFill>
                <a:latin typeface="Calibri" panose="020F0502020204030204"/>
              </a:rPr>
              <a:t>1. </a:t>
            </a:r>
            <a:r>
              <a:rPr lang="pt-BR" dirty="0"/>
              <a:t>Bruno Gomes Nogueira –  364457</a:t>
            </a:r>
            <a:endParaRPr lang="pt-BR" sz="1801" dirty="0">
              <a:solidFill>
                <a:prstClr val="white"/>
              </a:solidFill>
              <a:latin typeface="Calibri" panose="020F0502020204030204"/>
            </a:endParaRPr>
          </a:p>
          <a:p>
            <a:pPr lvl="0" defTabSz="914411">
              <a:defRPr/>
            </a:pPr>
            <a:r>
              <a:rPr kumimoji="0" lang="pt-BR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</a:t>
            </a:r>
            <a:r>
              <a:rPr lang="pt-BR" dirty="0"/>
              <a:t>Evaldo Loiola Mota Junior – 364056</a:t>
            </a:r>
            <a:endParaRPr kumimoji="0" lang="pt-BR" sz="180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 defTabSz="914411">
              <a:defRPr/>
            </a:pPr>
            <a:r>
              <a:rPr lang="pt-BR" sz="1801" dirty="0">
                <a:solidFill>
                  <a:prstClr val="white"/>
                </a:solidFill>
                <a:latin typeface="Calibri" panose="020F0502020204030204"/>
              </a:rPr>
              <a:t>3. Guilherme Pinheiro Ximenes - 365776</a:t>
            </a:r>
          </a:p>
          <a:p>
            <a:pPr lvl="0" defTabSz="914411">
              <a:defRPr/>
            </a:pPr>
            <a:r>
              <a:rPr lang="pt-BR" sz="1801" dirty="0">
                <a:solidFill>
                  <a:prstClr val="white"/>
                </a:solidFill>
                <a:latin typeface="Calibri" panose="020F0502020204030204"/>
              </a:rPr>
              <a:t>4. </a:t>
            </a:r>
            <a:r>
              <a:rPr lang="pt-BR" dirty="0"/>
              <a:t>Herivelto </a:t>
            </a:r>
            <a:r>
              <a:rPr lang="pt-BR" dirty="0" err="1"/>
              <a:t>Raimuindo</a:t>
            </a:r>
            <a:r>
              <a:rPr lang="pt-BR" dirty="0"/>
              <a:t> Lemos de Macedo Junior – 364212</a:t>
            </a:r>
            <a:endParaRPr lang="pt-BR" sz="1801" dirty="0">
              <a:solidFill>
                <a:prstClr val="white"/>
              </a:solidFill>
              <a:latin typeface="Calibri" panose="020F0502020204030204"/>
            </a:endParaRPr>
          </a:p>
          <a:p>
            <a:pPr defTabSz="914411">
              <a:defRPr/>
            </a:pPr>
            <a:r>
              <a:rPr kumimoji="0" lang="pt-BR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</a:t>
            </a:r>
            <a:r>
              <a:rPr lang="pt-BR" dirty="0"/>
              <a:t>João Paulo Martins Rodrigues – 364668</a:t>
            </a:r>
            <a:r>
              <a:rPr kumimoji="0" lang="pt-BR" sz="18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2920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D498A16-02D2-453E-A9F8-DEA76C824981}"/>
              </a:ext>
            </a:extLst>
          </p:cNvPr>
          <p:cNvSpPr txBox="1"/>
          <p:nvPr/>
        </p:nvSpPr>
        <p:spPr>
          <a:xfrm>
            <a:off x="1857375" y="2735167"/>
            <a:ext cx="8082295" cy="923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11">
              <a:defRPr/>
            </a:pPr>
            <a:r>
              <a:rPr lang="pt-BR" sz="5401" b="1" dirty="0">
                <a:solidFill>
                  <a:prstClr val="white"/>
                </a:solidFill>
                <a:latin typeface="Calibri" panose="020F0502020204030204"/>
              </a:rPr>
              <a:t>Trabalho Final</a:t>
            </a:r>
            <a:endParaRPr lang="en-US" sz="5401" b="1" dirty="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82361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97B22E2-3947-460D-A054-7FF265C7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50039"/>
            <a:ext cx="9667876" cy="549275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1.Background e </a:t>
            </a:r>
            <a:r>
              <a:rPr lang="pt-BR" b="1" dirty="0" err="1">
                <a:solidFill>
                  <a:schemeClr val="bg1"/>
                </a:solidFill>
              </a:rPr>
              <a:t>Maturity</a:t>
            </a:r>
            <a:r>
              <a:rPr lang="pt-BR" b="1" dirty="0">
                <a:solidFill>
                  <a:schemeClr val="bg1"/>
                </a:solidFill>
              </a:rPr>
              <a:t> </a:t>
            </a:r>
            <a:r>
              <a:rPr lang="pt-BR" b="1" dirty="0" err="1">
                <a:solidFill>
                  <a:schemeClr val="bg1"/>
                </a:solidFill>
              </a:rPr>
              <a:t>Level</a:t>
            </a:r>
            <a:r>
              <a:rPr lang="pt-BR" b="1" dirty="0">
                <a:solidFill>
                  <a:schemeClr val="bg1"/>
                </a:solidFill>
              </a:rPr>
              <a:t> Assessment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84193AE4-9F3B-4F3C-B4F9-489096D923E5}"/>
              </a:ext>
            </a:extLst>
          </p:cNvPr>
          <p:cNvSpPr txBox="1">
            <a:spLocks noChangeArrowheads="1"/>
          </p:cNvSpPr>
          <p:nvPr/>
        </p:nvSpPr>
        <p:spPr>
          <a:xfrm>
            <a:off x="838202" y="1093788"/>
            <a:ext cx="10613065" cy="53594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4" marR="0" lvl="0" indent="-228604" algn="just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233AF5C-4B0D-4C51-A311-B084D617D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3" y="831492"/>
            <a:ext cx="3439158" cy="87449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B4F4A1BF-5D16-497C-F4F8-C37601E0CB89}"/>
              </a:ext>
            </a:extLst>
          </p:cNvPr>
          <p:cNvSpPr txBox="1"/>
          <p:nvPr/>
        </p:nvSpPr>
        <p:spPr>
          <a:xfrm>
            <a:off x="914400" y="2011680"/>
            <a:ext cx="1026053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Contexto da empresa</a:t>
            </a:r>
            <a:r>
              <a:rPr lang="pt-BR" dirty="0">
                <a:solidFill>
                  <a:schemeClr val="bg1"/>
                </a:solidFill>
              </a:rPr>
              <a:t>: Banco de Grande Porte do Setor Financeiro, atuação nacional, foco em varejo e </a:t>
            </a:r>
            <a:r>
              <a:rPr lang="pt-BR" dirty="0" err="1">
                <a:solidFill>
                  <a:schemeClr val="bg1"/>
                </a:solidFill>
              </a:rPr>
              <a:t>corporate</a:t>
            </a:r>
            <a:r>
              <a:rPr lang="pt-BR" dirty="0">
                <a:solidFill>
                  <a:schemeClr val="bg1"/>
                </a:solidFill>
              </a:rPr>
              <a:t>. </a:t>
            </a:r>
          </a:p>
          <a:p>
            <a:r>
              <a:rPr lang="pt-BR" dirty="0">
                <a:solidFill>
                  <a:schemeClr val="bg1"/>
                </a:solidFill>
              </a:rPr>
              <a:t>A organização apresenta um nível geral de maturidade entre 3,1 e 3,75 (escala 1–4) nas dimensões avaliadas, o que indica um estágio intermediário a avançado, com processos estabelecidos e governança formalizada em várias áreas, porém ainda sem padronização total corporativa.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Leitura executiva:</a:t>
            </a:r>
          </a:p>
          <a:p>
            <a:r>
              <a:rPr lang="pt-BR" dirty="0">
                <a:solidFill>
                  <a:schemeClr val="bg1"/>
                </a:solidFill>
              </a:rPr>
              <a:t>Estratégia está mais madura</a:t>
            </a:r>
          </a:p>
          <a:p>
            <a:r>
              <a:rPr lang="pt-BR" dirty="0">
                <a:solidFill>
                  <a:schemeClr val="bg1"/>
                </a:solidFill>
              </a:rPr>
              <a:t>Pessoas e Processos são os principais gaps</a:t>
            </a:r>
          </a:p>
          <a:p>
            <a:r>
              <a:rPr lang="pt-BR" dirty="0">
                <a:solidFill>
                  <a:schemeClr val="bg1"/>
                </a:solidFill>
              </a:rPr>
              <a:t>Tecnologia e Dados estão sólidos, mas ainda fragmentados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Em termos de benchmarking de maturidade, a empresa está no estágio:</a:t>
            </a:r>
          </a:p>
          <a:p>
            <a:r>
              <a:rPr lang="pt-BR" dirty="0">
                <a:solidFill>
                  <a:schemeClr val="bg1"/>
                </a:solidFill>
              </a:rPr>
              <a:t>Nível 3 — “Em prática” → caminhando para Nível 4 “Modelo”</a:t>
            </a:r>
          </a:p>
        </p:txBody>
      </p:sp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21A7BC6A-B438-E26A-5CA3-A9C965E9CC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7887976"/>
              </p:ext>
            </p:extLst>
          </p:nvPr>
        </p:nvGraphicFramePr>
        <p:xfrm>
          <a:off x="8018178" y="3587975"/>
          <a:ext cx="3259422" cy="2283433"/>
        </p:xfrm>
        <a:graphic>
          <a:graphicData uri="http://schemas.openxmlformats.org/drawingml/2006/table">
            <a:tbl>
              <a:tblPr/>
              <a:tblGrid>
                <a:gridCol w="1159392">
                  <a:extLst>
                    <a:ext uri="{9D8B030D-6E8A-4147-A177-3AD203B41FA5}">
                      <a16:colId xmlns:a16="http://schemas.microsoft.com/office/drawing/2014/main" val="673719999"/>
                    </a:ext>
                  </a:extLst>
                </a:gridCol>
                <a:gridCol w="1050015">
                  <a:extLst>
                    <a:ext uri="{9D8B030D-6E8A-4147-A177-3AD203B41FA5}">
                      <a16:colId xmlns:a16="http://schemas.microsoft.com/office/drawing/2014/main" val="898767416"/>
                    </a:ext>
                  </a:extLst>
                </a:gridCol>
                <a:gridCol w="1050015">
                  <a:extLst>
                    <a:ext uri="{9D8B030D-6E8A-4147-A177-3AD203B41FA5}">
                      <a16:colId xmlns:a16="http://schemas.microsoft.com/office/drawing/2014/main" val="1113143970"/>
                    </a:ext>
                  </a:extLst>
                </a:gridCol>
              </a:tblGrid>
              <a:tr h="382393"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Média por Dimensão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338766"/>
                  </a:ext>
                </a:extLst>
              </a:tr>
              <a:tr h="316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Dimensão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Atual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Desejado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748225"/>
                  </a:ext>
                </a:extLst>
              </a:tr>
              <a:tr h="316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Estratégia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628179"/>
                  </a:ext>
                </a:extLst>
              </a:tr>
              <a:tr h="316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Pessoas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7031992"/>
                  </a:ext>
                </a:extLst>
              </a:tr>
              <a:tr h="316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Processos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3,67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835997"/>
                  </a:ext>
                </a:extLst>
              </a:tr>
              <a:tr h="316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Dados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3226162"/>
                  </a:ext>
                </a:extLst>
              </a:tr>
              <a:tr h="316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Tecnologia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3,83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0249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5249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CEB96C-0582-40A6-6D99-3CE6A517C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1DA1A0E-E8A2-4F1E-9180-02585AD80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50039"/>
            <a:ext cx="9667876" cy="549275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1.Background e </a:t>
            </a:r>
            <a:r>
              <a:rPr lang="pt-BR" b="1" dirty="0" err="1">
                <a:solidFill>
                  <a:schemeClr val="bg1"/>
                </a:solidFill>
              </a:rPr>
              <a:t>Maturity</a:t>
            </a:r>
            <a:r>
              <a:rPr lang="pt-BR" b="1" dirty="0">
                <a:solidFill>
                  <a:schemeClr val="bg1"/>
                </a:solidFill>
              </a:rPr>
              <a:t> </a:t>
            </a:r>
            <a:r>
              <a:rPr lang="pt-BR" b="1" dirty="0" err="1">
                <a:solidFill>
                  <a:schemeClr val="bg1"/>
                </a:solidFill>
              </a:rPr>
              <a:t>Level</a:t>
            </a:r>
            <a:r>
              <a:rPr lang="pt-BR" b="1" dirty="0">
                <a:solidFill>
                  <a:schemeClr val="bg1"/>
                </a:solidFill>
              </a:rPr>
              <a:t> Assessment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A496EB2D-E1E4-23EC-178E-9E6BAC1E8EAF}"/>
              </a:ext>
            </a:extLst>
          </p:cNvPr>
          <p:cNvSpPr txBox="1">
            <a:spLocks noChangeArrowheads="1"/>
          </p:cNvSpPr>
          <p:nvPr/>
        </p:nvSpPr>
        <p:spPr>
          <a:xfrm>
            <a:off x="838202" y="1093788"/>
            <a:ext cx="10613065" cy="53594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4" marR="0" lvl="0" indent="-228604" algn="just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F609FFD-C3FA-77FB-10CF-3AF3F4327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3" y="831492"/>
            <a:ext cx="3439158" cy="87449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E28ED31-DA2D-013F-7A1B-0BD18EA60A97}"/>
              </a:ext>
            </a:extLst>
          </p:cNvPr>
          <p:cNvSpPr txBox="1"/>
          <p:nvPr/>
        </p:nvSpPr>
        <p:spPr>
          <a:xfrm>
            <a:off x="914400" y="2011680"/>
            <a:ext cx="1026053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Pain Points e Desafios Identificados</a:t>
            </a:r>
            <a:r>
              <a:rPr lang="pt-BR" dirty="0">
                <a:solidFill>
                  <a:schemeClr val="bg1"/>
                </a:solidFill>
              </a:rPr>
              <a:t>:</a:t>
            </a:r>
            <a:br>
              <a:rPr lang="pt-BR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Pessoas (Principal Gap)</a:t>
            </a:r>
          </a:p>
          <a:p>
            <a:r>
              <a:rPr lang="pt-BR" dirty="0" err="1">
                <a:solidFill>
                  <a:schemeClr val="bg1"/>
                </a:solidFill>
              </a:rPr>
              <a:t>Stewardship</a:t>
            </a:r>
            <a:r>
              <a:rPr lang="pt-BR" dirty="0">
                <a:solidFill>
                  <a:schemeClr val="bg1"/>
                </a:solidFill>
              </a:rPr>
              <a:t> e </a:t>
            </a:r>
            <a:r>
              <a:rPr lang="pt-BR" dirty="0" err="1">
                <a:solidFill>
                  <a:schemeClr val="bg1"/>
                </a:solidFill>
              </a:rPr>
              <a:t>ownership</a:t>
            </a:r>
            <a:r>
              <a:rPr lang="pt-BR" dirty="0">
                <a:solidFill>
                  <a:schemeClr val="bg1"/>
                </a:solidFill>
              </a:rPr>
              <a:t> de dados ainda não totalmente consolidados</a:t>
            </a:r>
          </a:p>
          <a:p>
            <a:r>
              <a:rPr lang="pt-BR" dirty="0">
                <a:solidFill>
                  <a:schemeClr val="bg1"/>
                </a:solidFill>
              </a:rPr>
              <a:t>Governança depende de algumas áreas e não é totalmente corporativa</a:t>
            </a:r>
          </a:p>
          <a:p>
            <a:r>
              <a:rPr lang="pt-BR" b="1" dirty="0">
                <a:solidFill>
                  <a:schemeClr val="bg1"/>
                </a:solidFill>
              </a:rPr>
              <a:t>Impacto:</a:t>
            </a:r>
            <a:r>
              <a:rPr lang="pt-BR" dirty="0">
                <a:solidFill>
                  <a:schemeClr val="bg1"/>
                </a:solidFill>
              </a:rPr>
              <a:t> dependência de conhecimento tácito e risco operacional.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b="1" dirty="0">
                <a:solidFill>
                  <a:schemeClr val="bg1"/>
                </a:solidFill>
              </a:rPr>
              <a:t>Processos</a:t>
            </a:r>
          </a:p>
          <a:p>
            <a:r>
              <a:rPr lang="pt-BR" dirty="0">
                <a:solidFill>
                  <a:schemeClr val="bg1"/>
                </a:solidFill>
              </a:rPr>
              <a:t>Alguns processos ainda reativos e não padronizados</a:t>
            </a:r>
          </a:p>
          <a:p>
            <a:r>
              <a:rPr lang="pt-BR" dirty="0">
                <a:solidFill>
                  <a:schemeClr val="bg1"/>
                </a:solidFill>
              </a:rPr>
              <a:t>Gates de governança nem sempre aplicados em projetos</a:t>
            </a:r>
          </a:p>
          <a:p>
            <a:r>
              <a:rPr lang="pt-BR" b="1" dirty="0">
                <a:solidFill>
                  <a:schemeClr val="bg1"/>
                </a:solidFill>
              </a:rPr>
              <a:t>Impacto:</a:t>
            </a:r>
            <a:r>
              <a:rPr lang="pt-BR" dirty="0">
                <a:solidFill>
                  <a:schemeClr val="bg1"/>
                </a:solidFill>
              </a:rPr>
              <a:t> inconsistência entre áreas e retrabalho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b="1" dirty="0">
                <a:solidFill>
                  <a:schemeClr val="bg1"/>
                </a:solidFill>
              </a:rPr>
              <a:t>Estratégia</a:t>
            </a:r>
          </a:p>
          <a:p>
            <a:r>
              <a:rPr lang="pt-BR" dirty="0">
                <a:solidFill>
                  <a:schemeClr val="bg1"/>
                </a:solidFill>
              </a:rPr>
              <a:t>Visão estratégica existe e é formalizada</a:t>
            </a:r>
          </a:p>
          <a:p>
            <a:r>
              <a:rPr lang="pt-BR" dirty="0">
                <a:solidFill>
                  <a:schemeClr val="bg1"/>
                </a:solidFill>
              </a:rPr>
              <a:t>Porém adoção ainda não é uniforme em toda empresa</a:t>
            </a:r>
          </a:p>
          <a:p>
            <a:r>
              <a:rPr lang="pt-BR" b="1" dirty="0">
                <a:solidFill>
                  <a:schemeClr val="bg1"/>
                </a:solidFill>
              </a:rPr>
              <a:t>Impacto:</a:t>
            </a:r>
            <a:r>
              <a:rPr lang="pt-BR" dirty="0">
                <a:solidFill>
                  <a:schemeClr val="bg1"/>
                </a:solidFill>
              </a:rPr>
              <a:t> desalinhamento entre discurso executivo e execução operacional.</a:t>
            </a:r>
          </a:p>
          <a:p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6360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660E1A-E482-D31A-3E72-8479A3115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DBF8EE37-A1FB-81B8-4A55-1DF4B0FBF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50039"/>
            <a:ext cx="9667876" cy="549275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1.Background e </a:t>
            </a:r>
            <a:r>
              <a:rPr lang="pt-BR" b="1" dirty="0" err="1">
                <a:solidFill>
                  <a:schemeClr val="bg1"/>
                </a:solidFill>
              </a:rPr>
              <a:t>Maturity</a:t>
            </a:r>
            <a:r>
              <a:rPr lang="pt-BR" b="1" dirty="0">
                <a:solidFill>
                  <a:schemeClr val="bg1"/>
                </a:solidFill>
              </a:rPr>
              <a:t> </a:t>
            </a:r>
            <a:r>
              <a:rPr lang="pt-BR" b="1" dirty="0" err="1">
                <a:solidFill>
                  <a:schemeClr val="bg1"/>
                </a:solidFill>
              </a:rPr>
              <a:t>Level</a:t>
            </a:r>
            <a:r>
              <a:rPr lang="pt-BR" b="1" dirty="0">
                <a:solidFill>
                  <a:schemeClr val="bg1"/>
                </a:solidFill>
              </a:rPr>
              <a:t> Assessment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E54815ED-726D-2CF2-169B-E1F6EDD2CEA1}"/>
              </a:ext>
            </a:extLst>
          </p:cNvPr>
          <p:cNvSpPr txBox="1">
            <a:spLocks noChangeArrowheads="1"/>
          </p:cNvSpPr>
          <p:nvPr/>
        </p:nvSpPr>
        <p:spPr>
          <a:xfrm>
            <a:off x="838202" y="1093788"/>
            <a:ext cx="10613065" cy="53594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4" marR="0" lvl="0" indent="-228604" algn="just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F594594-1CED-4B03-4D65-DD1BC2411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3" y="831492"/>
            <a:ext cx="3439158" cy="87449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E51AC3C-C6E4-B255-A985-9E47435F395B}"/>
              </a:ext>
            </a:extLst>
          </p:cNvPr>
          <p:cNvSpPr txBox="1"/>
          <p:nvPr/>
        </p:nvSpPr>
        <p:spPr>
          <a:xfrm>
            <a:off x="914400" y="2011680"/>
            <a:ext cx="1026053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Pain Points e Desafios Identificados</a:t>
            </a:r>
            <a:r>
              <a:rPr lang="pt-BR" dirty="0">
                <a:solidFill>
                  <a:schemeClr val="bg1"/>
                </a:solidFill>
              </a:rPr>
              <a:t>:</a:t>
            </a:r>
            <a:br>
              <a:rPr lang="pt-BR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Dados</a:t>
            </a:r>
          </a:p>
          <a:p>
            <a:r>
              <a:rPr lang="pt-BR" dirty="0">
                <a:solidFill>
                  <a:schemeClr val="bg1"/>
                </a:solidFill>
              </a:rPr>
              <a:t>Sistema de registro e hierarquias ainda não totalmente padronizados</a:t>
            </a:r>
          </a:p>
          <a:p>
            <a:r>
              <a:rPr lang="pt-BR" dirty="0">
                <a:solidFill>
                  <a:schemeClr val="bg1"/>
                </a:solidFill>
              </a:rPr>
              <a:t>Métricas de qualidade existem, mas não em escala corporativa</a:t>
            </a:r>
          </a:p>
          <a:p>
            <a:r>
              <a:rPr lang="pt-BR" b="1" dirty="0">
                <a:solidFill>
                  <a:schemeClr val="bg1"/>
                </a:solidFill>
              </a:rPr>
              <a:t>Impacto:</a:t>
            </a:r>
            <a:r>
              <a:rPr lang="pt-BR" dirty="0">
                <a:solidFill>
                  <a:schemeClr val="bg1"/>
                </a:solidFill>
              </a:rPr>
              <a:t> divergência de relatórios e confiabilidade parcial.</a:t>
            </a:r>
          </a:p>
          <a:p>
            <a:br>
              <a:rPr lang="pt-BR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Tecnologia</a:t>
            </a:r>
          </a:p>
          <a:p>
            <a:r>
              <a:rPr lang="pt-BR" dirty="0">
                <a:solidFill>
                  <a:schemeClr val="bg1"/>
                </a:solidFill>
              </a:rPr>
              <a:t>Ferramentas existem, porém: </a:t>
            </a:r>
          </a:p>
          <a:p>
            <a:pPr lvl="1"/>
            <a:r>
              <a:rPr lang="pt-BR" dirty="0">
                <a:solidFill>
                  <a:schemeClr val="bg1"/>
                </a:solidFill>
              </a:rPr>
              <a:t>integrações não são completas</a:t>
            </a:r>
          </a:p>
          <a:p>
            <a:pPr lvl="1"/>
            <a:r>
              <a:rPr lang="pt-BR" dirty="0">
                <a:solidFill>
                  <a:schemeClr val="bg1"/>
                </a:solidFill>
              </a:rPr>
              <a:t>arquitetura ainda não totalmente corporativa</a:t>
            </a:r>
          </a:p>
          <a:p>
            <a:r>
              <a:rPr lang="pt-BR" b="1" dirty="0">
                <a:solidFill>
                  <a:schemeClr val="bg1"/>
                </a:solidFill>
              </a:rPr>
              <a:t>Impacto:</a:t>
            </a:r>
            <a:r>
              <a:rPr lang="pt-BR" dirty="0">
                <a:solidFill>
                  <a:schemeClr val="bg1"/>
                </a:solidFill>
              </a:rPr>
              <a:t> dependência de soluções locais e dificuldade de escalar governança.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endParaRPr lang="pt-BR" dirty="0">
              <a:solidFill>
                <a:schemeClr val="bg1"/>
              </a:solidFill>
            </a:endParaRPr>
          </a:p>
          <a:p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162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D5BD95-E2ED-6800-8C04-12F18EE19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8D8E741-085C-7684-916F-77E8694CE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50039"/>
            <a:ext cx="9667876" cy="549275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1.Background e </a:t>
            </a:r>
            <a:r>
              <a:rPr lang="pt-BR" b="1" dirty="0" err="1">
                <a:solidFill>
                  <a:schemeClr val="bg1"/>
                </a:solidFill>
              </a:rPr>
              <a:t>Maturity</a:t>
            </a:r>
            <a:r>
              <a:rPr lang="pt-BR" b="1" dirty="0">
                <a:solidFill>
                  <a:schemeClr val="bg1"/>
                </a:solidFill>
              </a:rPr>
              <a:t> </a:t>
            </a:r>
            <a:r>
              <a:rPr lang="pt-BR" b="1" dirty="0" err="1">
                <a:solidFill>
                  <a:schemeClr val="bg1"/>
                </a:solidFill>
              </a:rPr>
              <a:t>Level</a:t>
            </a:r>
            <a:r>
              <a:rPr lang="pt-BR" b="1" dirty="0">
                <a:solidFill>
                  <a:schemeClr val="bg1"/>
                </a:solidFill>
              </a:rPr>
              <a:t> Assessment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5296DF54-0320-5A72-51F7-FDD2611BD1A4}"/>
              </a:ext>
            </a:extLst>
          </p:cNvPr>
          <p:cNvSpPr txBox="1">
            <a:spLocks noChangeArrowheads="1"/>
          </p:cNvSpPr>
          <p:nvPr/>
        </p:nvSpPr>
        <p:spPr>
          <a:xfrm>
            <a:off x="838202" y="1093788"/>
            <a:ext cx="10613065" cy="53594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4" marR="0" lvl="0" indent="-228604" algn="just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F1A15A0-38F3-9CB0-EC08-D88A44FCA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3" y="831492"/>
            <a:ext cx="3439158" cy="87449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3FC79284-F5B4-F604-10C1-53A3BC5AC484}"/>
              </a:ext>
            </a:extLst>
          </p:cNvPr>
          <p:cNvSpPr txBox="1"/>
          <p:nvPr/>
        </p:nvSpPr>
        <p:spPr>
          <a:xfrm>
            <a:off x="914400" y="2011680"/>
            <a:ext cx="1026053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Principais Impactos para o Negócio</a:t>
            </a:r>
          </a:p>
          <a:p>
            <a:endParaRPr lang="pt-BR" b="1" dirty="0">
              <a:solidFill>
                <a:schemeClr val="bg1"/>
              </a:solidFill>
            </a:endParaRPr>
          </a:p>
          <a:p>
            <a:r>
              <a:rPr lang="pt-BR" b="1" dirty="0">
                <a:solidFill>
                  <a:schemeClr val="bg1"/>
                </a:solidFill>
              </a:rPr>
              <a:t>Impactos Operacionais</a:t>
            </a:r>
          </a:p>
          <a:p>
            <a:r>
              <a:rPr lang="pt-BR" dirty="0">
                <a:solidFill>
                  <a:schemeClr val="bg1"/>
                </a:solidFill>
              </a:rPr>
              <a:t>Retrabalho analítico</a:t>
            </a:r>
          </a:p>
          <a:p>
            <a:r>
              <a:rPr lang="pt-BR" dirty="0">
                <a:solidFill>
                  <a:schemeClr val="bg1"/>
                </a:solidFill>
              </a:rPr>
              <a:t>divergência de indicadores</a:t>
            </a:r>
          </a:p>
          <a:p>
            <a:r>
              <a:rPr lang="pt-BR" dirty="0">
                <a:solidFill>
                  <a:schemeClr val="bg1"/>
                </a:solidFill>
              </a:rPr>
              <a:t>validações manuais</a:t>
            </a:r>
          </a:p>
          <a:p>
            <a:endParaRPr lang="pt-BR" b="1" dirty="0">
              <a:solidFill>
                <a:schemeClr val="bg1"/>
              </a:solidFill>
            </a:endParaRPr>
          </a:p>
          <a:p>
            <a:r>
              <a:rPr lang="pt-BR" b="1" dirty="0">
                <a:solidFill>
                  <a:schemeClr val="bg1"/>
                </a:solidFill>
              </a:rPr>
              <a:t>Impactos Estratégicos</a:t>
            </a:r>
          </a:p>
          <a:p>
            <a:r>
              <a:rPr lang="pt-BR" dirty="0">
                <a:solidFill>
                  <a:schemeClr val="bg1"/>
                </a:solidFill>
              </a:rPr>
              <a:t>decisões baseadas em dados parcialmente confiáveis</a:t>
            </a:r>
          </a:p>
          <a:p>
            <a:r>
              <a:rPr lang="pt-BR" dirty="0">
                <a:solidFill>
                  <a:schemeClr val="bg1"/>
                </a:solidFill>
              </a:rPr>
              <a:t>dificuldade de escalar </a:t>
            </a:r>
            <a:r>
              <a:rPr lang="pt-BR" dirty="0" err="1">
                <a:solidFill>
                  <a:schemeClr val="bg1"/>
                </a:solidFill>
              </a:rPr>
              <a:t>analytics</a:t>
            </a:r>
            <a:r>
              <a:rPr lang="pt-BR" dirty="0">
                <a:solidFill>
                  <a:schemeClr val="bg1"/>
                </a:solidFill>
              </a:rPr>
              <a:t> e IA</a:t>
            </a:r>
          </a:p>
          <a:p>
            <a:r>
              <a:rPr lang="pt-BR" dirty="0">
                <a:solidFill>
                  <a:schemeClr val="bg1"/>
                </a:solidFill>
              </a:rPr>
              <a:t>maior risco regulatório</a:t>
            </a:r>
          </a:p>
          <a:p>
            <a:endParaRPr lang="pt-BR" b="1" dirty="0">
              <a:solidFill>
                <a:schemeClr val="bg1"/>
              </a:solidFill>
            </a:endParaRPr>
          </a:p>
          <a:p>
            <a:r>
              <a:rPr lang="pt-BR" b="1" dirty="0">
                <a:solidFill>
                  <a:schemeClr val="bg1"/>
                </a:solidFill>
              </a:rPr>
              <a:t>Impactos Financeiros</a:t>
            </a:r>
          </a:p>
          <a:p>
            <a:r>
              <a:rPr lang="pt-BR" dirty="0">
                <a:solidFill>
                  <a:schemeClr val="bg1"/>
                </a:solidFill>
              </a:rPr>
              <a:t>custo oculto de reconciliação de dados</a:t>
            </a:r>
          </a:p>
          <a:p>
            <a:r>
              <a:rPr lang="pt-BR" dirty="0">
                <a:solidFill>
                  <a:schemeClr val="bg1"/>
                </a:solidFill>
              </a:rPr>
              <a:t>atraso em projetos de dados</a:t>
            </a:r>
          </a:p>
          <a:p>
            <a:r>
              <a:rPr lang="pt-BR" dirty="0">
                <a:solidFill>
                  <a:schemeClr val="bg1"/>
                </a:solidFill>
              </a:rPr>
              <a:t>baixa eficiência de times analíticos</a:t>
            </a:r>
          </a:p>
        </p:txBody>
      </p:sp>
    </p:spTree>
    <p:extLst>
      <p:ext uri="{BB962C8B-B14F-4D97-AF65-F5344CB8AC3E}">
        <p14:creationId xmlns:p14="http://schemas.microsoft.com/office/powerpoint/2010/main" val="793494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>
            <a:extLst>
              <a:ext uri="{FF2B5EF4-FFF2-40B4-BE49-F238E27FC236}">
                <a16:creationId xmlns:a16="http://schemas.microsoft.com/office/drawing/2014/main" id="{84193AE4-9F3B-4F3C-B4F9-489096D923E5}"/>
              </a:ext>
            </a:extLst>
          </p:cNvPr>
          <p:cNvSpPr txBox="1">
            <a:spLocks noChangeArrowheads="1"/>
          </p:cNvSpPr>
          <p:nvPr/>
        </p:nvSpPr>
        <p:spPr>
          <a:xfrm>
            <a:off x="838202" y="1093788"/>
            <a:ext cx="10613065" cy="53594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4" marR="0" lvl="0" indent="-228604" algn="just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806D67F-51F7-48EE-ADD4-A482A6A17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26" y="753136"/>
            <a:ext cx="3438000" cy="874204"/>
          </a:xfrm>
          <a:prstGeom prst="rect">
            <a:avLst/>
          </a:prstGeom>
        </p:spPr>
      </p:pic>
      <p:sp>
        <p:nvSpPr>
          <p:cNvPr id="13" name="Título 2">
            <a:extLst>
              <a:ext uri="{FF2B5EF4-FFF2-40B4-BE49-F238E27FC236}">
                <a16:creationId xmlns:a16="http://schemas.microsoft.com/office/drawing/2014/main" id="{924C5908-27B9-4C09-BEBA-E8AF68467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50039"/>
            <a:ext cx="9667876" cy="549275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2.Estratégia e Escopo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C565D63-D888-EDE8-630A-7753A1017BF9}"/>
              </a:ext>
            </a:extLst>
          </p:cNvPr>
          <p:cNvSpPr txBox="1"/>
          <p:nvPr/>
        </p:nvSpPr>
        <p:spPr>
          <a:xfrm>
            <a:off x="1232034" y="1828802"/>
            <a:ext cx="1020960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Propósito Estratégico</a:t>
            </a:r>
          </a:p>
          <a:p>
            <a:r>
              <a:rPr lang="pt-BR" dirty="0">
                <a:solidFill>
                  <a:schemeClr val="bg1"/>
                </a:solidFill>
              </a:rPr>
              <a:t>Estabelecer um modelo corporativo de gestão de Dados Mestres que assegure consistência, confiabilidade, rastreabilidade e governança ponta-a-ponta, suportando decisões estratégicas, eficiência operacional e conformidade regulatória.</a:t>
            </a:r>
          </a:p>
          <a:p>
            <a:br>
              <a:rPr lang="pt-BR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Questões-chave que devem ser endereçadas</a:t>
            </a:r>
          </a:p>
          <a:p>
            <a:r>
              <a:rPr lang="pt-BR" dirty="0">
                <a:solidFill>
                  <a:schemeClr val="bg1"/>
                </a:solidFill>
              </a:rPr>
              <a:t>Como garantir qualidade contínua dos dados?</a:t>
            </a:r>
          </a:p>
          <a:p>
            <a:r>
              <a:rPr lang="pt-BR" dirty="0">
                <a:solidFill>
                  <a:schemeClr val="bg1"/>
                </a:solidFill>
              </a:rPr>
              <a:t>Como padronizar solicitações de criação e alteração?</a:t>
            </a:r>
          </a:p>
          <a:p>
            <a:r>
              <a:rPr lang="pt-BR" dirty="0">
                <a:solidFill>
                  <a:schemeClr val="bg1"/>
                </a:solidFill>
              </a:rPr>
              <a:t>Como integrar sistemas mantendo consistência?</a:t>
            </a:r>
          </a:p>
          <a:p>
            <a:r>
              <a:rPr lang="pt-BR" dirty="0">
                <a:solidFill>
                  <a:schemeClr val="bg1"/>
                </a:solidFill>
              </a:rPr>
              <a:t>Como medir sucesso e adoção?</a:t>
            </a:r>
          </a:p>
          <a:p>
            <a:r>
              <a:rPr lang="pt-BR" dirty="0">
                <a:solidFill>
                  <a:schemeClr val="bg1"/>
                </a:solidFill>
              </a:rPr>
              <a:t>Como evitar redundância e duplicidade?</a:t>
            </a:r>
          </a:p>
          <a:p>
            <a:r>
              <a:rPr lang="pt-BR" dirty="0">
                <a:solidFill>
                  <a:schemeClr val="bg1"/>
                </a:solidFill>
              </a:rPr>
              <a:t>Como garantir compliance e auditabilidade?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26579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29978C-3C03-EC6E-7423-58E4EB86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>
            <a:extLst>
              <a:ext uri="{FF2B5EF4-FFF2-40B4-BE49-F238E27FC236}">
                <a16:creationId xmlns:a16="http://schemas.microsoft.com/office/drawing/2014/main" id="{B0B6E200-FE20-65DF-FC1A-B936958501DD}"/>
              </a:ext>
            </a:extLst>
          </p:cNvPr>
          <p:cNvSpPr txBox="1">
            <a:spLocks noChangeArrowheads="1"/>
          </p:cNvSpPr>
          <p:nvPr/>
        </p:nvSpPr>
        <p:spPr>
          <a:xfrm>
            <a:off x="838202" y="1093788"/>
            <a:ext cx="10613065" cy="53594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4" marR="0" lvl="0" indent="-228604" algn="just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D158FD7-EC8F-0536-23F3-0E319A3E5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26" y="753136"/>
            <a:ext cx="3438000" cy="874204"/>
          </a:xfrm>
          <a:prstGeom prst="rect">
            <a:avLst/>
          </a:prstGeom>
        </p:spPr>
      </p:pic>
      <p:sp>
        <p:nvSpPr>
          <p:cNvPr id="13" name="Título 2">
            <a:extLst>
              <a:ext uri="{FF2B5EF4-FFF2-40B4-BE49-F238E27FC236}">
                <a16:creationId xmlns:a16="http://schemas.microsoft.com/office/drawing/2014/main" id="{FAC73518-EF89-E8A6-A0D2-798735805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50039"/>
            <a:ext cx="9667876" cy="549275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2.Estratégia e Escopo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FA46108-87AB-5E75-0BB3-977BC4D2C7FB}"/>
              </a:ext>
            </a:extLst>
          </p:cNvPr>
          <p:cNvSpPr txBox="1"/>
          <p:nvPr/>
        </p:nvSpPr>
        <p:spPr>
          <a:xfrm>
            <a:off x="1232034" y="1828802"/>
            <a:ext cx="1020960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Objetivos por Horizonte de Tempo</a:t>
            </a:r>
          </a:p>
          <a:p>
            <a:r>
              <a:rPr lang="pt-BR" b="1" dirty="0">
                <a:solidFill>
                  <a:schemeClr val="bg1"/>
                </a:solidFill>
              </a:rPr>
              <a:t>Curto Prazo (3–6 meses)</a:t>
            </a:r>
          </a:p>
          <a:p>
            <a:r>
              <a:rPr lang="pt-BR" dirty="0">
                <a:solidFill>
                  <a:schemeClr val="bg1"/>
                </a:solidFill>
              </a:rPr>
              <a:t>Implementar catálogo de dados mestres</a:t>
            </a:r>
          </a:p>
          <a:p>
            <a:r>
              <a:rPr lang="pt-BR" dirty="0">
                <a:solidFill>
                  <a:schemeClr val="bg1"/>
                </a:solidFill>
              </a:rPr>
              <a:t>Definir métricas e dashboards de governança</a:t>
            </a:r>
          </a:p>
          <a:p>
            <a:r>
              <a:rPr lang="pt-BR" dirty="0">
                <a:solidFill>
                  <a:schemeClr val="bg1"/>
                </a:solidFill>
              </a:rPr>
              <a:t>Criar comitê de governança</a:t>
            </a:r>
          </a:p>
          <a:p>
            <a:br>
              <a:rPr lang="pt-BR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Médio Prazo (6–12 meses)</a:t>
            </a:r>
          </a:p>
          <a:p>
            <a:r>
              <a:rPr lang="pt-BR" dirty="0">
                <a:solidFill>
                  <a:schemeClr val="bg1"/>
                </a:solidFill>
              </a:rPr>
              <a:t>Integrar sistemas críticos com modelo mestre</a:t>
            </a:r>
          </a:p>
          <a:p>
            <a:r>
              <a:rPr lang="pt-BR" dirty="0">
                <a:solidFill>
                  <a:schemeClr val="bg1"/>
                </a:solidFill>
              </a:rPr>
              <a:t>Melhorar automação validações de qualidade atual </a:t>
            </a:r>
          </a:p>
          <a:p>
            <a:r>
              <a:rPr lang="pt-BR" dirty="0">
                <a:solidFill>
                  <a:schemeClr val="bg1"/>
                </a:solidFill>
              </a:rPr>
              <a:t>Implantar ferramenta MDM ou hub central</a:t>
            </a:r>
          </a:p>
          <a:p>
            <a:r>
              <a:rPr lang="pt-BR" dirty="0">
                <a:solidFill>
                  <a:schemeClr val="bg1"/>
                </a:solidFill>
              </a:rPr>
              <a:t>Consolidar dicionário de dados corporativo</a:t>
            </a:r>
          </a:p>
          <a:p>
            <a:br>
              <a:rPr lang="pt-BR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Longo Prazo (12–24 meses)</a:t>
            </a:r>
          </a:p>
          <a:p>
            <a:r>
              <a:rPr lang="pt-BR" dirty="0">
                <a:solidFill>
                  <a:schemeClr val="bg1"/>
                </a:solidFill>
              </a:rPr>
              <a:t>Governança totalmente corporativa e integrada</a:t>
            </a:r>
          </a:p>
          <a:p>
            <a:r>
              <a:rPr lang="pt-BR" dirty="0">
                <a:solidFill>
                  <a:schemeClr val="bg1"/>
                </a:solidFill>
              </a:rPr>
              <a:t>Melhorar o processo de monitoramento contínuo com alertas automáticos</a:t>
            </a:r>
          </a:p>
          <a:p>
            <a:r>
              <a:rPr lang="pt-BR" dirty="0">
                <a:solidFill>
                  <a:schemeClr val="bg1"/>
                </a:solidFill>
              </a:rPr>
              <a:t>Governança incorporada ao ciclo de projetos</a:t>
            </a:r>
          </a:p>
          <a:p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46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D86856-75B5-4141-7BEE-A9A828498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>
            <a:extLst>
              <a:ext uri="{FF2B5EF4-FFF2-40B4-BE49-F238E27FC236}">
                <a16:creationId xmlns:a16="http://schemas.microsoft.com/office/drawing/2014/main" id="{AF2C80D3-847D-8833-86F6-151A32409CA7}"/>
              </a:ext>
            </a:extLst>
          </p:cNvPr>
          <p:cNvSpPr txBox="1">
            <a:spLocks noChangeArrowheads="1"/>
          </p:cNvSpPr>
          <p:nvPr/>
        </p:nvSpPr>
        <p:spPr>
          <a:xfrm>
            <a:off x="838202" y="1093788"/>
            <a:ext cx="10613065" cy="53594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4" marR="0" lvl="0" indent="-228604" algn="just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24AE3E4-6C51-733D-08A4-8BC74C412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26" y="753136"/>
            <a:ext cx="3438000" cy="874204"/>
          </a:xfrm>
          <a:prstGeom prst="rect">
            <a:avLst/>
          </a:prstGeom>
        </p:spPr>
      </p:pic>
      <p:sp>
        <p:nvSpPr>
          <p:cNvPr id="13" name="Título 2">
            <a:extLst>
              <a:ext uri="{FF2B5EF4-FFF2-40B4-BE49-F238E27FC236}">
                <a16:creationId xmlns:a16="http://schemas.microsoft.com/office/drawing/2014/main" id="{372B778C-CFF3-228C-AC36-B30F15004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50039"/>
            <a:ext cx="9667876" cy="549275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2.Estratégia e Escopo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676E177-0A35-7335-AFC3-F5B3FBF27254}"/>
              </a:ext>
            </a:extLst>
          </p:cNvPr>
          <p:cNvSpPr txBox="1"/>
          <p:nvPr/>
        </p:nvSpPr>
        <p:spPr>
          <a:xfrm>
            <a:off x="1232034" y="1828802"/>
            <a:ext cx="409073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Métricas de Sucesso do Programa</a:t>
            </a:r>
          </a:p>
          <a:p>
            <a:r>
              <a:rPr lang="pt-BR" b="1" dirty="0">
                <a:solidFill>
                  <a:schemeClr val="bg1"/>
                </a:solidFill>
              </a:rPr>
              <a:t>Qualidade de Dados</a:t>
            </a:r>
          </a:p>
          <a:p>
            <a:r>
              <a:rPr lang="pt-BR" dirty="0">
                <a:solidFill>
                  <a:schemeClr val="bg1"/>
                </a:solidFill>
              </a:rPr>
              <a:t>% registros duplicados</a:t>
            </a:r>
          </a:p>
          <a:p>
            <a:r>
              <a:rPr lang="pt-BR" dirty="0">
                <a:solidFill>
                  <a:schemeClr val="bg1"/>
                </a:solidFill>
              </a:rPr>
              <a:t>% completude de atributos críticos</a:t>
            </a:r>
          </a:p>
          <a:p>
            <a:r>
              <a:rPr lang="pt-BR" dirty="0">
                <a:solidFill>
                  <a:schemeClr val="bg1"/>
                </a:solidFill>
              </a:rPr>
              <a:t>taxa de erros detectados</a:t>
            </a:r>
          </a:p>
          <a:p>
            <a:endParaRPr lang="pt-BR" b="1" dirty="0">
              <a:solidFill>
                <a:schemeClr val="bg1"/>
              </a:solidFill>
            </a:endParaRPr>
          </a:p>
          <a:p>
            <a:r>
              <a:rPr lang="pt-BR" b="1" dirty="0">
                <a:solidFill>
                  <a:schemeClr val="bg1"/>
                </a:solidFill>
              </a:rPr>
              <a:t>Eficiência Operacional</a:t>
            </a:r>
          </a:p>
          <a:p>
            <a:r>
              <a:rPr lang="pt-BR" dirty="0">
                <a:solidFill>
                  <a:schemeClr val="bg1"/>
                </a:solidFill>
              </a:rPr>
              <a:t>tempo médio para criação de cadastro</a:t>
            </a:r>
          </a:p>
          <a:p>
            <a:r>
              <a:rPr lang="pt-BR" dirty="0">
                <a:solidFill>
                  <a:schemeClr val="bg1"/>
                </a:solidFill>
              </a:rPr>
              <a:t>número de retrabalhos</a:t>
            </a:r>
          </a:p>
          <a:p>
            <a:r>
              <a:rPr lang="pt-BR" dirty="0">
                <a:solidFill>
                  <a:schemeClr val="bg1"/>
                </a:solidFill>
              </a:rPr>
              <a:t>volume de solicitações pendentes</a:t>
            </a:r>
          </a:p>
          <a:p>
            <a:endParaRPr lang="pt-BR" b="1" dirty="0">
              <a:solidFill>
                <a:schemeClr val="bg1"/>
              </a:solidFill>
            </a:endParaRPr>
          </a:p>
          <a:p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CA9C17E-DBC1-85B3-A3E5-2E3A4E3E782F}"/>
              </a:ext>
            </a:extLst>
          </p:cNvPr>
          <p:cNvSpPr txBox="1"/>
          <p:nvPr/>
        </p:nvSpPr>
        <p:spPr>
          <a:xfrm>
            <a:off x="5812055" y="2105801"/>
            <a:ext cx="409073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Adoção</a:t>
            </a:r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% áreas aderentes ao processo padrão</a:t>
            </a:r>
          </a:p>
          <a:p>
            <a:r>
              <a:rPr lang="pt-BR" dirty="0">
                <a:solidFill>
                  <a:schemeClr val="bg1"/>
                </a:solidFill>
              </a:rPr>
              <a:t>uso do catálogo de dados</a:t>
            </a:r>
          </a:p>
          <a:p>
            <a:r>
              <a:rPr lang="pt-BR" dirty="0">
                <a:solidFill>
                  <a:schemeClr val="bg1"/>
                </a:solidFill>
              </a:rPr>
              <a:t>participação em comitês</a:t>
            </a:r>
          </a:p>
          <a:p>
            <a:endParaRPr lang="pt-BR" b="1" dirty="0">
              <a:solidFill>
                <a:schemeClr val="bg1"/>
              </a:solidFill>
            </a:endParaRPr>
          </a:p>
          <a:p>
            <a:r>
              <a:rPr lang="pt-BR" b="1" dirty="0">
                <a:solidFill>
                  <a:schemeClr val="bg1"/>
                </a:solidFill>
              </a:rPr>
              <a:t>Valor de Negócio</a:t>
            </a:r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redução de inconsistências em relatórios</a:t>
            </a:r>
          </a:p>
          <a:p>
            <a:r>
              <a:rPr lang="pt-BR" dirty="0">
                <a:solidFill>
                  <a:schemeClr val="bg1"/>
                </a:solidFill>
              </a:rPr>
              <a:t>redução de reconciliações manuais</a:t>
            </a:r>
          </a:p>
          <a:p>
            <a:r>
              <a:rPr lang="pt-BR" dirty="0">
                <a:solidFill>
                  <a:schemeClr val="bg1"/>
                </a:solidFill>
              </a:rPr>
              <a:t>ganho de produtividade analítica</a:t>
            </a:r>
          </a:p>
          <a:p>
            <a:endParaRPr lang="pt-BR" b="1" dirty="0">
              <a:solidFill>
                <a:schemeClr val="bg1"/>
              </a:solidFill>
            </a:endParaRPr>
          </a:p>
          <a:p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0807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09B697-704E-6B38-3BC7-F2BE47488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>
            <a:extLst>
              <a:ext uri="{FF2B5EF4-FFF2-40B4-BE49-F238E27FC236}">
                <a16:creationId xmlns:a16="http://schemas.microsoft.com/office/drawing/2014/main" id="{E277D983-B874-C80F-4AC2-B26AF6ECFEA3}"/>
              </a:ext>
            </a:extLst>
          </p:cNvPr>
          <p:cNvSpPr txBox="1">
            <a:spLocks noChangeArrowheads="1"/>
          </p:cNvSpPr>
          <p:nvPr/>
        </p:nvSpPr>
        <p:spPr>
          <a:xfrm>
            <a:off x="838202" y="1093788"/>
            <a:ext cx="10613065" cy="53594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4" marR="0" lvl="0" indent="-228604" algn="just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F24F8D89-586E-4AE4-0986-953609CD4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26" y="753136"/>
            <a:ext cx="3438000" cy="874204"/>
          </a:xfrm>
          <a:prstGeom prst="rect">
            <a:avLst/>
          </a:prstGeom>
        </p:spPr>
      </p:pic>
      <p:sp>
        <p:nvSpPr>
          <p:cNvPr id="13" name="Título 2">
            <a:extLst>
              <a:ext uri="{FF2B5EF4-FFF2-40B4-BE49-F238E27FC236}">
                <a16:creationId xmlns:a16="http://schemas.microsoft.com/office/drawing/2014/main" id="{4E0F54AF-E530-C574-8E7B-7EA8627C5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50039"/>
            <a:ext cx="9667876" cy="549275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2.Estratégia e Escopo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419764F-6B4A-90B0-AEE4-E2885483971E}"/>
              </a:ext>
            </a:extLst>
          </p:cNvPr>
          <p:cNvSpPr txBox="1"/>
          <p:nvPr/>
        </p:nvSpPr>
        <p:spPr>
          <a:xfrm>
            <a:off x="1232034" y="1828802"/>
            <a:ext cx="486396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Processo — Fluxo Operacional de Dados Mestres</a:t>
            </a:r>
          </a:p>
          <a:p>
            <a:r>
              <a:rPr lang="pt-BR" b="1" dirty="0">
                <a:solidFill>
                  <a:schemeClr val="bg1"/>
                </a:solidFill>
              </a:rPr>
              <a:t>Criação</a:t>
            </a:r>
          </a:p>
          <a:p>
            <a:r>
              <a:rPr lang="pt-BR" dirty="0">
                <a:solidFill>
                  <a:schemeClr val="bg1"/>
                </a:solidFill>
              </a:rPr>
              <a:t>Solicitante abre requisição padronizada</a:t>
            </a:r>
          </a:p>
          <a:p>
            <a:r>
              <a:rPr lang="pt-BR" dirty="0">
                <a:solidFill>
                  <a:schemeClr val="bg1"/>
                </a:solidFill>
              </a:rPr>
              <a:t>Aprovação do Data </a:t>
            </a:r>
            <a:r>
              <a:rPr lang="pt-BR" dirty="0" err="1">
                <a:solidFill>
                  <a:schemeClr val="bg1"/>
                </a:solidFill>
              </a:rPr>
              <a:t>Owner</a:t>
            </a:r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Cadastro executado pelo Steward</a:t>
            </a:r>
          </a:p>
          <a:p>
            <a:r>
              <a:rPr lang="pt-BR" dirty="0">
                <a:solidFill>
                  <a:schemeClr val="bg1"/>
                </a:solidFill>
              </a:rPr>
              <a:t>Publicação e sincronização sistêmica</a:t>
            </a:r>
          </a:p>
          <a:p>
            <a:endParaRPr lang="pt-BR" b="1" dirty="0">
              <a:solidFill>
                <a:schemeClr val="bg1"/>
              </a:solidFill>
            </a:endParaRPr>
          </a:p>
          <a:p>
            <a:r>
              <a:rPr lang="pt-BR" b="1" dirty="0">
                <a:solidFill>
                  <a:schemeClr val="bg1"/>
                </a:solidFill>
              </a:rPr>
              <a:t>Alteração</a:t>
            </a:r>
          </a:p>
          <a:p>
            <a:r>
              <a:rPr lang="pt-BR" dirty="0">
                <a:solidFill>
                  <a:schemeClr val="bg1"/>
                </a:solidFill>
              </a:rPr>
              <a:t>Solicitação com justificativa</a:t>
            </a:r>
          </a:p>
          <a:p>
            <a:r>
              <a:rPr lang="pt-BR" dirty="0">
                <a:solidFill>
                  <a:schemeClr val="bg1"/>
                </a:solidFill>
              </a:rPr>
              <a:t>Verificação de impacto</a:t>
            </a:r>
          </a:p>
          <a:p>
            <a:r>
              <a:rPr lang="pt-BR" dirty="0">
                <a:solidFill>
                  <a:schemeClr val="bg1"/>
                </a:solidFill>
              </a:rPr>
              <a:t>Aprovação</a:t>
            </a:r>
          </a:p>
          <a:p>
            <a:r>
              <a:rPr lang="pt-BR" dirty="0">
                <a:solidFill>
                  <a:schemeClr val="bg1"/>
                </a:solidFill>
              </a:rPr>
              <a:t>Atualização e versionamento</a:t>
            </a:r>
          </a:p>
          <a:p>
            <a:r>
              <a:rPr lang="pt-BR" dirty="0">
                <a:solidFill>
                  <a:schemeClr val="bg1"/>
                </a:solidFill>
              </a:rPr>
              <a:t>Comunicação às áreas impactadas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endParaRPr lang="pt-BR" b="1" dirty="0">
              <a:solidFill>
                <a:schemeClr val="bg1"/>
              </a:solidFill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E1CDCDD-A7FE-FF2A-D86F-9D62D6629D68}"/>
              </a:ext>
            </a:extLst>
          </p:cNvPr>
          <p:cNvSpPr txBox="1"/>
          <p:nvPr/>
        </p:nvSpPr>
        <p:spPr>
          <a:xfrm>
            <a:off x="6096000" y="2088682"/>
            <a:ext cx="46562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>
              <a:solidFill>
                <a:schemeClr val="bg1"/>
              </a:solidFill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60151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C4ADD6-3E1C-610C-1771-A323A085A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>
            <a:extLst>
              <a:ext uri="{FF2B5EF4-FFF2-40B4-BE49-F238E27FC236}">
                <a16:creationId xmlns:a16="http://schemas.microsoft.com/office/drawing/2014/main" id="{43A365FD-89DC-8BB6-8352-B618BC5F3B51}"/>
              </a:ext>
            </a:extLst>
          </p:cNvPr>
          <p:cNvSpPr txBox="1">
            <a:spLocks noChangeArrowheads="1"/>
          </p:cNvSpPr>
          <p:nvPr/>
        </p:nvSpPr>
        <p:spPr>
          <a:xfrm>
            <a:off x="838202" y="1093788"/>
            <a:ext cx="10613065" cy="53594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4" marR="0" lvl="0" indent="-228604" algn="just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AB55BBE9-E82C-4E6C-6D8B-261CD7604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26" y="753136"/>
            <a:ext cx="3438000" cy="874204"/>
          </a:xfrm>
          <a:prstGeom prst="rect">
            <a:avLst/>
          </a:prstGeom>
        </p:spPr>
      </p:pic>
      <p:sp>
        <p:nvSpPr>
          <p:cNvPr id="13" name="Título 2">
            <a:extLst>
              <a:ext uri="{FF2B5EF4-FFF2-40B4-BE49-F238E27FC236}">
                <a16:creationId xmlns:a16="http://schemas.microsoft.com/office/drawing/2014/main" id="{58AA0986-C426-7F93-9490-2A14C3F4D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50039"/>
            <a:ext cx="9667876" cy="549275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2.Estratégia e Escopo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946B4D3-3262-F371-C837-A181ECB90378}"/>
              </a:ext>
            </a:extLst>
          </p:cNvPr>
          <p:cNvSpPr txBox="1"/>
          <p:nvPr/>
        </p:nvSpPr>
        <p:spPr>
          <a:xfrm>
            <a:off x="1232034" y="1828802"/>
            <a:ext cx="10048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Pessoas — Modelo de Governança (“Quem é dono do quê”)</a:t>
            </a:r>
          </a:p>
          <a:p>
            <a:endParaRPr lang="pt-BR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DF5803D5-9D41-663A-5F8B-782AAFFA7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810479"/>
              </p:ext>
            </p:extLst>
          </p:nvPr>
        </p:nvGraphicFramePr>
        <p:xfrm>
          <a:off x="1232033" y="2225081"/>
          <a:ext cx="6439302" cy="1964690"/>
        </p:xfrm>
        <a:graphic>
          <a:graphicData uri="http://schemas.openxmlformats.org/drawingml/2006/table">
            <a:tbl>
              <a:tblPr/>
              <a:tblGrid>
                <a:gridCol w="1911403">
                  <a:extLst>
                    <a:ext uri="{9D8B030D-6E8A-4147-A177-3AD203B41FA5}">
                      <a16:colId xmlns:a16="http://schemas.microsoft.com/office/drawing/2014/main" val="1393181055"/>
                    </a:ext>
                  </a:extLst>
                </a:gridCol>
                <a:gridCol w="4527899">
                  <a:extLst>
                    <a:ext uri="{9D8B030D-6E8A-4147-A177-3AD203B41FA5}">
                      <a16:colId xmlns:a16="http://schemas.microsoft.com/office/drawing/2014/main" val="4045617792"/>
                    </a:ext>
                  </a:extLst>
                </a:gridCol>
              </a:tblGrid>
              <a:tr h="2142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Papel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Responsabilidade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2389621"/>
                  </a:ext>
                </a:extLst>
              </a:tr>
              <a:tr h="2142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Sponsor Executivo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Patrocínio e priorização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979863"/>
                  </a:ext>
                </a:extLst>
              </a:tr>
              <a:tr h="2142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 Owner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Responsável pelo domínio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3703043"/>
                  </a:ext>
                </a:extLst>
              </a:tr>
              <a:tr h="2142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 Steward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Gestão operacional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6584144"/>
                  </a:ext>
                </a:extLst>
              </a:tr>
              <a:tr h="2142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 / Arquitetura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Plataforma e integrações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942508"/>
                  </a:ext>
                </a:extLst>
              </a:tr>
              <a:tr h="2142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Governança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Políticas e compliance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8921700"/>
                  </a:ext>
                </a:extLst>
              </a:tr>
              <a:tr h="2142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Usuários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Solicitações e uso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3271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4522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9A893D-70C7-9084-ED8E-71D62CA40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>
            <a:extLst>
              <a:ext uri="{FF2B5EF4-FFF2-40B4-BE49-F238E27FC236}">
                <a16:creationId xmlns:a16="http://schemas.microsoft.com/office/drawing/2014/main" id="{2625EE3B-330C-CDF5-D422-8B0EBC28CECF}"/>
              </a:ext>
            </a:extLst>
          </p:cNvPr>
          <p:cNvSpPr txBox="1">
            <a:spLocks noChangeArrowheads="1"/>
          </p:cNvSpPr>
          <p:nvPr/>
        </p:nvSpPr>
        <p:spPr>
          <a:xfrm>
            <a:off x="838202" y="1093788"/>
            <a:ext cx="10613065" cy="53594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4" marR="0" lvl="0" indent="-228604" algn="just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2121BC5A-A7F6-A1D0-0C71-709E2675F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26" y="753136"/>
            <a:ext cx="3438000" cy="874204"/>
          </a:xfrm>
          <a:prstGeom prst="rect">
            <a:avLst/>
          </a:prstGeom>
        </p:spPr>
      </p:pic>
      <p:sp>
        <p:nvSpPr>
          <p:cNvPr id="13" name="Título 2">
            <a:extLst>
              <a:ext uri="{FF2B5EF4-FFF2-40B4-BE49-F238E27FC236}">
                <a16:creationId xmlns:a16="http://schemas.microsoft.com/office/drawing/2014/main" id="{7B0A6F9C-E0F2-DE24-1736-3062B68A1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50039"/>
            <a:ext cx="9667876" cy="549275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2.Estratégia e Escopo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4BAE6AE-BE94-2F6C-00A6-95BF694774EE}"/>
              </a:ext>
            </a:extLst>
          </p:cNvPr>
          <p:cNvSpPr txBox="1"/>
          <p:nvPr/>
        </p:nvSpPr>
        <p:spPr>
          <a:xfrm>
            <a:off x="1232035" y="1828802"/>
            <a:ext cx="431211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Sistemas — Arquitetura e Ferramentas</a:t>
            </a:r>
          </a:p>
          <a:p>
            <a:r>
              <a:rPr lang="pt-BR" b="1" dirty="0">
                <a:solidFill>
                  <a:schemeClr val="bg1"/>
                </a:solidFill>
              </a:rPr>
              <a:t>Camadas Tecnológicas Necessárias</a:t>
            </a:r>
          </a:p>
          <a:p>
            <a:endParaRPr lang="pt-BR" b="1" dirty="0">
              <a:solidFill>
                <a:schemeClr val="bg1"/>
              </a:solidFill>
            </a:endParaRPr>
          </a:p>
          <a:p>
            <a:r>
              <a:rPr lang="pt-BR" b="1" dirty="0">
                <a:solidFill>
                  <a:schemeClr val="bg1"/>
                </a:solidFill>
              </a:rPr>
              <a:t>1. Plataforma MDM</a:t>
            </a:r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repositório central</a:t>
            </a:r>
          </a:p>
          <a:p>
            <a:r>
              <a:rPr lang="pt-BR" dirty="0">
                <a:solidFill>
                  <a:schemeClr val="bg1"/>
                </a:solidFill>
              </a:rPr>
              <a:t>versionamento</a:t>
            </a:r>
          </a:p>
          <a:p>
            <a:r>
              <a:rPr lang="pt-BR" dirty="0">
                <a:solidFill>
                  <a:schemeClr val="bg1"/>
                </a:solidFill>
              </a:rPr>
              <a:t>regras de qualidade</a:t>
            </a:r>
          </a:p>
          <a:p>
            <a:endParaRPr lang="pt-BR" b="1" dirty="0">
              <a:solidFill>
                <a:schemeClr val="bg1"/>
              </a:solidFill>
            </a:endParaRPr>
          </a:p>
          <a:p>
            <a:r>
              <a:rPr lang="pt-BR" b="1" dirty="0">
                <a:solidFill>
                  <a:schemeClr val="bg1"/>
                </a:solidFill>
              </a:rPr>
              <a:t>2. Integração</a:t>
            </a:r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APIs</a:t>
            </a:r>
          </a:p>
          <a:p>
            <a:r>
              <a:rPr lang="pt-BR" dirty="0">
                <a:solidFill>
                  <a:schemeClr val="bg1"/>
                </a:solidFill>
              </a:rPr>
              <a:t>ETL/ELT</a:t>
            </a:r>
          </a:p>
          <a:p>
            <a:r>
              <a:rPr lang="pt-BR" dirty="0">
                <a:solidFill>
                  <a:schemeClr val="bg1"/>
                </a:solidFill>
              </a:rPr>
              <a:t>mensageria</a:t>
            </a:r>
          </a:p>
          <a:p>
            <a:endParaRPr lang="pt-BR" b="1" dirty="0">
              <a:solidFill>
                <a:schemeClr val="bg1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D072DDC-DA76-E8BD-49F5-B3E9455DE82E}"/>
              </a:ext>
            </a:extLst>
          </p:cNvPr>
          <p:cNvSpPr txBox="1"/>
          <p:nvPr/>
        </p:nvSpPr>
        <p:spPr>
          <a:xfrm>
            <a:off x="5744679" y="1828801"/>
            <a:ext cx="431211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b="1" dirty="0">
              <a:solidFill>
                <a:schemeClr val="bg1"/>
              </a:solidFill>
            </a:endParaRPr>
          </a:p>
          <a:p>
            <a:endParaRPr lang="pt-BR" b="1" dirty="0">
              <a:solidFill>
                <a:schemeClr val="bg1"/>
              </a:solidFill>
            </a:endParaRPr>
          </a:p>
          <a:p>
            <a:endParaRPr lang="pt-BR" b="1" dirty="0">
              <a:solidFill>
                <a:schemeClr val="bg1"/>
              </a:solidFill>
            </a:endParaRPr>
          </a:p>
          <a:p>
            <a:r>
              <a:rPr lang="pt-BR" b="1" dirty="0">
                <a:solidFill>
                  <a:schemeClr val="bg1"/>
                </a:solidFill>
              </a:rPr>
              <a:t>3. Governança</a:t>
            </a:r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catálogo de dados</a:t>
            </a:r>
          </a:p>
          <a:p>
            <a:r>
              <a:rPr lang="pt-BR" dirty="0">
                <a:solidFill>
                  <a:schemeClr val="bg1"/>
                </a:solidFill>
              </a:rPr>
              <a:t>glossário corporativo</a:t>
            </a:r>
          </a:p>
          <a:p>
            <a:r>
              <a:rPr lang="pt-BR" dirty="0">
                <a:solidFill>
                  <a:schemeClr val="bg1"/>
                </a:solidFill>
              </a:rPr>
              <a:t>workflow de aprovação</a:t>
            </a:r>
          </a:p>
          <a:p>
            <a:r>
              <a:rPr lang="pt-BR" b="1" dirty="0">
                <a:solidFill>
                  <a:schemeClr val="bg1"/>
                </a:solidFill>
              </a:rPr>
              <a:t>4. Monitoramento</a:t>
            </a:r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dashboards</a:t>
            </a:r>
          </a:p>
          <a:p>
            <a:r>
              <a:rPr lang="pt-BR" dirty="0">
                <a:solidFill>
                  <a:schemeClr val="bg1"/>
                </a:solidFill>
              </a:rPr>
              <a:t>alertas de qualidade</a:t>
            </a:r>
          </a:p>
          <a:p>
            <a:r>
              <a:rPr lang="pt-BR" dirty="0">
                <a:solidFill>
                  <a:schemeClr val="bg1"/>
                </a:solidFill>
              </a:rPr>
              <a:t>trilha de auditoria</a:t>
            </a:r>
          </a:p>
          <a:p>
            <a:endParaRPr lang="pt-B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649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20A459-02F8-7BC1-802E-002EF9C1A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>
            <a:extLst>
              <a:ext uri="{FF2B5EF4-FFF2-40B4-BE49-F238E27FC236}">
                <a16:creationId xmlns:a16="http://schemas.microsoft.com/office/drawing/2014/main" id="{325D15FD-6B90-0897-F789-A0F7863FE835}"/>
              </a:ext>
            </a:extLst>
          </p:cNvPr>
          <p:cNvSpPr txBox="1">
            <a:spLocks noChangeArrowheads="1"/>
          </p:cNvSpPr>
          <p:nvPr/>
        </p:nvSpPr>
        <p:spPr>
          <a:xfrm>
            <a:off x="838202" y="1093788"/>
            <a:ext cx="10613065" cy="53594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4" marR="0" lvl="0" indent="-228604" algn="just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C895F8E-F6CD-7AE0-0301-90F114F57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26" y="753136"/>
            <a:ext cx="3438000" cy="874204"/>
          </a:xfrm>
          <a:prstGeom prst="rect">
            <a:avLst/>
          </a:prstGeom>
        </p:spPr>
      </p:pic>
      <p:sp>
        <p:nvSpPr>
          <p:cNvPr id="13" name="Título 2">
            <a:extLst>
              <a:ext uri="{FF2B5EF4-FFF2-40B4-BE49-F238E27FC236}">
                <a16:creationId xmlns:a16="http://schemas.microsoft.com/office/drawing/2014/main" id="{9D5488BA-A430-7C70-1DBB-031EA3BBB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50039"/>
            <a:ext cx="9667876" cy="549275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2.Estratégia e Escopo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9A3DC6B-2017-A4EB-3B59-2F317102FAA4}"/>
              </a:ext>
            </a:extLst>
          </p:cNvPr>
          <p:cNvSpPr txBox="1"/>
          <p:nvPr/>
        </p:nvSpPr>
        <p:spPr>
          <a:xfrm>
            <a:off x="838201" y="1795523"/>
            <a:ext cx="97215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Estrutura da Área Central de Master Data Management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endParaRPr lang="pt-BR" b="1" dirty="0">
              <a:solidFill>
                <a:schemeClr val="bg1"/>
              </a:solidFill>
            </a:endParaRPr>
          </a:p>
          <a:p>
            <a:endParaRPr lang="pt-BR" b="1" dirty="0">
              <a:solidFill>
                <a:schemeClr val="bg1"/>
              </a:solidFill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0514BDE-B691-5E77-0F2C-984625DA36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46" b="29693"/>
          <a:stretch>
            <a:fillRect/>
          </a:stretch>
        </p:blipFill>
        <p:spPr bwMode="auto">
          <a:xfrm>
            <a:off x="1862139" y="2329075"/>
            <a:ext cx="7620000" cy="3320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7629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0517F9-4A48-AA32-C559-C28B7BB51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>
            <a:extLst>
              <a:ext uri="{FF2B5EF4-FFF2-40B4-BE49-F238E27FC236}">
                <a16:creationId xmlns:a16="http://schemas.microsoft.com/office/drawing/2014/main" id="{0FDE13C7-C148-C9AB-B6E2-C46FDE5EA720}"/>
              </a:ext>
            </a:extLst>
          </p:cNvPr>
          <p:cNvSpPr txBox="1">
            <a:spLocks noChangeArrowheads="1"/>
          </p:cNvSpPr>
          <p:nvPr/>
        </p:nvSpPr>
        <p:spPr>
          <a:xfrm>
            <a:off x="838202" y="1093788"/>
            <a:ext cx="10613065" cy="53594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4" marR="0" lvl="0" indent="-228604" algn="just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327B96E-6E53-7482-B483-728A50390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26" y="753136"/>
            <a:ext cx="3438000" cy="874204"/>
          </a:xfrm>
          <a:prstGeom prst="rect">
            <a:avLst/>
          </a:prstGeom>
        </p:spPr>
      </p:pic>
      <p:sp>
        <p:nvSpPr>
          <p:cNvPr id="13" name="Título 2">
            <a:extLst>
              <a:ext uri="{FF2B5EF4-FFF2-40B4-BE49-F238E27FC236}">
                <a16:creationId xmlns:a16="http://schemas.microsoft.com/office/drawing/2014/main" id="{C0F3109B-ACCF-A1A2-F410-36CB50AB1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50039"/>
            <a:ext cx="9667876" cy="549275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2.Estratégia e Escopo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3D2C3A0-D153-27EA-14F1-ED30D59EBDD9}"/>
              </a:ext>
            </a:extLst>
          </p:cNvPr>
          <p:cNvSpPr txBox="1"/>
          <p:nvPr/>
        </p:nvSpPr>
        <p:spPr>
          <a:xfrm>
            <a:off x="838201" y="1795523"/>
            <a:ext cx="97215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Dimensionamento de Recursos (FTE estimado)</a:t>
            </a:r>
          </a:p>
          <a:p>
            <a:endParaRPr lang="pt-BR" b="1" dirty="0">
              <a:solidFill>
                <a:schemeClr val="bg1"/>
              </a:solidFill>
            </a:endParaRPr>
          </a:p>
          <a:p>
            <a:endParaRPr lang="pt-BR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404D6C94-C184-2305-6DC1-BDE1950582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194412"/>
              </p:ext>
            </p:extLst>
          </p:nvPr>
        </p:nvGraphicFramePr>
        <p:xfrm>
          <a:off x="2869597" y="2329075"/>
          <a:ext cx="4609231" cy="2291528"/>
        </p:xfrm>
        <a:graphic>
          <a:graphicData uri="http://schemas.openxmlformats.org/drawingml/2006/table">
            <a:tbl>
              <a:tblPr/>
              <a:tblGrid>
                <a:gridCol w="2381072">
                  <a:extLst>
                    <a:ext uri="{9D8B030D-6E8A-4147-A177-3AD203B41FA5}">
                      <a16:colId xmlns:a16="http://schemas.microsoft.com/office/drawing/2014/main" val="2819217331"/>
                    </a:ext>
                  </a:extLst>
                </a:gridCol>
                <a:gridCol w="1048545">
                  <a:extLst>
                    <a:ext uri="{9D8B030D-6E8A-4147-A177-3AD203B41FA5}">
                      <a16:colId xmlns:a16="http://schemas.microsoft.com/office/drawing/2014/main" val="958952206"/>
                    </a:ext>
                  </a:extLst>
                </a:gridCol>
                <a:gridCol w="1179614">
                  <a:extLst>
                    <a:ext uri="{9D8B030D-6E8A-4147-A177-3AD203B41FA5}">
                      <a16:colId xmlns:a16="http://schemas.microsoft.com/office/drawing/2014/main" val="1707171699"/>
                    </a:ext>
                  </a:extLst>
                </a:gridCol>
              </a:tblGrid>
              <a:tr h="2864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Função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Qtde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Dedicação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0504721"/>
                  </a:ext>
                </a:extLst>
              </a:tr>
              <a:tr h="2864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Head de DG/MDM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Full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2614332"/>
                  </a:ext>
                </a:extLst>
              </a:tr>
              <a:tr h="2864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 Quality Lead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Full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287657"/>
                  </a:ext>
                </a:extLst>
              </a:tr>
              <a:tr h="2864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MDM </a:t>
                      </a:r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Operations</a:t>
                      </a: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Lead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Full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069707"/>
                  </a:ext>
                </a:extLst>
              </a:tr>
              <a:tr h="2864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 Architecture Lead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Full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878111"/>
                  </a:ext>
                </a:extLst>
              </a:tr>
              <a:tr h="2864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 Stewards centrais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2–4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Full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822450"/>
                  </a:ext>
                </a:extLst>
              </a:tr>
              <a:tr h="2864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Analistas MDM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2–3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Full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98595"/>
                  </a:ext>
                </a:extLst>
              </a:tr>
              <a:tr h="2864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Engenharia Integração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1–2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Full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733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9772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9F407C-BD3E-18D2-795F-C8BEBCFC2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>
            <a:extLst>
              <a:ext uri="{FF2B5EF4-FFF2-40B4-BE49-F238E27FC236}">
                <a16:creationId xmlns:a16="http://schemas.microsoft.com/office/drawing/2014/main" id="{638CB2AD-6668-C24D-D699-1A7AB3B1563E}"/>
              </a:ext>
            </a:extLst>
          </p:cNvPr>
          <p:cNvSpPr txBox="1">
            <a:spLocks noChangeArrowheads="1"/>
          </p:cNvSpPr>
          <p:nvPr/>
        </p:nvSpPr>
        <p:spPr>
          <a:xfrm>
            <a:off x="838202" y="1093788"/>
            <a:ext cx="10613065" cy="53594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4" marR="0" lvl="0" indent="-228604" algn="just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A33A2CBD-8F33-DC32-0A6E-0FAABEF33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26" y="753136"/>
            <a:ext cx="3438000" cy="874204"/>
          </a:xfrm>
          <a:prstGeom prst="rect">
            <a:avLst/>
          </a:prstGeom>
        </p:spPr>
      </p:pic>
      <p:sp>
        <p:nvSpPr>
          <p:cNvPr id="13" name="Título 2">
            <a:extLst>
              <a:ext uri="{FF2B5EF4-FFF2-40B4-BE49-F238E27FC236}">
                <a16:creationId xmlns:a16="http://schemas.microsoft.com/office/drawing/2014/main" id="{3843FF9F-E834-0625-FA74-77B79BF34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50039"/>
            <a:ext cx="9667876" cy="549275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2.Estratégia e Escopo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1BCA89D-4DA2-2BAC-9191-8C043C4DAE94}"/>
              </a:ext>
            </a:extLst>
          </p:cNvPr>
          <p:cNvSpPr txBox="1"/>
          <p:nvPr/>
        </p:nvSpPr>
        <p:spPr>
          <a:xfrm>
            <a:off x="740733" y="2021814"/>
            <a:ext cx="452858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Head de Data Governance</a:t>
            </a:r>
          </a:p>
          <a:p>
            <a:r>
              <a:rPr lang="pt-BR" dirty="0">
                <a:solidFill>
                  <a:schemeClr val="bg1"/>
                </a:solidFill>
              </a:rPr>
              <a:t>estratégia e </a:t>
            </a:r>
            <a:r>
              <a:rPr lang="pt-BR" dirty="0" err="1">
                <a:solidFill>
                  <a:schemeClr val="bg1"/>
                </a:solidFill>
              </a:rPr>
              <a:t>roadmap</a:t>
            </a:r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definição de políticas</a:t>
            </a:r>
          </a:p>
          <a:p>
            <a:r>
              <a:rPr lang="pt-BR" dirty="0">
                <a:solidFill>
                  <a:schemeClr val="bg1"/>
                </a:solidFill>
              </a:rPr>
              <a:t>governança corporativa</a:t>
            </a:r>
          </a:p>
          <a:p>
            <a:r>
              <a:rPr lang="pt-BR" dirty="0">
                <a:solidFill>
                  <a:schemeClr val="bg1"/>
                </a:solidFill>
              </a:rPr>
              <a:t>priorização de domínios</a:t>
            </a:r>
          </a:p>
          <a:p>
            <a:br>
              <a:rPr lang="pt-BR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Data </a:t>
            </a:r>
            <a:r>
              <a:rPr lang="pt-BR" b="1" dirty="0" err="1">
                <a:solidFill>
                  <a:schemeClr val="bg1"/>
                </a:solidFill>
              </a:rPr>
              <a:t>Quality</a:t>
            </a:r>
            <a:r>
              <a:rPr lang="pt-BR" b="1" dirty="0">
                <a:solidFill>
                  <a:schemeClr val="bg1"/>
                </a:solidFill>
              </a:rPr>
              <a:t> Lead</a:t>
            </a:r>
          </a:p>
          <a:p>
            <a:r>
              <a:rPr lang="pt-BR" dirty="0">
                <a:solidFill>
                  <a:schemeClr val="bg1"/>
                </a:solidFill>
              </a:rPr>
              <a:t>regras de qualidade</a:t>
            </a:r>
          </a:p>
          <a:p>
            <a:r>
              <a:rPr lang="pt-BR" dirty="0">
                <a:solidFill>
                  <a:schemeClr val="bg1"/>
                </a:solidFill>
              </a:rPr>
              <a:t>monitoramento</a:t>
            </a:r>
          </a:p>
          <a:p>
            <a:r>
              <a:rPr lang="pt-BR" dirty="0">
                <a:solidFill>
                  <a:schemeClr val="bg1"/>
                </a:solidFill>
              </a:rPr>
              <a:t>indicadores</a:t>
            </a:r>
          </a:p>
          <a:p>
            <a:r>
              <a:rPr lang="pt-BR" dirty="0">
                <a:solidFill>
                  <a:schemeClr val="bg1"/>
                </a:solidFill>
              </a:rPr>
              <a:t>auditorias</a:t>
            </a:r>
          </a:p>
          <a:p>
            <a:br>
              <a:rPr lang="pt-BR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MDM </a:t>
            </a:r>
            <a:r>
              <a:rPr lang="pt-BR" b="1" dirty="0" err="1">
                <a:solidFill>
                  <a:schemeClr val="bg1"/>
                </a:solidFill>
              </a:rPr>
              <a:t>Operations</a:t>
            </a:r>
            <a:r>
              <a:rPr lang="pt-BR" b="1" dirty="0">
                <a:solidFill>
                  <a:schemeClr val="bg1"/>
                </a:solidFill>
              </a:rPr>
              <a:t> Lead</a:t>
            </a:r>
          </a:p>
          <a:p>
            <a:r>
              <a:rPr lang="pt-BR" dirty="0">
                <a:solidFill>
                  <a:schemeClr val="bg1"/>
                </a:solidFill>
              </a:rPr>
              <a:t>operação do processo</a:t>
            </a:r>
          </a:p>
          <a:p>
            <a:r>
              <a:rPr lang="pt-BR" dirty="0">
                <a:solidFill>
                  <a:schemeClr val="bg1"/>
                </a:solidFill>
              </a:rPr>
              <a:t>SLA de cadastros</a:t>
            </a:r>
          </a:p>
          <a:p>
            <a:r>
              <a:rPr lang="pt-BR" dirty="0">
                <a:solidFill>
                  <a:schemeClr val="bg1"/>
                </a:solidFill>
              </a:rPr>
              <a:t>fila de solicitações</a:t>
            </a:r>
          </a:p>
          <a:p>
            <a:r>
              <a:rPr lang="pt-BR" dirty="0">
                <a:solidFill>
                  <a:schemeClr val="bg1"/>
                </a:solidFill>
              </a:rPr>
              <a:t>padronização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7C18243-7097-5CA3-2E2F-5C0F36A3F2B3}"/>
              </a:ext>
            </a:extLst>
          </p:cNvPr>
          <p:cNvSpPr txBox="1"/>
          <p:nvPr/>
        </p:nvSpPr>
        <p:spPr>
          <a:xfrm>
            <a:off x="4979121" y="2170908"/>
            <a:ext cx="286547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Data </a:t>
            </a:r>
            <a:r>
              <a:rPr lang="pt-BR" b="1" dirty="0" err="1">
                <a:solidFill>
                  <a:schemeClr val="bg1"/>
                </a:solidFill>
              </a:rPr>
              <a:t>Architecture</a:t>
            </a:r>
            <a:r>
              <a:rPr lang="pt-BR" b="1" dirty="0">
                <a:solidFill>
                  <a:schemeClr val="bg1"/>
                </a:solidFill>
              </a:rPr>
              <a:t> Lead</a:t>
            </a:r>
          </a:p>
          <a:p>
            <a:r>
              <a:rPr lang="pt-BR" dirty="0">
                <a:solidFill>
                  <a:schemeClr val="bg1"/>
                </a:solidFill>
              </a:rPr>
              <a:t>modelo de dados mestre</a:t>
            </a:r>
          </a:p>
          <a:p>
            <a:r>
              <a:rPr lang="pt-BR" dirty="0">
                <a:solidFill>
                  <a:schemeClr val="bg1"/>
                </a:solidFill>
              </a:rPr>
              <a:t>arquitetura de integração</a:t>
            </a:r>
          </a:p>
          <a:p>
            <a:r>
              <a:rPr lang="pt-BR" dirty="0">
                <a:solidFill>
                  <a:schemeClr val="bg1"/>
                </a:solidFill>
              </a:rPr>
              <a:t>padrões técnicos</a:t>
            </a:r>
          </a:p>
          <a:p>
            <a:r>
              <a:rPr lang="pt-BR" dirty="0">
                <a:solidFill>
                  <a:schemeClr val="bg1"/>
                </a:solidFill>
              </a:rPr>
              <a:t>interoperabilidade</a:t>
            </a:r>
          </a:p>
          <a:p>
            <a:br>
              <a:rPr lang="pt-BR" dirty="0">
                <a:solidFill>
                  <a:schemeClr val="bg1"/>
                </a:solidFill>
              </a:rPr>
            </a:br>
            <a:endParaRPr lang="pt-BR" dirty="0">
              <a:solidFill>
                <a:schemeClr val="bg1"/>
              </a:solidFill>
            </a:endParaRPr>
          </a:p>
          <a:p>
            <a:r>
              <a:rPr lang="pt-BR" b="1" dirty="0">
                <a:solidFill>
                  <a:schemeClr val="bg1"/>
                </a:solidFill>
              </a:rPr>
              <a:t>Data Stewards Centrais</a:t>
            </a:r>
          </a:p>
          <a:p>
            <a:r>
              <a:rPr lang="pt-BR" dirty="0">
                <a:solidFill>
                  <a:schemeClr val="bg1"/>
                </a:solidFill>
              </a:rPr>
              <a:t>validação de solicitações</a:t>
            </a:r>
          </a:p>
          <a:p>
            <a:r>
              <a:rPr lang="pt-BR" dirty="0">
                <a:solidFill>
                  <a:schemeClr val="bg1"/>
                </a:solidFill>
              </a:rPr>
              <a:t>padronização de atributos</a:t>
            </a:r>
          </a:p>
          <a:p>
            <a:r>
              <a:rPr lang="pt-BR" dirty="0">
                <a:solidFill>
                  <a:schemeClr val="bg1"/>
                </a:solidFill>
              </a:rPr>
              <a:t>prevenção de duplicidade</a:t>
            </a:r>
          </a:p>
          <a:p>
            <a:r>
              <a:rPr lang="pt-BR" dirty="0">
                <a:solidFill>
                  <a:schemeClr val="bg1"/>
                </a:solidFill>
              </a:rPr>
              <a:t>governança operacional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3C61A54-4923-3331-687F-393B6A95183C}"/>
              </a:ext>
            </a:extLst>
          </p:cNvPr>
          <p:cNvSpPr txBox="1"/>
          <p:nvPr/>
        </p:nvSpPr>
        <p:spPr>
          <a:xfrm>
            <a:off x="8215194" y="2170908"/>
            <a:ext cx="286547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Analistas MDM</a:t>
            </a:r>
          </a:p>
          <a:p>
            <a:r>
              <a:rPr lang="pt-BR" dirty="0">
                <a:solidFill>
                  <a:schemeClr val="bg1"/>
                </a:solidFill>
              </a:rPr>
              <a:t>execução de cadastros</a:t>
            </a:r>
          </a:p>
          <a:p>
            <a:r>
              <a:rPr lang="pt-BR" dirty="0">
                <a:solidFill>
                  <a:schemeClr val="bg1"/>
                </a:solidFill>
              </a:rPr>
              <a:t>manutenção</a:t>
            </a:r>
          </a:p>
          <a:p>
            <a:r>
              <a:rPr lang="pt-BR" dirty="0">
                <a:solidFill>
                  <a:schemeClr val="bg1"/>
                </a:solidFill>
              </a:rPr>
              <a:t>versionamento</a:t>
            </a:r>
          </a:p>
          <a:p>
            <a:r>
              <a:rPr lang="pt-BR" dirty="0">
                <a:solidFill>
                  <a:schemeClr val="bg1"/>
                </a:solidFill>
              </a:rPr>
              <a:t>documentação</a:t>
            </a:r>
          </a:p>
          <a:p>
            <a:br>
              <a:rPr lang="pt-BR" dirty="0">
                <a:solidFill>
                  <a:schemeClr val="bg1"/>
                </a:solidFill>
              </a:rPr>
            </a:br>
            <a:endParaRPr lang="pt-BR" dirty="0">
              <a:solidFill>
                <a:schemeClr val="bg1"/>
              </a:solidFill>
            </a:endParaRPr>
          </a:p>
          <a:p>
            <a:r>
              <a:rPr lang="pt-BR" b="1" dirty="0">
                <a:solidFill>
                  <a:schemeClr val="bg1"/>
                </a:solidFill>
              </a:rPr>
              <a:t>Engenharia de Integração</a:t>
            </a:r>
          </a:p>
          <a:p>
            <a:r>
              <a:rPr lang="pt-BR" dirty="0">
                <a:solidFill>
                  <a:schemeClr val="bg1"/>
                </a:solidFill>
              </a:rPr>
              <a:t>APIs</a:t>
            </a:r>
          </a:p>
          <a:p>
            <a:r>
              <a:rPr lang="pt-BR" dirty="0">
                <a:solidFill>
                  <a:schemeClr val="bg1"/>
                </a:solidFill>
              </a:rPr>
              <a:t>sincronização sistêmica</a:t>
            </a:r>
          </a:p>
          <a:p>
            <a:r>
              <a:rPr lang="pt-BR" dirty="0">
                <a:solidFill>
                  <a:schemeClr val="bg1"/>
                </a:solidFill>
              </a:rPr>
              <a:t>pipelines</a:t>
            </a:r>
          </a:p>
          <a:p>
            <a:r>
              <a:rPr lang="pt-BR" dirty="0">
                <a:solidFill>
                  <a:schemeClr val="bg1"/>
                </a:solidFill>
              </a:rPr>
              <a:t>monitoramento técnico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CC56AD9-8DCE-356A-C23A-92E0483D0A15}"/>
              </a:ext>
            </a:extLst>
          </p:cNvPr>
          <p:cNvSpPr txBox="1"/>
          <p:nvPr/>
        </p:nvSpPr>
        <p:spPr>
          <a:xfrm>
            <a:off x="685958" y="1627340"/>
            <a:ext cx="4293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Papéis e Responsabilidades — Área Central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62167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31B2CB-0906-BF48-0AF2-57984F8BF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>
            <a:extLst>
              <a:ext uri="{FF2B5EF4-FFF2-40B4-BE49-F238E27FC236}">
                <a16:creationId xmlns:a16="http://schemas.microsoft.com/office/drawing/2014/main" id="{DC72B235-66DD-CF01-9EE9-E2733250CD49}"/>
              </a:ext>
            </a:extLst>
          </p:cNvPr>
          <p:cNvSpPr txBox="1">
            <a:spLocks noChangeArrowheads="1"/>
          </p:cNvSpPr>
          <p:nvPr/>
        </p:nvSpPr>
        <p:spPr>
          <a:xfrm>
            <a:off x="838202" y="1093788"/>
            <a:ext cx="10613065" cy="53594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4" marR="0" lvl="0" indent="-228604" algn="just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BDDBD04E-9B9A-D101-537A-E4E066537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26" y="753136"/>
            <a:ext cx="3438000" cy="874204"/>
          </a:xfrm>
          <a:prstGeom prst="rect">
            <a:avLst/>
          </a:prstGeom>
        </p:spPr>
      </p:pic>
      <p:sp>
        <p:nvSpPr>
          <p:cNvPr id="13" name="Título 2">
            <a:extLst>
              <a:ext uri="{FF2B5EF4-FFF2-40B4-BE49-F238E27FC236}">
                <a16:creationId xmlns:a16="http://schemas.microsoft.com/office/drawing/2014/main" id="{217069B4-4699-B5F6-F200-1343B3C90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50039"/>
            <a:ext cx="9667876" cy="549275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2.Estratégia e Escopo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64937F0-355A-DC4F-0AFC-FFBB5AD2FF9E}"/>
              </a:ext>
            </a:extLst>
          </p:cNvPr>
          <p:cNvSpPr txBox="1"/>
          <p:nvPr/>
        </p:nvSpPr>
        <p:spPr>
          <a:xfrm>
            <a:off x="685958" y="2021814"/>
            <a:ext cx="86631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A governança só funciona se for </a:t>
            </a:r>
            <a:r>
              <a:rPr lang="pt-BR" b="1" dirty="0">
                <a:solidFill>
                  <a:schemeClr val="bg1"/>
                </a:solidFill>
              </a:rPr>
              <a:t>federada</a:t>
            </a:r>
            <a:r>
              <a:rPr lang="pt-BR" dirty="0">
                <a:solidFill>
                  <a:schemeClr val="bg1"/>
                </a:solidFill>
              </a:rPr>
              <a:t> — parte central + parte distribuída.</a:t>
            </a:r>
          </a:p>
          <a:p>
            <a:endParaRPr lang="pt-BR" b="1" dirty="0">
              <a:solidFill>
                <a:schemeClr val="bg1"/>
              </a:solidFill>
            </a:endParaRPr>
          </a:p>
          <a:p>
            <a:r>
              <a:rPr lang="pt-BR" b="1" dirty="0">
                <a:solidFill>
                  <a:schemeClr val="bg1"/>
                </a:solidFill>
              </a:rPr>
              <a:t>Expectativa de Participação</a:t>
            </a:r>
          </a:p>
          <a:p>
            <a:r>
              <a:rPr lang="pt-BR" dirty="0">
                <a:solidFill>
                  <a:schemeClr val="bg1"/>
                </a:solidFill>
              </a:rPr>
              <a:t>Cada área dona de domínio deve indicar:</a:t>
            </a:r>
          </a:p>
          <a:p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C2DD394-6124-D9F8-38A1-C16341AA2336}"/>
              </a:ext>
            </a:extLst>
          </p:cNvPr>
          <p:cNvSpPr txBox="1"/>
          <p:nvPr/>
        </p:nvSpPr>
        <p:spPr>
          <a:xfrm>
            <a:off x="685958" y="1627340"/>
            <a:ext cx="3562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Necessidades nas Áreas de Negócio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47ED1DFE-7E7F-BBDE-9DB7-15EA3CE388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573809"/>
              </p:ext>
            </p:extLst>
          </p:nvPr>
        </p:nvGraphicFramePr>
        <p:xfrm>
          <a:off x="740733" y="3208212"/>
          <a:ext cx="4608095" cy="1684020"/>
        </p:xfrm>
        <a:graphic>
          <a:graphicData uri="http://schemas.openxmlformats.org/drawingml/2006/table">
            <a:tbl>
              <a:tblPr/>
              <a:tblGrid>
                <a:gridCol w="1451009">
                  <a:extLst>
                    <a:ext uri="{9D8B030D-6E8A-4147-A177-3AD203B41FA5}">
                      <a16:colId xmlns:a16="http://schemas.microsoft.com/office/drawing/2014/main" val="381311496"/>
                    </a:ext>
                  </a:extLst>
                </a:gridCol>
                <a:gridCol w="3157086">
                  <a:extLst>
                    <a:ext uri="{9D8B030D-6E8A-4147-A177-3AD203B41FA5}">
                      <a16:colId xmlns:a16="http://schemas.microsoft.com/office/drawing/2014/main" val="2956237198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Área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Papel esperado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45022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Vendas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Owner de Cliente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844581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Compras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Owner de Fornecedor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62674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Supply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Owner de Produto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0014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Finanças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Owner Fiscal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186981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Marketing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Owner</a:t>
                      </a: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de Segmentação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5645628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FAF1A163-9F2C-13E7-6AF9-25F3D35170DC}"/>
              </a:ext>
            </a:extLst>
          </p:cNvPr>
          <p:cNvSpPr txBox="1"/>
          <p:nvPr/>
        </p:nvSpPr>
        <p:spPr>
          <a:xfrm>
            <a:off x="6943883" y="4011021"/>
            <a:ext cx="4423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Dimensionamento FTE nas Áreas de Negócio</a:t>
            </a:r>
          </a:p>
        </p:txBody>
      </p:sp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1516CFDD-84E3-45C9-475E-4A11951280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542228"/>
              </p:ext>
            </p:extLst>
          </p:nvPr>
        </p:nvGraphicFramePr>
        <p:xfrm>
          <a:off x="5977568" y="4427168"/>
          <a:ext cx="5473699" cy="1122680"/>
        </p:xfrm>
        <a:graphic>
          <a:graphicData uri="http://schemas.openxmlformats.org/drawingml/2006/table">
            <a:tbl>
              <a:tblPr/>
              <a:tblGrid>
                <a:gridCol w="1908895">
                  <a:extLst>
                    <a:ext uri="{9D8B030D-6E8A-4147-A177-3AD203B41FA5}">
                      <a16:colId xmlns:a16="http://schemas.microsoft.com/office/drawing/2014/main" val="3000328491"/>
                    </a:ext>
                  </a:extLst>
                </a:gridCol>
                <a:gridCol w="2092885">
                  <a:extLst>
                    <a:ext uri="{9D8B030D-6E8A-4147-A177-3AD203B41FA5}">
                      <a16:colId xmlns:a16="http://schemas.microsoft.com/office/drawing/2014/main" val="1280667031"/>
                    </a:ext>
                  </a:extLst>
                </a:gridCol>
                <a:gridCol w="1471919">
                  <a:extLst>
                    <a:ext uri="{9D8B030D-6E8A-4147-A177-3AD203B41FA5}">
                      <a16:colId xmlns:a16="http://schemas.microsoft.com/office/drawing/2014/main" val="1268848889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Papel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Qtde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8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Dedicação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359793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Data Owner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por domínio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10–20%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8428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Business Steward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1–2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20–40%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73664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Especialista SME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conforme demanda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sob demanda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441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4084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5C56BB-844C-9361-8A98-055D081CF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>
            <a:extLst>
              <a:ext uri="{FF2B5EF4-FFF2-40B4-BE49-F238E27FC236}">
                <a16:creationId xmlns:a16="http://schemas.microsoft.com/office/drawing/2014/main" id="{F8439436-8C10-CFF4-A737-172CAFDFCCFF}"/>
              </a:ext>
            </a:extLst>
          </p:cNvPr>
          <p:cNvSpPr txBox="1">
            <a:spLocks noChangeArrowheads="1"/>
          </p:cNvSpPr>
          <p:nvPr/>
        </p:nvSpPr>
        <p:spPr>
          <a:xfrm>
            <a:off x="838202" y="1093788"/>
            <a:ext cx="10613065" cy="53594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4" marR="0" lvl="0" indent="-228604" algn="just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7377230-3426-E886-C5DC-89CD68422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26" y="753136"/>
            <a:ext cx="3438000" cy="874204"/>
          </a:xfrm>
          <a:prstGeom prst="rect">
            <a:avLst/>
          </a:prstGeom>
        </p:spPr>
      </p:pic>
      <p:sp>
        <p:nvSpPr>
          <p:cNvPr id="13" name="Título 2">
            <a:extLst>
              <a:ext uri="{FF2B5EF4-FFF2-40B4-BE49-F238E27FC236}">
                <a16:creationId xmlns:a16="http://schemas.microsoft.com/office/drawing/2014/main" id="{F7031090-5C70-80EB-B354-FAA12E02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50039"/>
            <a:ext cx="9667876" cy="549275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2.Estratégia e Escopo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CB0EC04-2D95-0C47-2E80-EE15692EC443}"/>
              </a:ext>
            </a:extLst>
          </p:cNvPr>
          <p:cNvSpPr txBox="1"/>
          <p:nvPr/>
        </p:nvSpPr>
        <p:spPr>
          <a:xfrm>
            <a:off x="740733" y="2021814"/>
            <a:ext cx="452858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Data </a:t>
            </a:r>
            <a:r>
              <a:rPr lang="pt-BR" b="1" dirty="0" err="1">
                <a:solidFill>
                  <a:schemeClr val="bg1"/>
                </a:solidFill>
              </a:rPr>
              <a:t>Owner</a:t>
            </a:r>
            <a:endParaRPr lang="pt-BR" b="1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dono do domínio</a:t>
            </a:r>
          </a:p>
          <a:p>
            <a:r>
              <a:rPr lang="pt-BR" dirty="0">
                <a:solidFill>
                  <a:schemeClr val="bg1"/>
                </a:solidFill>
              </a:rPr>
              <a:t>define regras</a:t>
            </a:r>
          </a:p>
          <a:p>
            <a:r>
              <a:rPr lang="pt-BR" dirty="0">
                <a:solidFill>
                  <a:schemeClr val="bg1"/>
                </a:solidFill>
              </a:rPr>
              <a:t>aprova mudanças críticas</a:t>
            </a:r>
          </a:p>
          <a:p>
            <a:r>
              <a:rPr lang="pt-BR" dirty="0">
                <a:solidFill>
                  <a:schemeClr val="bg1"/>
                </a:solidFill>
              </a:rPr>
              <a:t>responsável pela qualidade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b="1" dirty="0">
                <a:solidFill>
                  <a:schemeClr val="bg1"/>
                </a:solidFill>
              </a:rPr>
              <a:t>Business Steward</a:t>
            </a:r>
          </a:p>
          <a:p>
            <a:r>
              <a:rPr lang="pt-BR" dirty="0">
                <a:solidFill>
                  <a:schemeClr val="bg1"/>
                </a:solidFill>
              </a:rPr>
              <a:t>valida solicitações</a:t>
            </a:r>
          </a:p>
          <a:p>
            <a:r>
              <a:rPr lang="pt-BR" dirty="0">
                <a:solidFill>
                  <a:schemeClr val="bg1"/>
                </a:solidFill>
              </a:rPr>
              <a:t>garante aderência às regras</a:t>
            </a:r>
          </a:p>
          <a:p>
            <a:r>
              <a:rPr lang="pt-BR" dirty="0">
                <a:solidFill>
                  <a:schemeClr val="bg1"/>
                </a:solidFill>
              </a:rPr>
              <a:t>resolve conflitos</a:t>
            </a:r>
          </a:p>
          <a:p>
            <a:r>
              <a:rPr lang="pt-BR" dirty="0">
                <a:solidFill>
                  <a:schemeClr val="bg1"/>
                </a:solidFill>
              </a:rPr>
              <a:t>interface com MDM central</a:t>
            </a:r>
          </a:p>
          <a:p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E42624A-17B8-D093-7370-C634EA03944C}"/>
              </a:ext>
            </a:extLst>
          </p:cNvPr>
          <p:cNvSpPr txBox="1"/>
          <p:nvPr/>
        </p:nvSpPr>
        <p:spPr>
          <a:xfrm>
            <a:off x="5183235" y="2604045"/>
            <a:ext cx="53228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SME (</a:t>
            </a:r>
            <a:r>
              <a:rPr lang="pt-BR" b="1" dirty="0" err="1">
                <a:solidFill>
                  <a:schemeClr val="bg1"/>
                </a:solidFill>
              </a:rPr>
              <a:t>Subject</a:t>
            </a:r>
            <a:r>
              <a:rPr lang="pt-BR" b="1" dirty="0">
                <a:solidFill>
                  <a:schemeClr val="bg1"/>
                </a:solidFill>
              </a:rPr>
              <a:t> Matter Expert)</a:t>
            </a:r>
          </a:p>
          <a:p>
            <a:r>
              <a:rPr lang="pt-BR" dirty="0">
                <a:solidFill>
                  <a:schemeClr val="bg1"/>
                </a:solidFill>
              </a:rPr>
              <a:t>define significado de atributos</a:t>
            </a:r>
          </a:p>
          <a:p>
            <a:r>
              <a:rPr lang="pt-BR" dirty="0">
                <a:solidFill>
                  <a:schemeClr val="bg1"/>
                </a:solidFill>
              </a:rPr>
              <a:t>apoia modelagem</a:t>
            </a:r>
          </a:p>
          <a:p>
            <a:r>
              <a:rPr lang="pt-BR" dirty="0">
                <a:solidFill>
                  <a:schemeClr val="bg1"/>
                </a:solidFill>
              </a:rPr>
              <a:t>esclarece regras</a:t>
            </a:r>
          </a:p>
          <a:p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B5A5FCB-06D3-D935-5910-66D0A3C95E0F}"/>
              </a:ext>
            </a:extLst>
          </p:cNvPr>
          <p:cNvSpPr txBox="1"/>
          <p:nvPr/>
        </p:nvSpPr>
        <p:spPr>
          <a:xfrm>
            <a:off x="685958" y="1627340"/>
            <a:ext cx="3880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Papéis e Responsabilidades — Negócio</a:t>
            </a:r>
          </a:p>
        </p:txBody>
      </p:sp>
    </p:spTree>
    <p:extLst>
      <p:ext uri="{BB962C8B-B14F-4D97-AF65-F5344CB8AC3E}">
        <p14:creationId xmlns:p14="http://schemas.microsoft.com/office/powerpoint/2010/main" val="1556574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97B22E2-3947-460D-A054-7FF265C7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50039"/>
            <a:ext cx="9667876" cy="549275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3.Qualidade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84193AE4-9F3B-4F3C-B4F9-489096D923E5}"/>
              </a:ext>
            </a:extLst>
          </p:cNvPr>
          <p:cNvSpPr txBox="1">
            <a:spLocks noChangeArrowheads="1"/>
          </p:cNvSpPr>
          <p:nvPr/>
        </p:nvSpPr>
        <p:spPr>
          <a:xfrm>
            <a:off x="838202" y="1093788"/>
            <a:ext cx="10613065" cy="53594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4" marR="0" lvl="0" indent="-228604" algn="just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6D56E4F-77A2-4C39-B834-4614E90C8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2" y="699314"/>
            <a:ext cx="3438000" cy="87420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6E7EEEB-775C-978D-FBC4-0A4FB88C84F3}"/>
              </a:ext>
            </a:extLst>
          </p:cNvPr>
          <p:cNvSpPr txBox="1"/>
          <p:nvPr/>
        </p:nvSpPr>
        <p:spPr>
          <a:xfrm>
            <a:off x="990602" y="1788329"/>
            <a:ext cx="958676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Qualidade de Dados Mestres — Definição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b="1" dirty="0">
                <a:solidFill>
                  <a:schemeClr val="bg1"/>
                </a:solidFill>
              </a:rPr>
              <a:t>1. Cenário Atual (Baseado no MLA)</a:t>
            </a:r>
          </a:p>
          <a:p>
            <a:r>
              <a:rPr lang="pt-BR" dirty="0">
                <a:solidFill>
                  <a:schemeClr val="bg1"/>
                </a:solidFill>
              </a:rPr>
              <a:t>A organização possui controles de qualidade implementados, incluindo validações de formato, unicidade, volumetria e </a:t>
            </a:r>
            <a:r>
              <a:rPr lang="pt-BR" dirty="0" err="1">
                <a:solidFill>
                  <a:schemeClr val="bg1"/>
                </a:solidFill>
              </a:rPr>
              <a:t>small</a:t>
            </a:r>
            <a:r>
              <a:rPr lang="pt-BR" dirty="0">
                <a:solidFill>
                  <a:schemeClr val="bg1"/>
                </a:solidFill>
              </a:rPr>
              <a:t> files, indicando um nível de maturidade intermediário .</a:t>
            </a:r>
          </a:p>
          <a:p>
            <a:endParaRPr lang="pt-BR" b="1" dirty="0">
              <a:solidFill>
                <a:schemeClr val="bg1"/>
              </a:solidFill>
            </a:endParaRPr>
          </a:p>
          <a:p>
            <a:r>
              <a:rPr lang="pt-BR" b="1" dirty="0">
                <a:solidFill>
                  <a:schemeClr val="bg1"/>
                </a:solidFill>
              </a:rPr>
              <a:t>Principais evidências</a:t>
            </a:r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controles técnicos já existentes</a:t>
            </a:r>
          </a:p>
          <a:p>
            <a:r>
              <a:rPr lang="pt-BR" dirty="0">
                <a:solidFill>
                  <a:schemeClr val="bg1"/>
                </a:solidFill>
              </a:rPr>
              <a:t>monitoramento operacional ativo</a:t>
            </a:r>
          </a:p>
          <a:p>
            <a:r>
              <a:rPr lang="pt-BR" dirty="0">
                <a:solidFill>
                  <a:schemeClr val="bg1"/>
                </a:solidFill>
              </a:rPr>
              <a:t>processos parcialmente padronizados</a:t>
            </a:r>
          </a:p>
          <a:p>
            <a:endParaRPr lang="pt-BR" b="1" dirty="0">
              <a:solidFill>
                <a:schemeClr val="bg1"/>
              </a:solidFill>
            </a:endParaRPr>
          </a:p>
          <a:p>
            <a:r>
              <a:rPr lang="pt-BR" b="1" dirty="0">
                <a:solidFill>
                  <a:schemeClr val="bg1"/>
                </a:solidFill>
              </a:rPr>
              <a:t>Gap principal</a:t>
            </a:r>
            <a:br>
              <a:rPr lang="pt-BR" dirty="0">
                <a:solidFill>
                  <a:schemeClr val="bg1"/>
                </a:solidFill>
              </a:rPr>
            </a:br>
            <a:r>
              <a:rPr lang="pt-BR" dirty="0">
                <a:solidFill>
                  <a:schemeClr val="bg1"/>
                </a:solidFill>
              </a:rPr>
              <a:t>modelo atual é rígido e não se adapta às necessidades específicas de cada área ou domínio.</a:t>
            </a:r>
          </a:p>
          <a:p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0874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B8FB2E-F775-3F58-E5D5-60FE20AD0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C4B09D4-3C18-5A18-B655-ECBA226BF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50039"/>
            <a:ext cx="9667876" cy="549275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3.Qualidade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A36ED5A4-A0F8-1AB0-1B20-3B4BEB100EBA}"/>
              </a:ext>
            </a:extLst>
          </p:cNvPr>
          <p:cNvSpPr txBox="1">
            <a:spLocks noChangeArrowheads="1"/>
          </p:cNvSpPr>
          <p:nvPr/>
        </p:nvSpPr>
        <p:spPr>
          <a:xfrm>
            <a:off x="838202" y="1093788"/>
            <a:ext cx="10613065" cy="53594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4" marR="0" lvl="0" indent="-228604" algn="just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61EE007-A748-642D-2AA7-D7793712B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2" y="699314"/>
            <a:ext cx="3438000" cy="87420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4476344-D9FC-4CA6-8F5F-443149AA552B}"/>
              </a:ext>
            </a:extLst>
          </p:cNvPr>
          <p:cNvSpPr txBox="1"/>
          <p:nvPr/>
        </p:nvSpPr>
        <p:spPr>
          <a:xfrm>
            <a:off x="990602" y="1788329"/>
            <a:ext cx="316751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Escopo — BIG4 e Atributos</a:t>
            </a:r>
          </a:p>
          <a:p>
            <a:endParaRPr lang="pt-BR" b="1" dirty="0">
              <a:solidFill>
                <a:schemeClr val="bg1"/>
              </a:solidFill>
            </a:endParaRPr>
          </a:p>
          <a:p>
            <a:r>
              <a:rPr lang="pt-BR" b="1" dirty="0">
                <a:solidFill>
                  <a:schemeClr val="bg1"/>
                </a:solidFill>
              </a:rPr>
              <a:t>Domínios priorizados</a:t>
            </a:r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Clientes</a:t>
            </a:r>
          </a:p>
          <a:p>
            <a:r>
              <a:rPr lang="pt-BR" dirty="0">
                <a:solidFill>
                  <a:schemeClr val="bg1"/>
                </a:solidFill>
              </a:rPr>
              <a:t>Produtos</a:t>
            </a:r>
          </a:p>
          <a:p>
            <a:r>
              <a:rPr lang="pt-BR" dirty="0">
                <a:solidFill>
                  <a:schemeClr val="bg1"/>
                </a:solidFill>
              </a:rPr>
              <a:t>Fornecedores</a:t>
            </a:r>
          </a:p>
          <a:p>
            <a:r>
              <a:rPr lang="pt-BR" dirty="0">
                <a:solidFill>
                  <a:schemeClr val="bg1"/>
                </a:solidFill>
              </a:rPr>
              <a:t>Organizacional</a:t>
            </a:r>
          </a:p>
          <a:p>
            <a:endParaRPr lang="pt-BR" b="1" dirty="0">
              <a:solidFill>
                <a:schemeClr val="bg1"/>
              </a:solidFill>
            </a:endParaRPr>
          </a:p>
          <a:p>
            <a:r>
              <a:rPr lang="pt-BR" b="1" dirty="0">
                <a:solidFill>
                  <a:schemeClr val="bg1"/>
                </a:solidFill>
              </a:rPr>
              <a:t>Atributos críticos</a:t>
            </a:r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identificadores únicos</a:t>
            </a:r>
          </a:p>
          <a:p>
            <a:r>
              <a:rPr lang="pt-BR" dirty="0">
                <a:solidFill>
                  <a:schemeClr val="bg1"/>
                </a:solidFill>
              </a:rPr>
              <a:t>dados fiscais</a:t>
            </a:r>
          </a:p>
          <a:p>
            <a:r>
              <a:rPr lang="pt-BR" dirty="0">
                <a:solidFill>
                  <a:schemeClr val="bg1"/>
                </a:solidFill>
              </a:rPr>
              <a:t>classificações</a:t>
            </a:r>
          </a:p>
          <a:p>
            <a:r>
              <a:rPr lang="pt-BR" dirty="0">
                <a:solidFill>
                  <a:schemeClr val="bg1"/>
                </a:solidFill>
              </a:rPr>
              <a:t>status</a:t>
            </a:r>
          </a:p>
          <a:p>
            <a:r>
              <a:rPr lang="pt-BR" dirty="0">
                <a:solidFill>
                  <a:schemeClr val="bg1"/>
                </a:solidFill>
              </a:rPr>
              <a:t>hierarquias</a:t>
            </a:r>
          </a:p>
          <a:p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4191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1B10A6-E5D3-E349-3F92-4D7FE08A8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2B1357D-7C63-9882-BA6C-85370BB8F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50039"/>
            <a:ext cx="9667876" cy="549275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3.Qualidade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09B074CB-63D8-1941-B47D-7B2D05C2FC74}"/>
              </a:ext>
            </a:extLst>
          </p:cNvPr>
          <p:cNvSpPr txBox="1">
            <a:spLocks noChangeArrowheads="1"/>
          </p:cNvSpPr>
          <p:nvPr/>
        </p:nvSpPr>
        <p:spPr>
          <a:xfrm>
            <a:off x="838202" y="1093788"/>
            <a:ext cx="10613065" cy="53594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4" marR="0" lvl="0" indent="-228604" algn="just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07BF5D7-02F2-8624-BA26-3230D29F7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2" y="699314"/>
            <a:ext cx="3438000" cy="87420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1819BFF-254D-EF2A-5A75-1F72318E8737}"/>
              </a:ext>
            </a:extLst>
          </p:cNvPr>
          <p:cNvSpPr txBox="1"/>
          <p:nvPr/>
        </p:nvSpPr>
        <p:spPr>
          <a:xfrm>
            <a:off x="990601" y="1788329"/>
            <a:ext cx="476530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3. Dimensões de Qualidade </a:t>
            </a:r>
          </a:p>
          <a:p>
            <a:r>
              <a:rPr lang="pt-BR" dirty="0">
                <a:solidFill>
                  <a:schemeClr val="bg1"/>
                </a:solidFill>
              </a:rPr>
              <a:t>Serão aplicadas dimensões padrão:</a:t>
            </a:r>
          </a:p>
          <a:p>
            <a:r>
              <a:rPr lang="pt-BR" dirty="0" err="1">
                <a:solidFill>
                  <a:schemeClr val="bg1"/>
                </a:solidFill>
              </a:rPr>
              <a:t>Consistency</a:t>
            </a:r>
            <a:r>
              <a:rPr lang="pt-BR" dirty="0">
                <a:solidFill>
                  <a:schemeClr val="bg1"/>
                </a:solidFill>
              </a:rPr>
              <a:t> → coerência entre sistemas</a:t>
            </a:r>
          </a:p>
          <a:p>
            <a:r>
              <a:rPr lang="pt-BR" dirty="0" err="1">
                <a:solidFill>
                  <a:schemeClr val="bg1"/>
                </a:solidFill>
              </a:rPr>
              <a:t>Accuracy</a:t>
            </a:r>
            <a:r>
              <a:rPr lang="pt-BR" dirty="0">
                <a:solidFill>
                  <a:schemeClr val="bg1"/>
                </a:solidFill>
              </a:rPr>
              <a:t> → dado correto</a:t>
            </a:r>
          </a:p>
          <a:p>
            <a:r>
              <a:rPr lang="pt-BR" dirty="0" err="1">
                <a:solidFill>
                  <a:schemeClr val="bg1"/>
                </a:solidFill>
              </a:rPr>
              <a:t>Completeness</a:t>
            </a:r>
            <a:r>
              <a:rPr lang="pt-BR" dirty="0">
                <a:solidFill>
                  <a:schemeClr val="bg1"/>
                </a:solidFill>
              </a:rPr>
              <a:t> → preenchimento obrigatório</a:t>
            </a:r>
          </a:p>
          <a:p>
            <a:r>
              <a:rPr lang="pt-BR" dirty="0" err="1">
                <a:solidFill>
                  <a:schemeClr val="bg1"/>
                </a:solidFill>
              </a:rPr>
              <a:t>Uniqueness</a:t>
            </a:r>
            <a:r>
              <a:rPr lang="pt-BR" dirty="0">
                <a:solidFill>
                  <a:schemeClr val="bg1"/>
                </a:solidFill>
              </a:rPr>
              <a:t> → ausência de duplicidade</a:t>
            </a:r>
          </a:p>
          <a:p>
            <a:r>
              <a:rPr lang="pt-BR" dirty="0" err="1">
                <a:solidFill>
                  <a:schemeClr val="bg1"/>
                </a:solidFill>
              </a:rPr>
              <a:t>Validity</a:t>
            </a:r>
            <a:r>
              <a:rPr lang="pt-BR" dirty="0">
                <a:solidFill>
                  <a:schemeClr val="bg1"/>
                </a:solidFill>
              </a:rPr>
              <a:t> → formato e regra corretos</a:t>
            </a:r>
          </a:p>
          <a:p>
            <a:br>
              <a:rPr lang="pt-BR" dirty="0">
                <a:solidFill>
                  <a:schemeClr val="bg1"/>
                </a:solidFill>
              </a:rPr>
            </a:br>
            <a:endParaRPr lang="pt-BR" dirty="0">
              <a:solidFill>
                <a:schemeClr val="bg1"/>
              </a:solidFill>
            </a:endParaRPr>
          </a:p>
          <a:p>
            <a:r>
              <a:rPr lang="pt-BR" b="1" dirty="0">
                <a:solidFill>
                  <a:schemeClr val="bg1"/>
                </a:solidFill>
              </a:rPr>
              <a:t>4. Standards (</a:t>
            </a:r>
            <a:r>
              <a:rPr lang="pt-BR" b="1" dirty="0" err="1">
                <a:solidFill>
                  <a:schemeClr val="bg1"/>
                </a:solidFill>
              </a:rPr>
              <a:t>Naming</a:t>
            </a:r>
            <a:r>
              <a:rPr lang="pt-BR" b="1" dirty="0">
                <a:solidFill>
                  <a:schemeClr val="bg1"/>
                </a:solidFill>
              </a:rPr>
              <a:t> </a:t>
            </a:r>
            <a:r>
              <a:rPr lang="pt-BR" b="1" dirty="0" err="1">
                <a:solidFill>
                  <a:schemeClr val="bg1"/>
                </a:solidFill>
              </a:rPr>
              <a:t>Conventions</a:t>
            </a:r>
            <a:r>
              <a:rPr lang="pt-BR" b="1" dirty="0">
                <a:solidFill>
                  <a:schemeClr val="bg1"/>
                </a:solidFill>
              </a:rPr>
              <a:t>)</a:t>
            </a:r>
          </a:p>
          <a:p>
            <a:r>
              <a:rPr lang="pt-BR" dirty="0">
                <a:solidFill>
                  <a:schemeClr val="bg1"/>
                </a:solidFill>
              </a:rPr>
              <a:t>padrão corporativo único</a:t>
            </a:r>
          </a:p>
          <a:p>
            <a:r>
              <a:rPr lang="pt-BR" dirty="0">
                <a:solidFill>
                  <a:schemeClr val="bg1"/>
                </a:solidFill>
              </a:rPr>
              <a:t>estrutura: </a:t>
            </a:r>
            <a:r>
              <a:rPr lang="pt-BR" b="1" dirty="0">
                <a:solidFill>
                  <a:schemeClr val="bg1"/>
                </a:solidFill>
              </a:rPr>
              <a:t>DOMÍNIO_ATRIBUTO</a:t>
            </a:r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sem espaços ou acentos</a:t>
            </a:r>
          </a:p>
          <a:p>
            <a:r>
              <a:rPr lang="pt-BR" dirty="0">
                <a:solidFill>
                  <a:schemeClr val="bg1"/>
                </a:solidFill>
              </a:rPr>
              <a:t>glossário central de definições</a:t>
            </a:r>
          </a:p>
          <a:p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730A17B-912C-BDB5-AC9F-A5AD095E910C}"/>
              </a:ext>
            </a:extLst>
          </p:cNvPr>
          <p:cNvSpPr txBox="1"/>
          <p:nvPr/>
        </p:nvSpPr>
        <p:spPr>
          <a:xfrm>
            <a:off x="5740772" y="1788329"/>
            <a:ext cx="593467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5. Data </a:t>
            </a:r>
            <a:r>
              <a:rPr lang="pt-BR" b="1" dirty="0" err="1">
                <a:solidFill>
                  <a:schemeClr val="bg1"/>
                </a:solidFill>
              </a:rPr>
              <a:t>Source</a:t>
            </a:r>
            <a:r>
              <a:rPr lang="pt-BR" b="1" dirty="0">
                <a:solidFill>
                  <a:schemeClr val="bg1"/>
                </a:solidFill>
              </a:rPr>
              <a:t> — Single </a:t>
            </a:r>
            <a:r>
              <a:rPr lang="pt-BR" b="1" dirty="0" err="1">
                <a:solidFill>
                  <a:schemeClr val="bg1"/>
                </a:solidFill>
              </a:rPr>
              <a:t>Source</a:t>
            </a:r>
            <a:r>
              <a:rPr lang="pt-BR" b="1" dirty="0">
                <a:solidFill>
                  <a:schemeClr val="bg1"/>
                </a:solidFill>
              </a:rPr>
              <a:t> </a:t>
            </a:r>
            <a:r>
              <a:rPr lang="pt-BR" b="1" dirty="0" err="1">
                <a:solidFill>
                  <a:schemeClr val="bg1"/>
                </a:solidFill>
              </a:rPr>
              <a:t>of</a:t>
            </a:r>
            <a:r>
              <a:rPr lang="pt-BR" b="1" dirty="0">
                <a:solidFill>
                  <a:schemeClr val="bg1"/>
                </a:solidFill>
              </a:rPr>
              <a:t> </a:t>
            </a:r>
            <a:r>
              <a:rPr lang="pt-BR" b="1" dirty="0" err="1">
                <a:solidFill>
                  <a:schemeClr val="bg1"/>
                </a:solidFill>
              </a:rPr>
              <a:t>Truth</a:t>
            </a:r>
            <a:r>
              <a:rPr lang="pt-BR" b="1" dirty="0">
                <a:solidFill>
                  <a:schemeClr val="bg1"/>
                </a:solidFill>
              </a:rPr>
              <a:t> (</a:t>
            </a:r>
          </a:p>
          <a:p>
            <a:r>
              <a:rPr lang="pt-BR" dirty="0">
                <a:solidFill>
                  <a:schemeClr val="bg1"/>
                </a:solidFill>
              </a:rPr>
              <a:t>cada domínio terá um sistema mestre oficial</a:t>
            </a:r>
          </a:p>
          <a:p>
            <a:r>
              <a:rPr lang="pt-BR" dirty="0">
                <a:solidFill>
                  <a:schemeClr val="bg1"/>
                </a:solidFill>
              </a:rPr>
              <a:t>criação e manutenção ocorrem apenas nele</a:t>
            </a:r>
          </a:p>
          <a:p>
            <a:r>
              <a:rPr lang="pt-BR" dirty="0">
                <a:solidFill>
                  <a:schemeClr val="bg1"/>
                </a:solidFill>
              </a:rPr>
              <a:t>demais sistemas consomem via integração</a:t>
            </a:r>
          </a:p>
          <a:p>
            <a:br>
              <a:rPr lang="pt-BR" dirty="0">
                <a:solidFill>
                  <a:schemeClr val="bg1"/>
                </a:solidFill>
              </a:rPr>
            </a:br>
            <a:endParaRPr lang="pt-BR" dirty="0">
              <a:solidFill>
                <a:schemeClr val="bg1"/>
              </a:solidFill>
            </a:endParaRPr>
          </a:p>
          <a:p>
            <a:r>
              <a:rPr lang="pt-BR" b="1" dirty="0">
                <a:solidFill>
                  <a:schemeClr val="bg1"/>
                </a:solidFill>
              </a:rPr>
              <a:t>6. Ferramenta Sugerida </a:t>
            </a:r>
          </a:p>
          <a:p>
            <a:r>
              <a:rPr lang="pt-BR" b="1" dirty="0">
                <a:solidFill>
                  <a:schemeClr val="bg1"/>
                </a:solidFill>
              </a:rPr>
              <a:t>Modelo recomendado:</a:t>
            </a:r>
            <a:r>
              <a:rPr lang="pt-BR" dirty="0">
                <a:solidFill>
                  <a:schemeClr val="bg1"/>
                </a:solidFill>
              </a:rPr>
              <a:t> híbrido</a:t>
            </a:r>
          </a:p>
          <a:p>
            <a:r>
              <a:rPr lang="pt-BR" dirty="0">
                <a:solidFill>
                  <a:schemeClr val="bg1"/>
                </a:solidFill>
              </a:rPr>
              <a:t>plataforma MDM de mercado → governança e qualidade</a:t>
            </a:r>
          </a:p>
          <a:p>
            <a:r>
              <a:rPr lang="pt-BR" dirty="0">
                <a:solidFill>
                  <a:schemeClr val="bg1"/>
                </a:solidFill>
              </a:rPr>
              <a:t>soluções internas → integrações e relatórios</a:t>
            </a:r>
          </a:p>
          <a:p>
            <a:r>
              <a:rPr lang="pt-BR" dirty="0">
                <a:solidFill>
                  <a:schemeClr val="bg1"/>
                </a:solidFill>
              </a:rPr>
              <a:t> </a:t>
            </a:r>
          </a:p>
          <a:p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3548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97B22E2-3947-460D-A054-7FF265C7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50039"/>
            <a:ext cx="9667876" cy="549275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4.Roadmap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84193AE4-9F3B-4F3C-B4F9-489096D923E5}"/>
              </a:ext>
            </a:extLst>
          </p:cNvPr>
          <p:cNvSpPr txBox="1">
            <a:spLocks noChangeArrowheads="1"/>
          </p:cNvSpPr>
          <p:nvPr/>
        </p:nvSpPr>
        <p:spPr>
          <a:xfrm>
            <a:off x="838202" y="1093788"/>
            <a:ext cx="10613065" cy="53594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4" marR="0" lvl="0" indent="-228604" algn="just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A9E8BFE2-888E-477B-A4B0-7CA0CC6EF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2" y="724453"/>
            <a:ext cx="3438000" cy="87420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8DF32C3-B001-3E03-F944-BDD90A81EEF1}"/>
              </a:ext>
            </a:extLst>
          </p:cNvPr>
          <p:cNvSpPr txBox="1"/>
          <p:nvPr/>
        </p:nvSpPr>
        <p:spPr>
          <a:xfrm>
            <a:off x="990602" y="2022393"/>
            <a:ext cx="520806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Entregas</a:t>
            </a:r>
          </a:p>
          <a:p>
            <a:r>
              <a:rPr lang="pt-BR" dirty="0">
                <a:solidFill>
                  <a:schemeClr val="bg1"/>
                </a:solidFill>
              </a:rPr>
              <a:t>Fase 1 — Assessment de Maturidade</a:t>
            </a:r>
          </a:p>
          <a:p>
            <a:r>
              <a:rPr lang="pt-BR" dirty="0">
                <a:solidFill>
                  <a:schemeClr val="bg1"/>
                </a:solidFill>
              </a:rPr>
              <a:t>Entrega: relatório de maturidade + gaps prioritários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Fase 2 — Definição de Estratégia e Escopo</a:t>
            </a:r>
          </a:p>
          <a:p>
            <a:r>
              <a:rPr lang="pt-BR" dirty="0">
                <a:solidFill>
                  <a:schemeClr val="bg1"/>
                </a:solidFill>
              </a:rPr>
              <a:t>Entrega: </a:t>
            </a:r>
            <a:r>
              <a:rPr lang="pt-BR" dirty="0" err="1">
                <a:solidFill>
                  <a:schemeClr val="bg1"/>
                </a:solidFill>
              </a:rPr>
              <a:t>blueprint</a:t>
            </a:r>
            <a:r>
              <a:rPr lang="pt-BR" dirty="0">
                <a:solidFill>
                  <a:schemeClr val="bg1"/>
                </a:solidFill>
              </a:rPr>
              <a:t> do programa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Fase 3 — Validação Executiva</a:t>
            </a:r>
          </a:p>
          <a:p>
            <a:r>
              <a:rPr lang="pt-BR" dirty="0">
                <a:solidFill>
                  <a:schemeClr val="bg1"/>
                </a:solidFill>
              </a:rPr>
              <a:t>Entrega: business case aprovado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Fase 4 — Desenho Detalhado</a:t>
            </a:r>
          </a:p>
          <a:p>
            <a:r>
              <a:rPr lang="pt-BR" dirty="0">
                <a:solidFill>
                  <a:schemeClr val="bg1"/>
                </a:solidFill>
              </a:rPr>
              <a:t>Entrega: modelo operacional + políticas + fluxos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Fase 5 — Implementação Piloto</a:t>
            </a:r>
          </a:p>
          <a:p>
            <a:r>
              <a:rPr lang="pt-BR" dirty="0">
                <a:solidFill>
                  <a:schemeClr val="bg1"/>
                </a:solidFill>
              </a:rPr>
              <a:t>Entrega: domínio governado em produção</a:t>
            </a:r>
          </a:p>
          <a:p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5EE329F-8274-B316-E72C-4ACBE8F0977A}"/>
              </a:ext>
            </a:extLst>
          </p:cNvPr>
          <p:cNvSpPr txBox="1"/>
          <p:nvPr/>
        </p:nvSpPr>
        <p:spPr>
          <a:xfrm>
            <a:off x="8044317" y="4975018"/>
            <a:ext cx="520806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Marcos Principais (</a:t>
            </a:r>
            <a:r>
              <a:rPr lang="pt-BR" b="1" dirty="0" err="1">
                <a:solidFill>
                  <a:schemeClr val="bg1"/>
                </a:solidFill>
              </a:rPr>
              <a:t>Milestones</a:t>
            </a:r>
            <a:r>
              <a:rPr lang="pt-BR" b="1" dirty="0">
                <a:solidFill>
                  <a:schemeClr val="bg1"/>
                </a:solidFill>
              </a:rPr>
              <a:t> Executivos)</a:t>
            </a:r>
          </a:p>
          <a:p>
            <a:r>
              <a:rPr lang="pt-BR" dirty="0">
                <a:solidFill>
                  <a:schemeClr val="bg1"/>
                </a:solidFill>
              </a:rPr>
              <a:t>aprovação do modelo de governança</a:t>
            </a:r>
          </a:p>
          <a:p>
            <a:r>
              <a:rPr lang="pt-BR" dirty="0">
                <a:solidFill>
                  <a:schemeClr val="bg1"/>
                </a:solidFill>
              </a:rPr>
              <a:t>primeiro domínio governado</a:t>
            </a:r>
          </a:p>
          <a:p>
            <a:r>
              <a:rPr lang="pt-BR" dirty="0">
                <a:solidFill>
                  <a:schemeClr val="bg1"/>
                </a:solidFill>
              </a:rPr>
              <a:t>implantação da ferramenta</a:t>
            </a:r>
          </a:p>
          <a:p>
            <a:r>
              <a:rPr lang="pt-BR" dirty="0">
                <a:solidFill>
                  <a:schemeClr val="bg1"/>
                </a:solidFill>
              </a:rPr>
              <a:t>dashboards de qualidade ativos</a:t>
            </a:r>
          </a:p>
          <a:p>
            <a:r>
              <a:rPr lang="pt-BR" dirty="0" err="1">
                <a:solidFill>
                  <a:schemeClr val="bg1"/>
                </a:solidFill>
              </a:rPr>
              <a:t>rollout</a:t>
            </a:r>
            <a:r>
              <a:rPr lang="pt-BR" dirty="0">
                <a:solidFill>
                  <a:schemeClr val="bg1"/>
                </a:solidFill>
              </a:rPr>
              <a:t> corporativo concluído</a:t>
            </a:r>
          </a:p>
          <a:p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E871508-4E17-944B-A370-F0D89C0F72B5}"/>
              </a:ext>
            </a:extLst>
          </p:cNvPr>
          <p:cNvSpPr txBox="1"/>
          <p:nvPr/>
        </p:nvSpPr>
        <p:spPr>
          <a:xfrm>
            <a:off x="6351069" y="2389695"/>
            <a:ext cx="551527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Fase 6 — Ajustes e Otimização</a:t>
            </a:r>
          </a:p>
          <a:p>
            <a:r>
              <a:rPr lang="pt-BR" dirty="0">
                <a:solidFill>
                  <a:schemeClr val="bg1"/>
                </a:solidFill>
              </a:rPr>
              <a:t>Entrega: modelo estabilizado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Fase 7 — Expansão para Outros Domínios</a:t>
            </a:r>
          </a:p>
          <a:p>
            <a:r>
              <a:rPr lang="pt-BR" dirty="0">
                <a:solidFill>
                  <a:schemeClr val="bg1"/>
                </a:solidFill>
              </a:rPr>
              <a:t>Entrega: governança corporativa ativa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Fase 8 — Operação Contínua e Evolução</a:t>
            </a:r>
          </a:p>
          <a:p>
            <a:r>
              <a:rPr lang="pt-BR" dirty="0">
                <a:solidFill>
                  <a:schemeClr val="bg1"/>
                </a:solidFill>
              </a:rPr>
              <a:t>Entrega: governança institucionalizada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2202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C50314-6DE3-C3CB-D128-316AB3C65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6ADDDC2-AD8C-09BC-29C1-E4121AA51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50039"/>
            <a:ext cx="9667876" cy="549275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4.Roadmap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FC24DFA3-D2ED-EF02-61BE-766792C1ADE8}"/>
              </a:ext>
            </a:extLst>
          </p:cNvPr>
          <p:cNvSpPr txBox="1">
            <a:spLocks noChangeArrowheads="1"/>
          </p:cNvSpPr>
          <p:nvPr/>
        </p:nvSpPr>
        <p:spPr>
          <a:xfrm>
            <a:off x="838202" y="1093788"/>
            <a:ext cx="10613065" cy="53594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4" marR="0" lvl="0" indent="-228604" algn="just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506364E0-7845-B5A7-7ABE-E6CF1F769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2" y="724453"/>
            <a:ext cx="3438000" cy="874204"/>
          </a:xfrm>
          <a:prstGeom prst="rect">
            <a:avLst/>
          </a:prstGeom>
        </p:spPr>
      </p:pic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892293AE-6690-6497-3F78-E970286CBA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773860"/>
              </p:ext>
            </p:extLst>
          </p:nvPr>
        </p:nvGraphicFramePr>
        <p:xfrm>
          <a:off x="838201" y="1623796"/>
          <a:ext cx="5100586" cy="5092405"/>
        </p:xfrm>
        <a:graphic>
          <a:graphicData uri="http://schemas.openxmlformats.org/drawingml/2006/table">
            <a:tbl>
              <a:tblPr/>
              <a:tblGrid>
                <a:gridCol w="2774719">
                  <a:extLst>
                    <a:ext uri="{9D8B030D-6E8A-4147-A177-3AD203B41FA5}">
                      <a16:colId xmlns:a16="http://schemas.microsoft.com/office/drawing/2014/main" val="4038922552"/>
                    </a:ext>
                  </a:extLst>
                </a:gridCol>
                <a:gridCol w="2325867">
                  <a:extLst>
                    <a:ext uri="{9D8B030D-6E8A-4147-A177-3AD203B41FA5}">
                      <a16:colId xmlns:a16="http://schemas.microsoft.com/office/drawing/2014/main" val="1889141175"/>
                    </a:ext>
                  </a:extLst>
                </a:gridCol>
              </a:tblGrid>
              <a:tr h="222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TAREFA</a:t>
                      </a:r>
                    </a:p>
                  </a:txBody>
                  <a:tcPr marL="7620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Duração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5330612"/>
                  </a:ext>
                </a:extLst>
              </a:tr>
              <a:tr h="222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Fase 1 — Assessment de Maturidade</a:t>
                      </a:r>
                    </a:p>
                  </a:txBody>
                  <a:tcPr marL="762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Semanas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343035"/>
                  </a:ext>
                </a:extLst>
              </a:tr>
              <a:tr h="222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levantamento de processos atuais</a:t>
                      </a:r>
                    </a:p>
                  </a:txBody>
                  <a:tcPr marL="1524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777308"/>
                  </a:ext>
                </a:extLst>
              </a:tr>
              <a:tr h="222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entrevistas com áreas</a:t>
                      </a:r>
                    </a:p>
                  </a:txBody>
                  <a:tcPr marL="1524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234738"/>
                  </a:ext>
                </a:extLst>
              </a:tr>
              <a:tr h="222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avaliação de ferramentas e arquitetura</a:t>
                      </a:r>
                    </a:p>
                  </a:txBody>
                  <a:tcPr marL="1524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083024"/>
                  </a:ext>
                </a:extLst>
              </a:tr>
              <a:tr h="222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diagnóstico e score de maturidade</a:t>
                      </a:r>
                    </a:p>
                  </a:txBody>
                  <a:tcPr marL="1524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044046"/>
                  </a:ext>
                </a:extLst>
              </a:tr>
              <a:tr h="222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Fase 2 — Definição de Estratégia e Escopo</a:t>
                      </a:r>
                    </a:p>
                  </a:txBody>
                  <a:tcPr marL="762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Semanas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225561"/>
                  </a:ext>
                </a:extLst>
              </a:tr>
              <a:tr h="222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definição de domínios prioritários</a:t>
                      </a:r>
                    </a:p>
                  </a:txBody>
                  <a:tcPr marL="1524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103756"/>
                  </a:ext>
                </a:extLst>
              </a:tr>
              <a:tr h="222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definição de papéis e governança</a:t>
                      </a:r>
                    </a:p>
                  </a:txBody>
                  <a:tcPr marL="1524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420014"/>
                  </a:ext>
                </a:extLst>
              </a:tr>
              <a:tr h="222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definição de arquitetura alvo</a:t>
                      </a:r>
                    </a:p>
                  </a:txBody>
                  <a:tcPr marL="1524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660093"/>
                  </a:ext>
                </a:extLst>
              </a:tr>
              <a:tr h="222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definição de métricas de sucesso 4</a:t>
                      </a:r>
                    </a:p>
                  </a:txBody>
                  <a:tcPr marL="1524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7748931"/>
                  </a:ext>
                </a:extLst>
              </a:tr>
              <a:tr h="222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Fase 3 — Validação Executiva</a:t>
                      </a:r>
                    </a:p>
                  </a:txBody>
                  <a:tcPr marL="762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 Semanas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930056"/>
                  </a:ext>
                </a:extLst>
              </a:tr>
              <a:tr h="222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alinhamento com liderança</a:t>
                      </a:r>
                    </a:p>
                  </a:txBody>
                  <a:tcPr marL="1524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424262"/>
                  </a:ext>
                </a:extLst>
              </a:tr>
              <a:tr h="222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ajustes de escopo</a:t>
                      </a:r>
                    </a:p>
                  </a:txBody>
                  <a:tcPr marL="1524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796567"/>
                  </a:ext>
                </a:extLst>
              </a:tr>
              <a:tr h="222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priorização de roadmap</a:t>
                      </a:r>
                    </a:p>
                  </a:txBody>
                  <a:tcPr marL="1524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089030"/>
                  </a:ext>
                </a:extLst>
              </a:tr>
              <a:tr h="222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aprovação formal</a:t>
                      </a:r>
                    </a:p>
                  </a:txBody>
                  <a:tcPr marL="1524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913224"/>
                  </a:ext>
                </a:extLst>
              </a:tr>
              <a:tr h="222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Fase 4 — Desenho Detalhado</a:t>
                      </a:r>
                    </a:p>
                  </a:txBody>
                  <a:tcPr marL="762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DC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 Semanas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D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438987"/>
                  </a:ext>
                </a:extLst>
              </a:tr>
              <a:tr h="222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modelagem de processos</a:t>
                      </a:r>
                    </a:p>
                  </a:txBody>
                  <a:tcPr marL="1524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012894"/>
                  </a:ext>
                </a:extLst>
              </a:tr>
              <a:tr h="222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definição de padrões</a:t>
                      </a:r>
                    </a:p>
                  </a:txBody>
                  <a:tcPr marL="1524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066737"/>
                  </a:ext>
                </a:extLst>
              </a:tr>
              <a:tr h="222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definição de regras de qualidade</a:t>
                      </a:r>
                    </a:p>
                  </a:txBody>
                  <a:tcPr marL="1524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15481"/>
                  </a:ext>
                </a:extLst>
              </a:tr>
              <a:tr h="2224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desenho técnico da arquitetura</a:t>
                      </a:r>
                    </a:p>
                  </a:txBody>
                  <a:tcPr marL="1524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893861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AA56ED5E-B1A9-BDDB-984D-6E3746862C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763738"/>
              </p:ext>
            </p:extLst>
          </p:nvPr>
        </p:nvGraphicFramePr>
        <p:xfrm>
          <a:off x="6313777" y="1673681"/>
          <a:ext cx="4762500" cy="5034280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3063445447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397573758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Fase 5 — Implementação Piloto</a:t>
                      </a:r>
                    </a:p>
                  </a:txBody>
                  <a:tcPr marL="762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 Semanas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223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implantação em 1 domínio prioritário</a:t>
                      </a:r>
                    </a:p>
                  </a:txBody>
                  <a:tcPr marL="1524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7277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setup de ferramenta</a:t>
                      </a:r>
                    </a:p>
                  </a:txBody>
                  <a:tcPr marL="1524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9815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definição de regras</a:t>
                      </a:r>
                    </a:p>
                  </a:txBody>
                  <a:tcPr marL="1524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427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treinamento inicial</a:t>
                      </a:r>
                    </a:p>
                  </a:txBody>
                  <a:tcPr marL="1524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6269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Fase 6 — Ajustes e Otimização</a:t>
                      </a:r>
                    </a:p>
                  </a:txBody>
                  <a:tcPr marL="762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 Semanas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2624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coleta de feedback</a:t>
                      </a:r>
                    </a:p>
                  </a:txBody>
                  <a:tcPr marL="1524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244072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melhoria de processos</a:t>
                      </a:r>
                    </a:p>
                  </a:txBody>
                  <a:tcPr marL="1524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339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ajustes de papéis</a:t>
                      </a:r>
                    </a:p>
                  </a:txBody>
                  <a:tcPr marL="1524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12543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otimização de regras</a:t>
                      </a:r>
                    </a:p>
                  </a:txBody>
                  <a:tcPr marL="1524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4476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Fase 7 — Expansão para Outros Domínios</a:t>
                      </a:r>
                    </a:p>
                  </a:txBody>
                  <a:tcPr marL="762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DC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 Semanas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D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5982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rollout progressivo</a:t>
                      </a:r>
                    </a:p>
                  </a:txBody>
                  <a:tcPr marL="1524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98318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onboarding de áreas</a:t>
                      </a:r>
                    </a:p>
                  </a:txBody>
                  <a:tcPr marL="1524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8842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replicação do modelo</a:t>
                      </a:r>
                    </a:p>
                  </a:txBody>
                  <a:tcPr marL="1524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6466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automações adicionais</a:t>
                      </a:r>
                    </a:p>
                  </a:txBody>
                  <a:tcPr marL="1524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2194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Fase 8 — Operação Contínua e Evolução</a:t>
                      </a:r>
                    </a:p>
                  </a:txBody>
                  <a:tcPr marL="762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Contínua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6845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monitoramento de qualidade</a:t>
                      </a:r>
                    </a:p>
                  </a:txBody>
                  <a:tcPr marL="1524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0665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revisão de métricas</a:t>
                      </a:r>
                    </a:p>
                  </a:txBody>
                  <a:tcPr marL="1524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06252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evolução tecnológica</a:t>
                      </a:r>
                    </a:p>
                  </a:txBody>
                  <a:tcPr marL="1524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1746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auditorias periódicas</a:t>
                      </a:r>
                    </a:p>
                  </a:txBody>
                  <a:tcPr marL="15240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691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9392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97B22E2-3947-460D-A054-7FF265C7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50039"/>
            <a:ext cx="9667876" cy="549275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5.Papéis e Responsabilidades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84193AE4-9F3B-4F3C-B4F9-489096D923E5}"/>
              </a:ext>
            </a:extLst>
          </p:cNvPr>
          <p:cNvSpPr txBox="1">
            <a:spLocks noChangeArrowheads="1"/>
          </p:cNvSpPr>
          <p:nvPr/>
        </p:nvSpPr>
        <p:spPr>
          <a:xfrm>
            <a:off x="838202" y="1093788"/>
            <a:ext cx="10613065" cy="53594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4" marR="0" lvl="0" indent="-228604" algn="just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FAF707CB-59FE-42B0-A020-1E3EE0684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2" y="739510"/>
            <a:ext cx="3438000" cy="874204"/>
          </a:xfrm>
          <a:prstGeom prst="rect">
            <a:avLst/>
          </a:prstGeom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DFAAB603-1AD8-E647-E752-F11D47B8D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548" y="1613714"/>
            <a:ext cx="10484420" cy="4819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4730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97B22E2-3947-460D-A054-7FF265C7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50039"/>
            <a:ext cx="9667876" cy="549275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6.Change Management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84193AE4-9F3B-4F3C-B4F9-489096D923E5}"/>
              </a:ext>
            </a:extLst>
          </p:cNvPr>
          <p:cNvSpPr txBox="1">
            <a:spLocks noChangeArrowheads="1"/>
          </p:cNvSpPr>
          <p:nvPr/>
        </p:nvSpPr>
        <p:spPr>
          <a:xfrm>
            <a:off x="838202" y="1093788"/>
            <a:ext cx="10613065" cy="53594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4" marR="0" lvl="0" indent="-228604" algn="just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106307C-0778-472E-91FB-B5F24F142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2" y="699314"/>
            <a:ext cx="3438000" cy="87420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40CBE06-DFA4-4802-7242-E35E9E6943C3}"/>
              </a:ext>
            </a:extLst>
          </p:cNvPr>
          <p:cNvSpPr txBox="1"/>
          <p:nvPr/>
        </p:nvSpPr>
        <p:spPr>
          <a:xfrm>
            <a:off x="990602" y="1938127"/>
            <a:ext cx="3782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Plano de Treinamento e Comunicação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BA7E928-2FD1-C160-F23F-40BAD4BCD107}"/>
              </a:ext>
            </a:extLst>
          </p:cNvPr>
          <p:cNvSpPr txBox="1"/>
          <p:nvPr/>
        </p:nvSpPr>
        <p:spPr>
          <a:xfrm>
            <a:off x="4773369" y="2307459"/>
            <a:ext cx="365683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3. Approach</a:t>
            </a:r>
          </a:p>
          <a:p>
            <a:r>
              <a:rPr lang="pt-BR" dirty="0">
                <a:solidFill>
                  <a:schemeClr val="bg1"/>
                </a:solidFill>
              </a:rPr>
              <a:t>Modelo </a:t>
            </a:r>
            <a:r>
              <a:rPr lang="pt-BR" b="1" dirty="0">
                <a:solidFill>
                  <a:schemeClr val="bg1"/>
                </a:solidFill>
              </a:rPr>
              <a:t>Super Usuários (</a:t>
            </a:r>
            <a:r>
              <a:rPr lang="pt-BR" b="1" dirty="0" err="1">
                <a:solidFill>
                  <a:schemeClr val="bg1"/>
                </a:solidFill>
              </a:rPr>
              <a:t>Champions</a:t>
            </a:r>
            <a:r>
              <a:rPr lang="pt-BR" b="1" dirty="0">
                <a:solidFill>
                  <a:schemeClr val="bg1"/>
                </a:solidFill>
              </a:rPr>
              <a:t>)</a:t>
            </a:r>
            <a:br>
              <a:rPr lang="pt-BR" dirty="0">
                <a:solidFill>
                  <a:schemeClr val="bg1"/>
                </a:solidFill>
              </a:rPr>
            </a:br>
            <a:r>
              <a:rPr lang="pt-BR" dirty="0">
                <a:solidFill>
                  <a:schemeClr val="bg1"/>
                </a:solidFill>
              </a:rPr>
              <a:t>→ representantes por área treinados primeiro e responsáveis por apoiar suas equipes.</a:t>
            </a:r>
          </a:p>
          <a:p>
            <a:br>
              <a:rPr lang="pt-BR" dirty="0">
                <a:solidFill>
                  <a:schemeClr val="bg1"/>
                </a:solidFill>
              </a:rPr>
            </a:br>
            <a:endParaRPr lang="pt-BR" dirty="0">
              <a:solidFill>
                <a:schemeClr val="bg1"/>
              </a:solidFill>
            </a:endParaRPr>
          </a:p>
          <a:p>
            <a:r>
              <a:rPr lang="pt-BR" b="1" dirty="0">
                <a:solidFill>
                  <a:schemeClr val="bg1"/>
                </a:solidFill>
              </a:rPr>
              <a:t>4. Meios</a:t>
            </a:r>
          </a:p>
          <a:p>
            <a:r>
              <a:rPr lang="pt-BR" dirty="0">
                <a:solidFill>
                  <a:schemeClr val="bg1"/>
                </a:solidFill>
              </a:rPr>
              <a:t>workshops curtos</a:t>
            </a:r>
          </a:p>
          <a:p>
            <a:r>
              <a:rPr lang="pt-BR" dirty="0">
                <a:solidFill>
                  <a:schemeClr val="bg1"/>
                </a:solidFill>
              </a:rPr>
              <a:t>guias rápidos</a:t>
            </a:r>
          </a:p>
          <a:p>
            <a:r>
              <a:rPr lang="pt-BR" dirty="0">
                <a:solidFill>
                  <a:schemeClr val="bg1"/>
                </a:solidFill>
              </a:rPr>
              <a:t>vídeos explicativos</a:t>
            </a:r>
          </a:p>
          <a:p>
            <a:r>
              <a:rPr lang="pt-BR" dirty="0">
                <a:solidFill>
                  <a:schemeClr val="bg1"/>
                </a:solidFill>
              </a:rPr>
              <a:t>portal interno</a:t>
            </a:r>
          </a:p>
          <a:p>
            <a:r>
              <a:rPr lang="pt-BR" dirty="0">
                <a:solidFill>
                  <a:schemeClr val="bg1"/>
                </a:solidFill>
              </a:rPr>
              <a:t>comunicados corporativos</a:t>
            </a:r>
          </a:p>
          <a:p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8F4CD09-17FC-31F6-201D-04627825CE9B}"/>
              </a:ext>
            </a:extLst>
          </p:cNvPr>
          <p:cNvSpPr txBox="1"/>
          <p:nvPr/>
        </p:nvSpPr>
        <p:spPr>
          <a:xfrm>
            <a:off x="1268931" y="2459859"/>
            <a:ext cx="365683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1. Público-alvo</a:t>
            </a:r>
          </a:p>
          <a:p>
            <a:r>
              <a:rPr lang="pt-BR" dirty="0">
                <a:solidFill>
                  <a:schemeClr val="bg1"/>
                </a:solidFill>
              </a:rPr>
              <a:t>Executivos</a:t>
            </a:r>
          </a:p>
          <a:p>
            <a:r>
              <a:rPr lang="pt-BR" dirty="0">
                <a:solidFill>
                  <a:schemeClr val="bg1"/>
                </a:solidFill>
              </a:rPr>
              <a:t>Gestores</a:t>
            </a:r>
          </a:p>
          <a:p>
            <a:r>
              <a:rPr lang="pt-BR" dirty="0">
                <a:solidFill>
                  <a:schemeClr val="bg1"/>
                </a:solidFill>
              </a:rPr>
              <a:t>Data </a:t>
            </a:r>
            <a:r>
              <a:rPr lang="pt-BR" dirty="0" err="1">
                <a:solidFill>
                  <a:schemeClr val="bg1"/>
                </a:solidFill>
              </a:rPr>
              <a:t>Owners</a:t>
            </a:r>
            <a:r>
              <a:rPr lang="pt-BR" dirty="0">
                <a:solidFill>
                  <a:schemeClr val="bg1"/>
                </a:solidFill>
              </a:rPr>
              <a:t> e Stewards</a:t>
            </a:r>
          </a:p>
          <a:p>
            <a:r>
              <a:rPr lang="pt-BR" dirty="0">
                <a:solidFill>
                  <a:schemeClr val="bg1"/>
                </a:solidFill>
              </a:rPr>
              <a:t>Usuários de negócio</a:t>
            </a:r>
          </a:p>
          <a:p>
            <a:r>
              <a:rPr lang="pt-BR" dirty="0">
                <a:solidFill>
                  <a:schemeClr val="bg1"/>
                </a:solidFill>
              </a:rPr>
              <a:t>TI</a:t>
            </a:r>
          </a:p>
          <a:p>
            <a:br>
              <a:rPr lang="pt-BR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2. Conteúdo</a:t>
            </a:r>
          </a:p>
          <a:p>
            <a:r>
              <a:rPr lang="pt-BR" dirty="0">
                <a:solidFill>
                  <a:schemeClr val="bg1"/>
                </a:solidFill>
              </a:rPr>
              <a:t>conceitos de governança</a:t>
            </a:r>
          </a:p>
          <a:p>
            <a:r>
              <a:rPr lang="pt-BR" dirty="0">
                <a:solidFill>
                  <a:schemeClr val="bg1"/>
                </a:solidFill>
              </a:rPr>
              <a:t>papéis e responsabilidades</a:t>
            </a:r>
          </a:p>
          <a:p>
            <a:r>
              <a:rPr lang="pt-BR" dirty="0">
                <a:solidFill>
                  <a:schemeClr val="bg1"/>
                </a:solidFill>
              </a:rPr>
              <a:t>processos de dados mestres</a:t>
            </a:r>
          </a:p>
          <a:p>
            <a:r>
              <a:rPr lang="pt-BR" dirty="0">
                <a:solidFill>
                  <a:schemeClr val="bg1"/>
                </a:solidFill>
              </a:rPr>
              <a:t>uso correto dos sistemas</a:t>
            </a:r>
          </a:p>
          <a:p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7765A64-460F-CA6E-5225-694986B5F82D}"/>
              </a:ext>
            </a:extLst>
          </p:cNvPr>
          <p:cNvSpPr txBox="1"/>
          <p:nvPr/>
        </p:nvSpPr>
        <p:spPr>
          <a:xfrm>
            <a:off x="8354728" y="4292618"/>
            <a:ext cx="2460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5. Calendário (genérico)</a:t>
            </a:r>
          </a:p>
        </p:txBody>
      </p:sp>
    </p:spTree>
    <p:extLst>
      <p:ext uri="{BB962C8B-B14F-4D97-AF65-F5344CB8AC3E}">
        <p14:creationId xmlns:p14="http://schemas.microsoft.com/office/powerpoint/2010/main" val="384592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97B22E2-3947-460D-A054-7FF265C7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50039"/>
            <a:ext cx="9667876" cy="549275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7.Métricas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84193AE4-9F3B-4F3C-B4F9-489096D923E5}"/>
              </a:ext>
            </a:extLst>
          </p:cNvPr>
          <p:cNvSpPr txBox="1">
            <a:spLocks noChangeArrowheads="1"/>
          </p:cNvSpPr>
          <p:nvPr/>
        </p:nvSpPr>
        <p:spPr>
          <a:xfrm>
            <a:off x="838202" y="1093788"/>
            <a:ext cx="10613065" cy="53594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4" marR="0" lvl="0" indent="-228604" algn="just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</a:t>
            </a:r>
          </a:p>
          <a:p>
            <a:pPr marL="228604" marR="0" lvl="0" indent="-228604" algn="just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A8A6FD2-A6DE-4CAA-8601-9F27A0478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872490"/>
            <a:ext cx="3438000" cy="874204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8019336-D63E-588F-69E2-A630C18B5E2E}"/>
              </a:ext>
            </a:extLst>
          </p:cNvPr>
          <p:cNvSpPr txBox="1"/>
          <p:nvPr/>
        </p:nvSpPr>
        <p:spPr>
          <a:xfrm>
            <a:off x="740733" y="2420379"/>
            <a:ext cx="1038485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Estratégia e Adoção Organizacional</a:t>
            </a:r>
          </a:p>
          <a:p>
            <a:r>
              <a:rPr lang="pt-BR" b="1" dirty="0">
                <a:solidFill>
                  <a:schemeClr val="bg1"/>
                </a:solidFill>
              </a:rPr>
              <a:t>Objetivo:</a:t>
            </a:r>
            <a:r>
              <a:rPr lang="pt-BR" dirty="0">
                <a:solidFill>
                  <a:schemeClr val="bg1"/>
                </a:solidFill>
              </a:rPr>
              <a:t> garantir alinhamento e patrocínio corporativo</a:t>
            </a:r>
          </a:p>
          <a:p>
            <a:r>
              <a:rPr lang="pt-BR" dirty="0">
                <a:solidFill>
                  <a:schemeClr val="bg1"/>
                </a:solidFill>
              </a:rPr>
              <a:t>% áreas com Data </a:t>
            </a:r>
            <a:r>
              <a:rPr lang="pt-BR" dirty="0" err="1">
                <a:solidFill>
                  <a:schemeClr val="bg1"/>
                </a:solidFill>
              </a:rPr>
              <a:t>Owner</a:t>
            </a:r>
            <a:r>
              <a:rPr lang="pt-BR" dirty="0">
                <a:solidFill>
                  <a:schemeClr val="bg1"/>
                </a:solidFill>
              </a:rPr>
              <a:t> formalizado</a:t>
            </a:r>
          </a:p>
          <a:p>
            <a:r>
              <a:rPr lang="pt-BR" dirty="0">
                <a:solidFill>
                  <a:schemeClr val="bg1"/>
                </a:solidFill>
              </a:rPr>
              <a:t>% stakeholders aderentes ao modelo</a:t>
            </a:r>
          </a:p>
          <a:p>
            <a:r>
              <a:rPr lang="pt-BR" dirty="0">
                <a:solidFill>
                  <a:schemeClr val="bg1"/>
                </a:solidFill>
              </a:rPr>
              <a:t>índice de satisfação das áreas com governança</a:t>
            </a:r>
          </a:p>
          <a:p>
            <a:r>
              <a:rPr lang="pt-BR" b="1" dirty="0">
                <a:solidFill>
                  <a:schemeClr val="bg1"/>
                </a:solidFill>
              </a:rPr>
              <a:t>Indicador-chave: </a:t>
            </a:r>
            <a:r>
              <a:rPr lang="pt-BR" dirty="0">
                <a:solidFill>
                  <a:schemeClr val="bg1"/>
                </a:solidFill>
              </a:rPr>
              <a:t>→ Adoção ≥ 85%</a:t>
            </a:r>
          </a:p>
          <a:p>
            <a:br>
              <a:rPr lang="pt-BR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Prazo e Implantação</a:t>
            </a:r>
          </a:p>
          <a:p>
            <a:r>
              <a:rPr lang="pt-BR" b="1" dirty="0">
                <a:solidFill>
                  <a:schemeClr val="bg1"/>
                </a:solidFill>
              </a:rPr>
              <a:t>Objetivo:</a:t>
            </a:r>
            <a:r>
              <a:rPr lang="pt-BR" dirty="0">
                <a:solidFill>
                  <a:schemeClr val="bg1"/>
                </a:solidFill>
              </a:rPr>
              <a:t> medir execução do </a:t>
            </a:r>
            <a:r>
              <a:rPr lang="pt-BR" dirty="0" err="1">
                <a:solidFill>
                  <a:schemeClr val="bg1"/>
                </a:solidFill>
              </a:rPr>
              <a:t>roadmap</a:t>
            </a:r>
            <a:endParaRPr lang="pt-BR" dirty="0">
              <a:solidFill>
                <a:schemeClr val="bg1"/>
              </a:solidFill>
            </a:endParaRPr>
          </a:p>
          <a:p>
            <a:r>
              <a:rPr lang="pt-BR" dirty="0">
                <a:solidFill>
                  <a:schemeClr val="bg1"/>
                </a:solidFill>
              </a:rPr>
              <a:t>% entregas realizadas </a:t>
            </a:r>
            <a:r>
              <a:rPr lang="pt-BR" dirty="0" err="1">
                <a:solidFill>
                  <a:schemeClr val="bg1"/>
                </a:solidFill>
              </a:rPr>
              <a:t>vs</a:t>
            </a:r>
            <a:r>
              <a:rPr lang="pt-BR" dirty="0">
                <a:solidFill>
                  <a:schemeClr val="bg1"/>
                </a:solidFill>
              </a:rPr>
              <a:t> planejadas</a:t>
            </a:r>
          </a:p>
          <a:p>
            <a:r>
              <a:rPr lang="pt-BR" dirty="0">
                <a:solidFill>
                  <a:schemeClr val="bg1"/>
                </a:solidFill>
              </a:rPr>
              <a:t>nº fases concluídas no prazo</a:t>
            </a:r>
          </a:p>
          <a:p>
            <a:r>
              <a:rPr lang="pt-BR" dirty="0">
                <a:solidFill>
                  <a:schemeClr val="bg1"/>
                </a:solidFill>
              </a:rPr>
              <a:t>tempo médio de implantação por domínio</a:t>
            </a:r>
          </a:p>
          <a:p>
            <a:r>
              <a:rPr lang="pt-BR" dirty="0">
                <a:solidFill>
                  <a:schemeClr val="bg1"/>
                </a:solidFill>
              </a:rPr>
              <a:t>tempo para ativar novo processo</a:t>
            </a:r>
          </a:p>
          <a:p>
            <a:r>
              <a:rPr lang="pt-BR" b="1" dirty="0">
                <a:solidFill>
                  <a:schemeClr val="bg1"/>
                </a:solidFill>
              </a:rPr>
              <a:t>Indicador-chave: </a:t>
            </a:r>
            <a:r>
              <a:rPr lang="pt-BR" dirty="0">
                <a:solidFill>
                  <a:schemeClr val="bg1"/>
                </a:solidFill>
              </a:rPr>
              <a:t>→ ≥ 90% marcos entregues dentro do prazo</a:t>
            </a:r>
          </a:p>
          <a:p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AF6D430-CC65-EC86-4209-6673DF32749A}"/>
              </a:ext>
            </a:extLst>
          </p:cNvPr>
          <p:cNvSpPr txBox="1"/>
          <p:nvPr/>
        </p:nvSpPr>
        <p:spPr>
          <a:xfrm>
            <a:off x="740733" y="1919870"/>
            <a:ext cx="66303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Métricas de Sucesso — Programa de Governança de Dados Mestres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5405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F6D98C-BDFC-BE82-4935-A6BC2D08B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01E180C-0A37-3DA1-5B6F-D5366D096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50039"/>
            <a:ext cx="9667876" cy="549275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7.Métricas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56BB0F32-046D-CB47-48C6-BFC87D067189}"/>
              </a:ext>
            </a:extLst>
          </p:cNvPr>
          <p:cNvSpPr txBox="1">
            <a:spLocks noChangeArrowheads="1"/>
          </p:cNvSpPr>
          <p:nvPr/>
        </p:nvSpPr>
        <p:spPr>
          <a:xfrm>
            <a:off x="838202" y="1093788"/>
            <a:ext cx="10613065" cy="53594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4" marR="0" lvl="0" indent="-228604" algn="just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</a:t>
            </a:r>
          </a:p>
          <a:p>
            <a:pPr marL="228604" marR="0" lvl="0" indent="-228604" algn="just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4CE5571-6BE8-8C21-1DB0-4087BE577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872490"/>
            <a:ext cx="3438000" cy="874204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A02A6C2-FC43-4D90-F04E-4A834BFCECB2}"/>
              </a:ext>
            </a:extLst>
          </p:cNvPr>
          <p:cNvSpPr txBox="1"/>
          <p:nvPr/>
        </p:nvSpPr>
        <p:spPr>
          <a:xfrm>
            <a:off x="740733" y="2410754"/>
            <a:ext cx="1038485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Qualidade de Dados</a:t>
            </a:r>
          </a:p>
          <a:p>
            <a:r>
              <a:rPr lang="pt-BR" b="1" dirty="0">
                <a:solidFill>
                  <a:schemeClr val="bg1"/>
                </a:solidFill>
              </a:rPr>
              <a:t>Objetivo:</a:t>
            </a:r>
            <a:r>
              <a:rPr lang="pt-BR" dirty="0">
                <a:solidFill>
                  <a:schemeClr val="bg1"/>
                </a:solidFill>
              </a:rPr>
              <a:t> garantir confiabilidade e consistência</a:t>
            </a:r>
          </a:p>
          <a:p>
            <a:r>
              <a:rPr lang="pt-BR" dirty="0">
                <a:solidFill>
                  <a:schemeClr val="bg1"/>
                </a:solidFill>
              </a:rPr>
              <a:t>% registros com erro</a:t>
            </a:r>
          </a:p>
          <a:p>
            <a:r>
              <a:rPr lang="pt-BR" dirty="0">
                <a:solidFill>
                  <a:schemeClr val="bg1"/>
                </a:solidFill>
              </a:rPr>
              <a:t>taxa de duplicidade</a:t>
            </a:r>
          </a:p>
          <a:p>
            <a:r>
              <a:rPr lang="pt-BR" b="1" dirty="0">
                <a:solidFill>
                  <a:schemeClr val="bg1"/>
                </a:solidFill>
              </a:rPr>
              <a:t>Indicador-chave: </a:t>
            </a:r>
            <a:r>
              <a:rPr lang="pt-BR" dirty="0">
                <a:solidFill>
                  <a:schemeClr val="bg1"/>
                </a:solidFill>
              </a:rPr>
              <a:t>→ redução contínua de erros mês a mês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r>
              <a:rPr lang="pt-BR" b="1" dirty="0">
                <a:solidFill>
                  <a:schemeClr val="bg1"/>
                </a:solidFill>
              </a:rPr>
              <a:t>Eficiência Operacional</a:t>
            </a:r>
          </a:p>
          <a:p>
            <a:r>
              <a:rPr lang="pt-BR" b="1" dirty="0">
                <a:solidFill>
                  <a:schemeClr val="bg1"/>
                </a:solidFill>
              </a:rPr>
              <a:t>Objetivo:</a:t>
            </a:r>
            <a:r>
              <a:rPr lang="pt-BR" dirty="0">
                <a:solidFill>
                  <a:schemeClr val="bg1"/>
                </a:solidFill>
              </a:rPr>
              <a:t> medir ganho de produtividade</a:t>
            </a:r>
          </a:p>
          <a:p>
            <a:r>
              <a:rPr lang="pt-BR" dirty="0">
                <a:solidFill>
                  <a:schemeClr val="bg1"/>
                </a:solidFill>
              </a:rPr>
              <a:t>tempo médio de criação de cadastro</a:t>
            </a:r>
          </a:p>
          <a:p>
            <a:r>
              <a:rPr lang="pt-BR" dirty="0">
                <a:solidFill>
                  <a:schemeClr val="bg1"/>
                </a:solidFill>
              </a:rPr>
              <a:t>SLA de aprovação</a:t>
            </a:r>
          </a:p>
          <a:p>
            <a:r>
              <a:rPr lang="pt-BR" dirty="0">
                <a:solidFill>
                  <a:schemeClr val="bg1"/>
                </a:solidFill>
              </a:rPr>
              <a:t>nº retrabalhos</a:t>
            </a:r>
          </a:p>
          <a:p>
            <a:r>
              <a:rPr lang="pt-BR" dirty="0">
                <a:solidFill>
                  <a:schemeClr val="bg1"/>
                </a:solidFill>
              </a:rPr>
              <a:t>backlog de solicitações</a:t>
            </a:r>
          </a:p>
          <a:p>
            <a:r>
              <a:rPr lang="pt-BR" b="1" dirty="0">
                <a:solidFill>
                  <a:schemeClr val="bg1"/>
                </a:solidFill>
              </a:rPr>
              <a:t>Indicador-chave: </a:t>
            </a:r>
            <a:r>
              <a:rPr lang="pt-BR" dirty="0">
                <a:solidFill>
                  <a:schemeClr val="bg1"/>
                </a:solidFill>
              </a:rPr>
              <a:t>→ redução ≥ 30% no tempo de cadastro</a:t>
            </a:r>
          </a:p>
          <a:p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E97440D-5220-26C2-59C3-684D6F96E993}"/>
              </a:ext>
            </a:extLst>
          </p:cNvPr>
          <p:cNvSpPr txBox="1"/>
          <p:nvPr/>
        </p:nvSpPr>
        <p:spPr>
          <a:xfrm>
            <a:off x="740733" y="1919870"/>
            <a:ext cx="66303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Métricas de Sucesso — Programa de Governança de Dados Mestres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56086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E91BF4-4961-5401-43C9-C6D573A0C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B621B2A-1D20-2F00-E7F4-43D17DE62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50039"/>
            <a:ext cx="9667876" cy="549275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7.Métricas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78EE92AD-0A56-0127-4172-C224255BECB3}"/>
              </a:ext>
            </a:extLst>
          </p:cNvPr>
          <p:cNvSpPr txBox="1">
            <a:spLocks noChangeArrowheads="1"/>
          </p:cNvSpPr>
          <p:nvPr/>
        </p:nvSpPr>
        <p:spPr>
          <a:xfrm>
            <a:off x="838202" y="1093788"/>
            <a:ext cx="10613065" cy="53594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4" marR="0" lvl="0" indent="-228604" algn="just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</a:t>
            </a:r>
          </a:p>
          <a:p>
            <a:pPr marL="228604" marR="0" lvl="0" indent="-228604" algn="just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BEFA8397-A95B-A945-EC8F-219629AEA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872490"/>
            <a:ext cx="3438000" cy="874204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7BB5828-0D16-496E-5312-EF19877F6C04}"/>
              </a:ext>
            </a:extLst>
          </p:cNvPr>
          <p:cNvSpPr txBox="1"/>
          <p:nvPr/>
        </p:nvSpPr>
        <p:spPr>
          <a:xfrm>
            <a:off x="740733" y="2410754"/>
            <a:ext cx="1038485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Treinamento e Comunicação</a:t>
            </a:r>
          </a:p>
          <a:p>
            <a:r>
              <a:rPr lang="pt-BR" b="1" dirty="0">
                <a:solidFill>
                  <a:schemeClr val="bg1"/>
                </a:solidFill>
              </a:rPr>
              <a:t>Objetivo:</a:t>
            </a:r>
            <a:r>
              <a:rPr lang="pt-BR" dirty="0">
                <a:solidFill>
                  <a:schemeClr val="bg1"/>
                </a:solidFill>
              </a:rPr>
              <a:t> garantir adoção cultural</a:t>
            </a:r>
          </a:p>
          <a:p>
            <a:r>
              <a:rPr lang="pt-BR" dirty="0">
                <a:solidFill>
                  <a:schemeClr val="bg1"/>
                </a:solidFill>
              </a:rPr>
              <a:t>nº sessões realizadas</a:t>
            </a:r>
          </a:p>
          <a:p>
            <a:r>
              <a:rPr lang="pt-BR" dirty="0">
                <a:solidFill>
                  <a:schemeClr val="bg1"/>
                </a:solidFill>
              </a:rPr>
              <a:t>taxa de conclusão</a:t>
            </a:r>
          </a:p>
          <a:p>
            <a:r>
              <a:rPr lang="pt-BR" dirty="0">
                <a:solidFill>
                  <a:schemeClr val="bg1"/>
                </a:solidFill>
              </a:rPr>
              <a:t>índice de compreensão pós-treinamento</a:t>
            </a:r>
          </a:p>
          <a:p>
            <a:r>
              <a:rPr lang="pt-BR" b="1" dirty="0">
                <a:solidFill>
                  <a:schemeClr val="bg1"/>
                </a:solidFill>
              </a:rPr>
              <a:t>Indicador-chave:</a:t>
            </a:r>
            <a:r>
              <a:rPr lang="pt-BR" dirty="0">
                <a:solidFill>
                  <a:schemeClr val="bg1"/>
                </a:solidFill>
              </a:rPr>
              <a:t>→ ≥ 90% público treinado</a:t>
            </a:r>
          </a:p>
          <a:p>
            <a:br>
              <a:rPr lang="pt-BR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Financeiro / Budget</a:t>
            </a:r>
          </a:p>
          <a:p>
            <a:r>
              <a:rPr lang="pt-BR" b="1" dirty="0">
                <a:solidFill>
                  <a:schemeClr val="bg1"/>
                </a:solidFill>
              </a:rPr>
              <a:t>Objetivo:</a:t>
            </a:r>
            <a:r>
              <a:rPr lang="pt-BR" dirty="0">
                <a:solidFill>
                  <a:schemeClr val="bg1"/>
                </a:solidFill>
              </a:rPr>
              <a:t> controlar sustentabilidade do programa</a:t>
            </a:r>
          </a:p>
          <a:p>
            <a:r>
              <a:rPr lang="pt-BR" dirty="0">
                <a:solidFill>
                  <a:schemeClr val="bg1"/>
                </a:solidFill>
              </a:rPr>
              <a:t>variação real </a:t>
            </a:r>
            <a:r>
              <a:rPr lang="pt-BR" dirty="0" err="1">
                <a:solidFill>
                  <a:schemeClr val="bg1"/>
                </a:solidFill>
              </a:rPr>
              <a:t>vs</a:t>
            </a:r>
            <a:r>
              <a:rPr lang="pt-BR" dirty="0">
                <a:solidFill>
                  <a:schemeClr val="bg1"/>
                </a:solidFill>
              </a:rPr>
              <a:t> orçamento</a:t>
            </a:r>
          </a:p>
          <a:p>
            <a:r>
              <a:rPr lang="pt-BR" dirty="0">
                <a:solidFill>
                  <a:schemeClr val="bg1"/>
                </a:solidFill>
              </a:rPr>
              <a:t>custo por domínio governado</a:t>
            </a:r>
          </a:p>
          <a:p>
            <a:r>
              <a:rPr lang="pt-BR" dirty="0">
                <a:solidFill>
                  <a:schemeClr val="bg1"/>
                </a:solidFill>
              </a:rPr>
              <a:t>economia gerada por redução de retrabalho</a:t>
            </a:r>
          </a:p>
          <a:p>
            <a:r>
              <a:rPr lang="pt-BR" b="1" dirty="0">
                <a:solidFill>
                  <a:schemeClr val="bg1"/>
                </a:solidFill>
              </a:rPr>
              <a:t>Indicador-chave: </a:t>
            </a:r>
            <a:r>
              <a:rPr lang="pt-BR" dirty="0">
                <a:solidFill>
                  <a:schemeClr val="bg1"/>
                </a:solidFill>
              </a:rPr>
              <a:t>→ variação ≤ 10% do orçamento</a:t>
            </a:r>
          </a:p>
          <a:p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A6A828B-1EDC-73C2-E4D6-B59ABD9FBE91}"/>
              </a:ext>
            </a:extLst>
          </p:cNvPr>
          <p:cNvSpPr txBox="1"/>
          <p:nvPr/>
        </p:nvSpPr>
        <p:spPr>
          <a:xfrm>
            <a:off x="740733" y="1919870"/>
            <a:ext cx="66303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Métricas de Sucesso — Programa de Governança de Dados Mestres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49349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DA3A3D-F548-D7A1-E6FC-FA0E58CC2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FF90893-71E4-12C0-29DD-3F9C99789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50039"/>
            <a:ext cx="9667876" cy="549275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7.Métricas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D6B610B1-823A-243B-35D3-21478A35AA93}"/>
              </a:ext>
            </a:extLst>
          </p:cNvPr>
          <p:cNvSpPr txBox="1">
            <a:spLocks noChangeArrowheads="1"/>
          </p:cNvSpPr>
          <p:nvPr/>
        </p:nvSpPr>
        <p:spPr>
          <a:xfrm>
            <a:off x="838202" y="1093788"/>
            <a:ext cx="10613065" cy="53594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4" marR="0" lvl="0" indent="-228604" algn="just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</a:t>
            </a:r>
          </a:p>
          <a:p>
            <a:pPr marL="228604" marR="0" lvl="0" indent="-228604" algn="just" defTabSz="914411" rtl="0" eaLnBrk="1" fontAlgn="auto" latinLnBrk="0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AEB13C7-8CDD-4EDA-7203-49397429F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872490"/>
            <a:ext cx="3438000" cy="874204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DCA10F9-F71A-A754-8123-55D31468C2FF}"/>
              </a:ext>
            </a:extLst>
          </p:cNvPr>
          <p:cNvSpPr txBox="1"/>
          <p:nvPr/>
        </p:nvSpPr>
        <p:spPr>
          <a:xfrm>
            <a:off x="740733" y="2410754"/>
            <a:ext cx="103848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Governança e Compliance</a:t>
            </a:r>
          </a:p>
          <a:p>
            <a:r>
              <a:rPr lang="pt-BR" b="1" dirty="0">
                <a:solidFill>
                  <a:schemeClr val="bg1"/>
                </a:solidFill>
              </a:rPr>
              <a:t>Objetivo:</a:t>
            </a:r>
            <a:r>
              <a:rPr lang="pt-BR" dirty="0">
                <a:solidFill>
                  <a:schemeClr val="bg1"/>
                </a:solidFill>
              </a:rPr>
              <a:t> garantir conformidade e rastreabilidade</a:t>
            </a:r>
          </a:p>
          <a:p>
            <a:r>
              <a:rPr lang="pt-BR" dirty="0">
                <a:solidFill>
                  <a:schemeClr val="bg1"/>
                </a:solidFill>
              </a:rPr>
              <a:t>% dados auditáveis</a:t>
            </a:r>
          </a:p>
          <a:p>
            <a:r>
              <a:rPr lang="pt-BR" dirty="0">
                <a:solidFill>
                  <a:schemeClr val="bg1"/>
                </a:solidFill>
              </a:rPr>
              <a:t>nº incidentes de dados</a:t>
            </a:r>
          </a:p>
          <a:p>
            <a:r>
              <a:rPr lang="pt-BR" dirty="0">
                <a:solidFill>
                  <a:schemeClr val="bg1"/>
                </a:solidFill>
              </a:rPr>
              <a:t>tempo de resposta a auditorias</a:t>
            </a:r>
          </a:p>
          <a:p>
            <a:r>
              <a:rPr lang="pt-BR" dirty="0">
                <a:solidFill>
                  <a:schemeClr val="bg1"/>
                </a:solidFill>
              </a:rPr>
              <a:t>aderência a políticas</a:t>
            </a:r>
          </a:p>
          <a:p>
            <a:r>
              <a:rPr lang="pt-BR" b="1" dirty="0">
                <a:solidFill>
                  <a:schemeClr val="bg1"/>
                </a:solidFill>
              </a:rPr>
              <a:t>Indicador-chave:</a:t>
            </a:r>
            <a:r>
              <a:rPr lang="pt-BR" dirty="0">
                <a:solidFill>
                  <a:schemeClr val="bg1"/>
                </a:solidFill>
              </a:rPr>
              <a:t>→ zero incidentes críticos</a:t>
            </a:r>
          </a:p>
          <a:p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FD05C3-EFC2-36DA-2E42-A72ACBD946E1}"/>
              </a:ext>
            </a:extLst>
          </p:cNvPr>
          <p:cNvSpPr txBox="1"/>
          <p:nvPr/>
        </p:nvSpPr>
        <p:spPr>
          <a:xfrm>
            <a:off x="740733" y="1919870"/>
            <a:ext cx="66303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Métricas de Sucesso — Programa de Governança de Dados Mestres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81781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DCEEF5-BE5C-2838-F472-8D5D45E7F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B7CC65D-4E2B-9E3F-1F67-AA264ABE4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50039"/>
            <a:ext cx="9667876" cy="549275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8. Governance </a:t>
            </a:r>
            <a:r>
              <a:rPr lang="pt-BR" b="1" dirty="0" err="1">
                <a:solidFill>
                  <a:schemeClr val="bg1"/>
                </a:solidFill>
              </a:rPr>
              <a:t>Maturity</a:t>
            </a:r>
            <a:r>
              <a:rPr lang="pt-BR" b="1" dirty="0">
                <a:solidFill>
                  <a:schemeClr val="bg1"/>
                </a:solidFill>
              </a:rPr>
              <a:t> </a:t>
            </a:r>
            <a:r>
              <a:rPr lang="pt-BR" b="1" dirty="0" err="1">
                <a:solidFill>
                  <a:schemeClr val="bg1"/>
                </a:solidFill>
              </a:rPr>
              <a:t>Level</a:t>
            </a:r>
            <a:r>
              <a:rPr lang="pt-BR" b="1" dirty="0">
                <a:solidFill>
                  <a:schemeClr val="bg1"/>
                </a:solidFill>
              </a:rPr>
              <a:t> Assessment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1A6D26F-2F26-9A57-D4E2-1529B935DC5A}"/>
              </a:ext>
            </a:extLst>
          </p:cNvPr>
          <p:cNvSpPr txBox="1"/>
          <p:nvPr/>
        </p:nvSpPr>
        <p:spPr>
          <a:xfrm flipH="1">
            <a:off x="1109413" y="1272941"/>
            <a:ext cx="93966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Formulário Preenchido</a:t>
            </a:r>
          </a:p>
          <a:p>
            <a:r>
              <a:rPr lang="pt-BR" dirty="0">
                <a:hlinkClick r:id="rId2" tooltip="https://docs.google.com/spreadsheets/d/1nt0h2xraka50lxaovj1e3amv1t9-nzcuxtye6qshiza/edit?usp=sharing"/>
              </a:rPr>
              <a:t>https://docs.google.com/spreadsheets/d/1Nt0H2XrAka50LxAOVj1e3aMV1t9-nzCuXtyE6QSHizA/edit?usp=sharing</a:t>
            </a:r>
            <a:r>
              <a:rPr lang="pt-BR" dirty="0"/>
              <a:t> </a:t>
            </a:r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475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2042</Words>
  <Application>Microsoft Office PowerPoint</Application>
  <PresentationFormat>Widescreen</PresentationFormat>
  <Paragraphs>547</Paragraphs>
  <Slides>30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4" baseType="lpstr">
      <vt:lpstr>Aptos Narrow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1.Background e Maturity Level Assessment</vt:lpstr>
      <vt:lpstr>1.Background e Maturity Level Assessment</vt:lpstr>
      <vt:lpstr>1.Background e Maturity Level Assessment</vt:lpstr>
      <vt:lpstr>1.Background e Maturity Level Assessment</vt:lpstr>
      <vt:lpstr>2.Estratégia e Escopo</vt:lpstr>
      <vt:lpstr>2.Estratégia e Escopo</vt:lpstr>
      <vt:lpstr>2.Estratégia e Escopo</vt:lpstr>
      <vt:lpstr>2.Estratégia e Escopo</vt:lpstr>
      <vt:lpstr>2.Estratégia e Escopo</vt:lpstr>
      <vt:lpstr>2.Estratégia e Escopo</vt:lpstr>
      <vt:lpstr>2.Estratégia e Escopo</vt:lpstr>
      <vt:lpstr>2.Estratégia e Escopo</vt:lpstr>
      <vt:lpstr>2.Estratégia e Escopo</vt:lpstr>
      <vt:lpstr>2.Estratégia e Escopo</vt:lpstr>
      <vt:lpstr>2.Estratégia e Escopo</vt:lpstr>
      <vt:lpstr>3.Qualidade</vt:lpstr>
      <vt:lpstr>3.Qualidade</vt:lpstr>
      <vt:lpstr>3.Qualidade</vt:lpstr>
      <vt:lpstr>4.Roadmap</vt:lpstr>
      <vt:lpstr>4.Roadmap</vt:lpstr>
      <vt:lpstr>5.Papéis e Responsabilidades</vt:lpstr>
      <vt:lpstr>6.Change Management </vt:lpstr>
      <vt:lpstr>7.Métricas </vt:lpstr>
      <vt:lpstr>7.Métricas </vt:lpstr>
      <vt:lpstr>7.Métricas </vt:lpstr>
      <vt:lpstr>7.Métricas </vt:lpstr>
      <vt:lpstr>8. Governance Maturity Level Assessment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Cristian Mota</dc:creator>
  <cp:lastModifiedBy>Bruno Gomes Nogueira</cp:lastModifiedBy>
  <cp:revision>50</cp:revision>
  <dcterms:created xsi:type="dcterms:W3CDTF">2019-06-06T17:16:57Z</dcterms:created>
  <dcterms:modified xsi:type="dcterms:W3CDTF">2026-02-17T01:40:20Z</dcterms:modified>
</cp:coreProperties>
</file>